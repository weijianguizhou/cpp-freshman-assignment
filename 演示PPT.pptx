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78" r:id="rId3"/>
    <p:sldId id="282" r:id="rId5"/>
    <p:sldId id="271" r:id="rId6"/>
    <p:sldId id="283" r:id="rId7"/>
    <p:sldId id="284" r:id="rId8"/>
    <p:sldId id="309" r:id="rId9"/>
    <p:sldId id="285" r:id="rId10"/>
    <p:sldId id="293" r:id="rId11"/>
    <p:sldId id="288" r:id="rId12"/>
    <p:sldId id="289" r:id="rId13"/>
    <p:sldId id="290" r:id="rId14"/>
    <p:sldId id="295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296" r:id="rId2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E54"/>
    <a:srgbClr val="1B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5388" autoAdjust="0"/>
  </p:normalViewPr>
  <p:slideViewPr>
    <p:cSldViewPr snapToGrid="0" showGuides="1">
      <p:cViewPr varScale="1">
        <p:scale>
          <a:sx n="105" d="100"/>
          <a:sy n="105" d="100"/>
        </p:scale>
        <p:origin x="164" y="64"/>
      </p:cViewPr>
      <p:guideLst>
        <p:guide pos="3840"/>
        <p:guide orient="horz" pos="2216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customXml" Target="../customXml/item3.xml"/><Relationship Id="rId30" Type="http://schemas.openxmlformats.org/officeDocument/2006/relationships/customXml" Target="../customXml/item2.xml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A336AC6-504B-4C37-9D41-F6532374F152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FA70580-B89C-4157-871D-6B9318EE5F5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F8EE43E-5BE2-4FF7-954E-B4B6FD94FCC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7AF00E9-A49D-4007-B3B9-A3783809E505}" type="slidenum">
              <a:rPr lang="en-US" altLang="zh-CN" noProof="0" smtClean="0"/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 rtl="0">
              <a:lnSpc>
                <a:spcPct val="100000"/>
              </a:lnSpc>
            </a:pPr>
            <a:r>
              <a:rPr lang="en-US"/>
              <a:t>单击此处添加标题</a:t>
            </a:r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/>
              <a:t>单击图标插入图片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 22"/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任意多边形：形状 23"/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" name="椭圆形 24"/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椭圆形 25"/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任意多边形：形状 26"/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5" name="组 4"/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任意多边形(F) 5"/>
            <p:cNvSpPr/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" name="任意多边形(F) 6"/>
            <p:cNvSpPr/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" name="任意多边形(F) 8"/>
            <p:cNvSpPr/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1" name="椭圆形 10"/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2" name="组 11"/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任意多边形：形状 38"/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14" name="组 13"/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任意多边形：形状 32"/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6" name="椭圆形 15"/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</p:grpSp>
      <p:grpSp>
        <p:nvGrpSpPr>
          <p:cNvPr id="17" name="组 16"/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任意多边形：形状 25"/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-1" fmla="*/ 540000 w 1080000"/>
                <a:gd name="connsiteY0-2" fmla="*/ 0 h 1262947"/>
                <a:gd name="connsiteX1-3" fmla="*/ 1080000 w 1080000"/>
                <a:gd name="connsiteY1-4" fmla="*/ 931034 h 1262947"/>
                <a:gd name="connsiteX2-5" fmla="*/ 1064374 w 1080000"/>
                <a:gd name="connsiteY2-6" fmla="*/ 931034 h 1262947"/>
                <a:gd name="connsiteX3-7" fmla="*/ 1069029 w 1080000"/>
                <a:gd name="connsiteY3-8" fmla="*/ 938533 h 1262947"/>
                <a:gd name="connsiteX4-9" fmla="*/ 1080000 w 1080000"/>
                <a:gd name="connsiteY4-10" fmla="*/ 992947 h 1262947"/>
                <a:gd name="connsiteX5-11" fmla="*/ 540000 w 1080000"/>
                <a:gd name="connsiteY5-12" fmla="*/ 1262947 h 1262947"/>
                <a:gd name="connsiteX6-13" fmla="*/ 0 w 1080000"/>
                <a:gd name="connsiteY6-14" fmla="*/ 992947 h 1262947"/>
                <a:gd name="connsiteX7-15" fmla="*/ 10971 w 1080000"/>
                <a:gd name="connsiteY7-16" fmla="*/ 938533 h 1262947"/>
                <a:gd name="connsiteX8-17" fmla="*/ 15626 w 1080000"/>
                <a:gd name="connsiteY8-18" fmla="*/ 931034 h 1262947"/>
                <a:gd name="connsiteX9-19" fmla="*/ 540000 w 1080000"/>
                <a:gd name="connsiteY9-20" fmla="*/ 0 h 1262947"/>
                <a:gd name="connsiteX0-21" fmla="*/ 540000 w 1080000"/>
                <a:gd name="connsiteY0-22" fmla="*/ 0 h 1262947"/>
                <a:gd name="connsiteX1-23" fmla="*/ 1064374 w 1080000"/>
                <a:gd name="connsiteY1-24" fmla="*/ 931034 h 1262947"/>
                <a:gd name="connsiteX2-25" fmla="*/ 1069029 w 1080000"/>
                <a:gd name="connsiteY2-26" fmla="*/ 938533 h 1262947"/>
                <a:gd name="connsiteX3-27" fmla="*/ 1080000 w 1080000"/>
                <a:gd name="connsiteY3-28" fmla="*/ 992947 h 1262947"/>
                <a:gd name="connsiteX4-29" fmla="*/ 540000 w 1080000"/>
                <a:gd name="connsiteY4-30" fmla="*/ 1262947 h 1262947"/>
                <a:gd name="connsiteX5-31" fmla="*/ 0 w 1080000"/>
                <a:gd name="connsiteY5-32" fmla="*/ 992947 h 1262947"/>
                <a:gd name="connsiteX6-33" fmla="*/ 10971 w 1080000"/>
                <a:gd name="connsiteY6-34" fmla="*/ 938533 h 1262947"/>
                <a:gd name="connsiteX7-35" fmla="*/ 15626 w 1080000"/>
                <a:gd name="connsiteY7-36" fmla="*/ 931034 h 1262947"/>
                <a:gd name="connsiteX8-37" fmla="*/ 540000 w 1080000"/>
                <a:gd name="connsiteY8-38" fmla="*/ 0 h 12629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椭圆形 18"/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sz="5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  <a:endParaRPr lang="zh-CN" altLang="en-US" noProof="0" dirty="0"/>
          </a:p>
        </p:txBody>
      </p:sp>
      <p:sp>
        <p:nvSpPr>
          <p:cNvPr id="7" name="椭圆形 6"/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BD12358-51D2-46B3-9BDE-DF29528B9454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 + 副标题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单击此处添加副标题</a:t>
            </a:r>
            <a:endParaRPr lang="zh-CN" altLang="en-US" noProof="0" dirty="0"/>
          </a:p>
        </p:txBody>
      </p:sp>
      <p:sp>
        <p:nvSpPr>
          <p:cNvPr id="14" name="椭圆形 13"/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0" name="组 9"/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任意多边形(F) 5"/>
            <p:cNvSpPr/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(F) 6"/>
            <p:cNvSpPr/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3" name="任意多边形(F) 8"/>
            <p:cNvSpPr/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8" name="图片占位符 14"/>
          <p:cNvSpPr>
            <a:spLocks noGrp="1"/>
          </p:cNvSpPr>
          <p:nvPr>
            <p:ph type="pic" sz="quarter" idx="13" hasCustomPrompt="1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单击图标以添加图片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BD12358-51D2-46B3-9BDE-DF29528B9454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任意多边形：形状 38"/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9" name="组 8"/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任意多边形：形状 32"/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" name="椭圆形 10"/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</p:grpSp>
      <p:grpSp>
        <p:nvGrpSpPr>
          <p:cNvPr id="19" name="组 18"/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任意多边形：形状 25"/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-1" fmla="*/ 540000 w 1080000"/>
                <a:gd name="connsiteY0-2" fmla="*/ 0 h 1262947"/>
                <a:gd name="connsiteX1-3" fmla="*/ 1080000 w 1080000"/>
                <a:gd name="connsiteY1-4" fmla="*/ 931034 h 1262947"/>
                <a:gd name="connsiteX2-5" fmla="*/ 1064374 w 1080000"/>
                <a:gd name="connsiteY2-6" fmla="*/ 931034 h 1262947"/>
                <a:gd name="connsiteX3-7" fmla="*/ 1069029 w 1080000"/>
                <a:gd name="connsiteY3-8" fmla="*/ 938533 h 1262947"/>
                <a:gd name="connsiteX4-9" fmla="*/ 1080000 w 1080000"/>
                <a:gd name="connsiteY4-10" fmla="*/ 992947 h 1262947"/>
                <a:gd name="connsiteX5-11" fmla="*/ 540000 w 1080000"/>
                <a:gd name="connsiteY5-12" fmla="*/ 1262947 h 1262947"/>
                <a:gd name="connsiteX6-13" fmla="*/ 0 w 1080000"/>
                <a:gd name="connsiteY6-14" fmla="*/ 992947 h 1262947"/>
                <a:gd name="connsiteX7-15" fmla="*/ 10971 w 1080000"/>
                <a:gd name="connsiteY7-16" fmla="*/ 938533 h 1262947"/>
                <a:gd name="connsiteX8-17" fmla="*/ 15626 w 1080000"/>
                <a:gd name="connsiteY8-18" fmla="*/ 931034 h 1262947"/>
                <a:gd name="connsiteX9-19" fmla="*/ 540000 w 1080000"/>
                <a:gd name="connsiteY9-20" fmla="*/ 0 h 1262947"/>
                <a:gd name="connsiteX0-21" fmla="*/ 540000 w 1080000"/>
                <a:gd name="connsiteY0-22" fmla="*/ 0 h 1262947"/>
                <a:gd name="connsiteX1-23" fmla="*/ 1064374 w 1080000"/>
                <a:gd name="connsiteY1-24" fmla="*/ 931034 h 1262947"/>
                <a:gd name="connsiteX2-25" fmla="*/ 1069029 w 1080000"/>
                <a:gd name="connsiteY2-26" fmla="*/ 938533 h 1262947"/>
                <a:gd name="connsiteX3-27" fmla="*/ 1080000 w 1080000"/>
                <a:gd name="connsiteY3-28" fmla="*/ 992947 h 1262947"/>
                <a:gd name="connsiteX4-29" fmla="*/ 540000 w 1080000"/>
                <a:gd name="connsiteY4-30" fmla="*/ 1262947 h 1262947"/>
                <a:gd name="connsiteX5-31" fmla="*/ 0 w 1080000"/>
                <a:gd name="connsiteY5-32" fmla="*/ 992947 h 1262947"/>
                <a:gd name="connsiteX6-33" fmla="*/ 10971 w 1080000"/>
                <a:gd name="connsiteY6-34" fmla="*/ 938533 h 1262947"/>
                <a:gd name="connsiteX7-35" fmla="*/ 15626 w 1080000"/>
                <a:gd name="connsiteY7-36" fmla="*/ 931034 h 1262947"/>
                <a:gd name="connsiteX8-37" fmla="*/ 540000 w 1080000"/>
                <a:gd name="connsiteY8-38" fmla="*/ 0 h 12629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/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12" name="组 11"/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任意多边形：形状 12"/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/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/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：形状 15"/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 + 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zh-CN" altLang="en-US" noProof="0" dirty="0"/>
              <a:t>单击图标插入图片</a:t>
            </a:r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单击此处添加副标题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形 21"/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3" name="组 12"/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任意多边形：形状 19"/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-1" fmla="*/ 540000 w 1080000"/>
                <a:gd name="connsiteY0-2" fmla="*/ 0 h 1262947"/>
                <a:gd name="connsiteX1-3" fmla="*/ 1080000 w 1080000"/>
                <a:gd name="connsiteY1-4" fmla="*/ 931034 h 1262947"/>
                <a:gd name="connsiteX2-5" fmla="*/ 1064374 w 1080000"/>
                <a:gd name="connsiteY2-6" fmla="*/ 931034 h 1262947"/>
                <a:gd name="connsiteX3-7" fmla="*/ 1069029 w 1080000"/>
                <a:gd name="connsiteY3-8" fmla="*/ 938533 h 1262947"/>
                <a:gd name="connsiteX4-9" fmla="*/ 1080000 w 1080000"/>
                <a:gd name="connsiteY4-10" fmla="*/ 992947 h 1262947"/>
                <a:gd name="connsiteX5-11" fmla="*/ 540000 w 1080000"/>
                <a:gd name="connsiteY5-12" fmla="*/ 1262947 h 1262947"/>
                <a:gd name="connsiteX6-13" fmla="*/ 0 w 1080000"/>
                <a:gd name="connsiteY6-14" fmla="*/ 992947 h 1262947"/>
                <a:gd name="connsiteX7-15" fmla="*/ 10971 w 1080000"/>
                <a:gd name="connsiteY7-16" fmla="*/ 938533 h 1262947"/>
                <a:gd name="connsiteX8-17" fmla="*/ 15626 w 1080000"/>
                <a:gd name="connsiteY8-18" fmla="*/ 931034 h 1262947"/>
                <a:gd name="connsiteX9-19" fmla="*/ 540000 w 1080000"/>
                <a:gd name="connsiteY9-20" fmla="*/ 0 h 1262947"/>
                <a:gd name="connsiteX0-21" fmla="*/ 540000 w 1080000"/>
                <a:gd name="connsiteY0-22" fmla="*/ 0 h 1262947"/>
                <a:gd name="connsiteX1-23" fmla="*/ 1064374 w 1080000"/>
                <a:gd name="connsiteY1-24" fmla="*/ 931034 h 1262947"/>
                <a:gd name="connsiteX2-25" fmla="*/ 1069029 w 1080000"/>
                <a:gd name="connsiteY2-26" fmla="*/ 938533 h 1262947"/>
                <a:gd name="connsiteX3-27" fmla="*/ 1080000 w 1080000"/>
                <a:gd name="connsiteY3-28" fmla="*/ 992947 h 1262947"/>
                <a:gd name="connsiteX4-29" fmla="*/ 540000 w 1080000"/>
                <a:gd name="connsiteY4-30" fmla="*/ 1262947 h 1262947"/>
                <a:gd name="connsiteX5-31" fmla="*/ 0 w 1080000"/>
                <a:gd name="connsiteY5-32" fmla="*/ 992947 h 1262947"/>
                <a:gd name="connsiteX6-33" fmla="*/ 10971 w 1080000"/>
                <a:gd name="connsiteY6-34" fmla="*/ 938533 h 1262947"/>
                <a:gd name="connsiteX7-35" fmla="*/ 15626 w 1080000"/>
                <a:gd name="connsiteY7-36" fmla="*/ 931034 h 1262947"/>
                <a:gd name="connsiteX8-37" fmla="*/ 540000 w 1080000"/>
                <a:gd name="connsiteY8-38" fmla="*/ 0 h 12629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11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 + 图片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algn="r"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algn="r"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algn="r"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algn="r"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 hasCustomPrompt="1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单击图标以添加图片</a:t>
            </a:r>
            <a:endParaRPr lang="zh-CN" altLang="en-US" noProof="0" dirty="0"/>
          </a:p>
        </p:txBody>
      </p:sp>
      <p:grpSp>
        <p:nvGrpSpPr>
          <p:cNvPr id="4" name="组 3"/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任意多边形(F) 5"/>
            <p:cNvSpPr/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(F) 6"/>
            <p:cNvSpPr/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(F) 8"/>
            <p:cNvSpPr/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5" name="椭圆形 14"/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 + 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8" name="表格占位符 7"/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 dirty="0"/>
              <a:t>单击图标插入表格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形 21"/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grpSp>
        <p:nvGrpSpPr>
          <p:cNvPr id="11" name="组 10"/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任意多边形：形状 25"/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-1" fmla="*/ 540000 w 1080000"/>
                <a:gd name="connsiteY0-2" fmla="*/ 0 h 1262947"/>
                <a:gd name="connsiteX1-3" fmla="*/ 1080000 w 1080000"/>
                <a:gd name="connsiteY1-4" fmla="*/ 931034 h 1262947"/>
                <a:gd name="connsiteX2-5" fmla="*/ 1064374 w 1080000"/>
                <a:gd name="connsiteY2-6" fmla="*/ 931034 h 1262947"/>
                <a:gd name="connsiteX3-7" fmla="*/ 1069029 w 1080000"/>
                <a:gd name="connsiteY3-8" fmla="*/ 938533 h 1262947"/>
                <a:gd name="connsiteX4-9" fmla="*/ 1080000 w 1080000"/>
                <a:gd name="connsiteY4-10" fmla="*/ 992947 h 1262947"/>
                <a:gd name="connsiteX5-11" fmla="*/ 540000 w 1080000"/>
                <a:gd name="connsiteY5-12" fmla="*/ 1262947 h 1262947"/>
                <a:gd name="connsiteX6-13" fmla="*/ 0 w 1080000"/>
                <a:gd name="connsiteY6-14" fmla="*/ 992947 h 1262947"/>
                <a:gd name="connsiteX7-15" fmla="*/ 10971 w 1080000"/>
                <a:gd name="connsiteY7-16" fmla="*/ 938533 h 1262947"/>
                <a:gd name="connsiteX8-17" fmla="*/ 15626 w 1080000"/>
                <a:gd name="connsiteY8-18" fmla="*/ 931034 h 1262947"/>
                <a:gd name="connsiteX9-19" fmla="*/ 540000 w 1080000"/>
                <a:gd name="connsiteY9-20" fmla="*/ 0 h 1262947"/>
                <a:gd name="connsiteX0-21" fmla="*/ 540000 w 1080000"/>
                <a:gd name="connsiteY0-22" fmla="*/ 0 h 1262947"/>
                <a:gd name="connsiteX1-23" fmla="*/ 1064374 w 1080000"/>
                <a:gd name="connsiteY1-24" fmla="*/ 931034 h 1262947"/>
                <a:gd name="connsiteX2-25" fmla="*/ 1069029 w 1080000"/>
                <a:gd name="connsiteY2-26" fmla="*/ 938533 h 1262947"/>
                <a:gd name="connsiteX3-27" fmla="*/ 1080000 w 1080000"/>
                <a:gd name="connsiteY3-28" fmla="*/ 992947 h 1262947"/>
                <a:gd name="connsiteX4-29" fmla="*/ 540000 w 1080000"/>
                <a:gd name="connsiteY4-30" fmla="*/ 1262947 h 1262947"/>
                <a:gd name="connsiteX5-31" fmla="*/ 0 w 1080000"/>
                <a:gd name="connsiteY5-32" fmla="*/ 992947 h 1262947"/>
                <a:gd name="connsiteX6-33" fmla="*/ 10971 w 1080000"/>
                <a:gd name="connsiteY6-34" fmla="*/ 938533 h 1262947"/>
                <a:gd name="connsiteX7-35" fmla="*/ 15626 w 1080000"/>
                <a:gd name="connsiteY7-36" fmla="*/ 931034 h 1262947"/>
                <a:gd name="connsiteX8-37" fmla="*/ 540000 w 1080000"/>
                <a:gd name="connsiteY8-38" fmla="*/ 0 h 12629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/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5" name="任意多边形：形状 21"/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3" name="组 12"/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任意多边形：形状 19"/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-1" fmla="*/ 540000 w 1080000"/>
                <a:gd name="connsiteY0-2" fmla="*/ 0 h 1262947"/>
                <a:gd name="connsiteX1-3" fmla="*/ 1080000 w 1080000"/>
                <a:gd name="connsiteY1-4" fmla="*/ 931034 h 1262947"/>
                <a:gd name="connsiteX2-5" fmla="*/ 1064374 w 1080000"/>
                <a:gd name="connsiteY2-6" fmla="*/ 931034 h 1262947"/>
                <a:gd name="connsiteX3-7" fmla="*/ 1069029 w 1080000"/>
                <a:gd name="connsiteY3-8" fmla="*/ 938533 h 1262947"/>
                <a:gd name="connsiteX4-9" fmla="*/ 1080000 w 1080000"/>
                <a:gd name="connsiteY4-10" fmla="*/ 992947 h 1262947"/>
                <a:gd name="connsiteX5-11" fmla="*/ 540000 w 1080000"/>
                <a:gd name="connsiteY5-12" fmla="*/ 1262947 h 1262947"/>
                <a:gd name="connsiteX6-13" fmla="*/ 0 w 1080000"/>
                <a:gd name="connsiteY6-14" fmla="*/ 992947 h 1262947"/>
                <a:gd name="connsiteX7-15" fmla="*/ 10971 w 1080000"/>
                <a:gd name="connsiteY7-16" fmla="*/ 938533 h 1262947"/>
                <a:gd name="connsiteX8-17" fmla="*/ 15626 w 1080000"/>
                <a:gd name="connsiteY8-18" fmla="*/ 931034 h 1262947"/>
                <a:gd name="connsiteX9-19" fmla="*/ 540000 w 1080000"/>
                <a:gd name="connsiteY9-20" fmla="*/ 0 h 1262947"/>
                <a:gd name="connsiteX0-21" fmla="*/ 540000 w 1080000"/>
                <a:gd name="connsiteY0-22" fmla="*/ 0 h 1262947"/>
                <a:gd name="connsiteX1-23" fmla="*/ 1064374 w 1080000"/>
                <a:gd name="connsiteY1-24" fmla="*/ 931034 h 1262947"/>
                <a:gd name="connsiteX2-25" fmla="*/ 1069029 w 1080000"/>
                <a:gd name="connsiteY2-26" fmla="*/ 938533 h 1262947"/>
                <a:gd name="connsiteX3-27" fmla="*/ 1080000 w 1080000"/>
                <a:gd name="connsiteY3-28" fmla="*/ 992947 h 1262947"/>
                <a:gd name="connsiteX4-29" fmla="*/ 540000 w 1080000"/>
                <a:gd name="connsiteY4-30" fmla="*/ 1262947 h 1262947"/>
                <a:gd name="connsiteX5-31" fmla="*/ 0 w 1080000"/>
                <a:gd name="connsiteY5-32" fmla="*/ 992947 h 1262947"/>
                <a:gd name="connsiteX6-33" fmla="*/ 10971 w 1080000"/>
                <a:gd name="connsiteY6-34" fmla="*/ 938533 h 1262947"/>
                <a:gd name="connsiteX7-35" fmla="*/ 15626 w 1080000"/>
                <a:gd name="connsiteY7-36" fmla="*/ 931034 h 1262947"/>
                <a:gd name="connsiteX8-37" fmla="*/ 540000 w 1080000"/>
                <a:gd name="connsiteY8-38" fmla="*/ 0 h 12629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16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形 6"/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  <a:endParaRPr lang="zh-CN" altLang="en-US" noProof="0" dirty="0"/>
          </a:p>
        </p:txBody>
      </p:sp>
      <p:grpSp>
        <p:nvGrpSpPr>
          <p:cNvPr id="9" name="组 8"/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任意多边形：形状 15"/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-1" fmla="*/ 540000 w 1080000"/>
                <a:gd name="connsiteY0-2" fmla="*/ 0 h 1262947"/>
                <a:gd name="connsiteX1-3" fmla="*/ 1080000 w 1080000"/>
                <a:gd name="connsiteY1-4" fmla="*/ 931034 h 1262947"/>
                <a:gd name="connsiteX2-5" fmla="*/ 1064374 w 1080000"/>
                <a:gd name="connsiteY2-6" fmla="*/ 931034 h 1262947"/>
                <a:gd name="connsiteX3-7" fmla="*/ 1069029 w 1080000"/>
                <a:gd name="connsiteY3-8" fmla="*/ 938533 h 1262947"/>
                <a:gd name="connsiteX4-9" fmla="*/ 1080000 w 1080000"/>
                <a:gd name="connsiteY4-10" fmla="*/ 992947 h 1262947"/>
                <a:gd name="connsiteX5-11" fmla="*/ 540000 w 1080000"/>
                <a:gd name="connsiteY5-12" fmla="*/ 1262947 h 1262947"/>
                <a:gd name="connsiteX6-13" fmla="*/ 0 w 1080000"/>
                <a:gd name="connsiteY6-14" fmla="*/ 992947 h 1262947"/>
                <a:gd name="connsiteX7-15" fmla="*/ 10971 w 1080000"/>
                <a:gd name="connsiteY7-16" fmla="*/ 938533 h 1262947"/>
                <a:gd name="connsiteX8-17" fmla="*/ 15626 w 1080000"/>
                <a:gd name="connsiteY8-18" fmla="*/ 931034 h 1262947"/>
                <a:gd name="connsiteX9-19" fmla="*/ 540000 w 1080000"/>
                <a:gd name="connsiteY9-20" fmla="*/ 0 h 1262947"/>
                <a:gd name="connsiteX0-21" fmla="*/ 540000 w 1080000"/>
                <a:gd name="connsiteY0-22" fmla="*/ 0 h 1262947"/>
                <a:gd name="connsiteX1-23" fmla="*/ 1064374 w 1080000"/>
                <a:gd name="connsiteY1-24" fmla="*/ 931034 h 1262947"/>
                <a:gd name="connsiteX2-25" fmla="*/ 1069029 w 1080000"/>
                <a:gd name="connsiteY2-26" fmla="*/ 938533 h 1262947"/>
                <a:gd name="connsiteX3-27" fmla="*/ 1080000 w 1080000"/>
                <a:gd name="connsiteY3-28" fmla="*/ 992947 h 1262947"/>
                <a:gd name="connsiteX4-29" fmla="*/ 540000 w 1080000"/>
                <a:gd name="connsiteY4-30" fmla="*/ 1262947 h 1262947"/>
                <a:gd name="connsiteX5-31" fmla="*/ 0 w 1080000"/>
                <a:gd name="connsiteY5-32" fmla="*/ 992947 h 1262947"/>
                <a:gd name="connsiteX6-33" fmla="*/ 10971 w 1080000"/>
                <a:gd name="connsiteY6-34" fmla="*/ 938533 h 1262947"/>
                <a:gd name="connsiteX7-35" fmla="*/ 15626 w 1080000"/>
                <a:gd name="connsiteY7-36" fmla="*/ 931034 h 1262947"/>
                <a:gd name="connsiteX8-37" fmla="*/ 540000 w 1080000"/>
                <a:gd name="connsiteY8-38" fmla="*/ 0 h 12629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椭圆形 10"/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12" name="组 11"/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任意多边形：形状 12"/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/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/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：形状 15"/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sz="6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单击此处添加副标题 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9" name="任意多边形：形状 18"/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-1" fmla="*/ 540000 w 1080000"/>
              <a:gd name="connsiteY0-2" fmla="*/ 0 h 1262947"/>
              <a:gd name="connsiteX1-3" fmla="*/ 1080000 w 1080000"/>
              <a:gd name="connsiteY1-4" fmla="*/ 931034 h 1262947"/>
              <a:gd name="connsiteX2-5" fmla="*/ 1064374 w 1080000"/>
              <a:gd name="connsiteY2-6" fmla="*/ 931034 h 1262947"/>
              <a:gd name="connsiteX3-7" fmla="*/ 1069029 w 1080000"/>
              <a:gd name="connsiteY3-8" fmla="*/ 938533 h 1262947"/>
              <a:gd name="connsiteX4-9" fmla="*/ 1080000 w 1080000"/>
              <a:gd name="connsiteY4-10" fmla="*/ 992947 h 1262947"/>
              <a:gd name="connsiteX5-11" fmla="*/ 540000 w 1080000"/>
              <a:gd name="connsiteY5-12" fmla="*/ 1262947 h 1262947"/>
              <a:gd name="connsiteX6-13" fmla="*/ 0 w 1080000"/>
              <a:gd name="connsiteY6-14" fmla="*/ 992947 h 1262947"/>
              <a:gd name="connsiteX7-15" fmla="*/ 10971 w 1080000"/>
              <a:gd name="connsiteY7-16" fmla="*/ 938533 h 1262947"/>
              <a:gd name="connsiteX8-17" fmla="*/ 15626 w 1080000"/>
              <a:gd name="connsiteY8-18" fmla="*/ 931034 h 1262947"/>
              <a:gd name="connsiteX9-19" fmla="*/ 540000 w 1080000"/>
              <a:gd name="connsiteY9-20" fmla="*/ 0 h 1262947"/>
              <a:gd name="connsiteX0-21" fmla="*/ 540000 w 1080000"/>
              <a:gd name="connsiteY0-22" fmla="*/ 0 h 1262947"/>
              <a:gd name="connsiteX1-23" fmla="*/ 1064374 w 1080000"/>
              <a:gd name="connsiteY1-24" fmla="*/ 931034 h 1262947"/>
              <a:gd name="connsiteX2-25" fmla="*/ 1069029 w 1080000"/>
              <a:gd name="connsiteY2-26" fmla="*/ 938533 h 1262947"/>
              <a:gd name="connsiteX3-27" fmla="*/ 1080000 w 1080000"/>
              <a:gd name="connsiteY3-28" fmla="*/ 992947 h 1262947"/>
              <a:gd name="connsiteX4-29" fmla="*/ 540000 w 1080000"/>
              <a:gd name="connsiteY4-30" fmla="*/ 1262947 h 1262947"/>
              <a:gd name="connsiteX5-31" fmla="*/ 0 w 1080000"/>
              <a:gd name="connsiteY5-32" fmla="*/ 992947 h 1262947"/>
              <a:gd name="connsiteX6-33" fmla="*/ 10971 w 1080000"/>
              <a:gd name="connsiteY6-34" fmla="*/ 938533 h 1262947"/>
              <a:gd name="connsiteX7-35" fmla="*/ 15626 w 1080000"/>
              <a:gd name="connsiteY7-36" fmla="*/ 931034 h 1262947"/>
              <a:gd name="connsiteX8-37" fmla="*/ 540000 w 1080000"/>
              <a:gd name="connsiteY8-38" fmla="*/ 0 h 12629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椭圆形 19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椭圆形 24"/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4" name="组 33"/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任意多边形：形状 34"/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任意多边形：形状 35"/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椭圆形 36"/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椭圆形 37"/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 rtl="0">
              <a:lnSpc>
                <a:spcPct val="100000"/>
              </a:lnSpc>
            </a:pPr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13" descr="数据点数字背景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>
            <a:fillRect/>
          </a:stretch>
        </p:blipFill>
        <p:spPr>
          <a:xfrm>
            <a:off x="0" y="0"/>
            <a:ext cx="6267450" cy="6858000"/>
          </a:xfrm>
        </p:spPr>
      </p:pic>
      <p:sp>
        <p:nvSpPr>
          <p:cNvPr id="2" name="矩形 1"/>
          <p:cNvSpPr/>
          <p:nvPr/>
        </p:nvSpPr>
        <p:spPr>
          <a:xfrm>
            <a:off x="6712432" y="1172974"/>
            <a:ext cx="5079518" cy="7683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DAE54">
                    <a:alpha val="89000"/>
                  </a:srgb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黑体" panose="02010609060101010101" charset="-122"/>
                <a:ea typeface="黑体" panose="02010609060101010101" charset="-122"/>
              </a:rPr>
              <a:t>矩阵对战游戏介绍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DAE54">
                  <a:alpha val="89000"/>
                </a:srgbClr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00535" y="4167346"/>
            <a:ext cx="4707731" cy="706755"/>
          </a:xfrm>
          <a:prstGeom prst="rect">
            <a:avLst/>
          </a:prstGeom>
          <a:solidFill>
            <a:srgbClr val="1B192E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DAE54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团队成员：薄闻乐</a:t>
            </a:r>
            <a:r>
              <a:rPr lang="en-US" altLang="zh-CN" sz="2000" dirty="0">
                <a:solidFill>
                  <a:srgbClr val="FDAE54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r>
              <a:rPr lang="zh-CN" altLang="en-US" sz="2000" dirty="0">
                <a:solidFill>
                  <a:srgbClr val="FDAE54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魏舟</a:t>
            </a:r>
            <a:r>
              <a:rPr lang="en-US" altLang="zh-CN" sz="2000" dirty="0">
                <a:solidFill>
                  <a:srgbClr val="FDAE54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r>
              <a:rPr lang="zh-CN" altLang="en-US" sz="2000" dirty="0">
                <a:solidFill>
                  <a:srgbClr val="FDAE54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尹杨阳</a:t>
            </a:r>
            <a:endParaRPr lang="en-US" altLang="zh-CN" sz="2000" dirty="0">
              <a:solidFill>
                <a:srgbClr val="FDAE54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/>
            <a:endParaRPr lang="en-US" altLang="zh-CN" sz="2000" dirty="0">
              <a:solidFill>
                <a:srgbClr val="FDAE54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-4450556" y="-298908"/>
            <a:ext cx="7436644" cy="7436644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矩形: 圆角 1"/>
          <p:cNvSpPr/>
          <p:nvPr/>
        </p:nvSpPr>
        <p:spPr>
          <a:xfrm>
            <a:off x="4458850" y="1343703"/>
            <a:ext cx="3255546" cy="5436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000000"/>
                </a:solidFill>
                <a:effectLst/>
                <a:latin typeface="Inter" panose="02000503000000020004"/>
              </a:rPr>
              <a:t>玩法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 panose="02000503000000020004"/>
              </a:rPr>
              <a:t>介绍</a:t>
            </a:r>
            <a:endParaRPr lang="zh-CN" altLang="en-US" b="0" i="0" dirty="0">
              <a:solidFill>
                <a:srgbClr val="000000"/>
              </a:solidFill>
              <a:effectLst/>
              <a:latin typeface="Inter" panose="02000503000000020004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77265" y="2824686"/>
            <a:ext cx="3255546" cy="5547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53092" y="4316927"/>
            <a:ext cx="3261643" cy="554784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4119120" y="1352134"/>
            <a:ext cx="667265" cy="667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壹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37535" y="2771642"/>
            <a:ext cx="676715" cy="68281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37535" y="4290405"/>
            <a:ext cx="676715" cy="682811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265141" y="2947619"/>
            <a:ext cx="284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贰</a:t>
            </a:r>
            <a:endParaRPr lang="zh-CN" altLang="en-US" dirty="0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4265141" y="4437088"/>
            <a:ext cx="39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叁</a:t>
            </a:r>
            <a:endParaRPr lang="zh-CN" altLang="en-US" dirty="0"/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4814250" y="2885836"/>
            <a:ext cx="27233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0" i="0" dirty="0">
                <a:solidFill>
                  <a:srgbClr val="000000"/>
                </a:solidFill>
                <a:effectLst/>
                <a:latin typeface="Inter" panose="02000503000000020004"/>
              </a:rPr>
              <a:t>代码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 panose="02000503000000020004"/>
              </a:rPr>
              <a:t>实现</a:t>
            </a:r>
            <a:endParaRPr lang="zh-CN" altLang="en-US" b="0" i="0" dirty="0">
              <a:solidFill>
                <a:srgbClr val="000000"/>
              </a:solidFill>
              <a:effectLst/>
              <a:latin typeface="Inter" panose="02000503000000020004"/>
            </a:endParaRPr>
          </a:p>
          <a:p>
            <a:pPr algn="ctr"/>
            <a:endParaRPr lang="zh-CN" altLang="en-US" dirty="0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4893276" y="4437088"/>
            <a:ext cx="26443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0" i="0" dirty="0">
                <a:solidFill>
                  <a:srgbClr val="000000"/>
                </a:solidFill>
                <a:effectLst/>
                <a:latin typeface="Inter" panose="02000503000000020004"/>
              </a:rPr>
              <a:t>效果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 panose="02000503000000020004"/>
              </a:rPr>
              <a:t>演示</a:t>
            </a:r>
            <a:endParaRPr lang="zh-CN" altLang="en-US" b="0" i="0" dirty="0">
              <a:solidFill>
                <a:srgbClr val="000000"/>
              </a:solidFill>
              <a:effectLst/>
              <a:latin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0" grpId="0" bldLvl="0" animBg="1"/>
      <p:bldP spid="17" grpId="0"/>
      <p:bldP spid="19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/>
          <a:p>
            <a:pPr algn="l"/>
            <a:r>
              <a:rPr lang="zh-CN" altLang="en-US" b="1" i="0" dirty="0">
                <a:effectLst/>
                <a:latin typeface="Inter" panose="02000503000000020004"/>
              </a:rPr>
              <a:t>玩法</a:t>
            </a:r>
            <a:r>
              <a:rPr lang="zh-CN" altLang="en-US" b="1" i="0" dirty="0">
                <a:effectLst/>
                <a:latin typeface="Inter" panose="02000503000000020004"/>
              </a:rPr>
              <a:t>介绍</a:t>
            </a:r>
            <a:endParaRPr lang="zh-CN" altLang="en-US" b="1" i="0" dirty="0">
              <a:effectLst/>
              <a:latin typeface="Inter" panose="02000503000000020004"/>
            </a:endParaRPr>
          </a:p>
        </p:txBody>
      </p:sp>
      <p:pic>
        <p:nvPicPr>
          <p:cNvPr id="11" name="图片占位符 15" descr="数据点数字背景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>
            <a:fillRect/>
          </a:stretch>
        </p:blipFill>
        <p:spPr>
          <a:xfrm>
            <a:off x="0" y="4594"/>
            <a:ext cx="12192000" cy="3771878"/>
          </a:xfr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47271" y="369796"/>
            <a:ext cx="4159160" cy="630648"/>
          </a:xfrm>
          <a:noFill/>
        </p:spPr>
        <p:txBody>
          <a:bodyPr rtlCol="0">
            <a:noAutofit/>
          </a:bodyPr>
          <a:lstStyle/>
          <a:p>
            <a:pPr rtl="0"/>
            <a:r>
              <a:rPr lang="zh-CN" altLang="en-US" dirty="0"/>
              <a:t>游戏规则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47271" y="1272746"/>
            <a:ext cx="4296578" cy="4584810"/>
          </a:xfrm>
          <a:noFill/>
        </p:spPr>
        <p:txBody>
          <a:bodyPr rtlCol="0"/>
          <a:lstStyle/>
          <a:p>
            <a:pPr rtl="0"/>
            <a:r>
              <a:rPr lang="en-US" altLang="zh-CN" dirty="0"/>
              <a:t>1.</a:t>
            </a:r>
            <a:r>
              <a:rPr lang="zh-CN" altLang="en-US" dirty="0"/>
              <a:t>开始时，程序为对战双方随机生成两组</a:t>
            </a:r>
            <a:r>
              <a:rPr lang="zh-CN" altLang="en-US" dirty="0"/>
              <a:t>矩阵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37526"/>
          <a:stretch>
            <a:fillRect/>
          </a:stretch>
        </p:blipFill>
        <p:spPr>
          <a:xfrm>
            <a:off x="721360" y="2195830"/>
            <a:ext cx="3641090" cy="38576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71415" y="1272540"/>
            <a:ext cx="5598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2.</a:t>
            </a:r>
            <a:r>
              <a:rPr lang="zh-CN" altLang="zh-CN" sz="2000">
                <a:latin typeface="黑体" panose="02010609060101010101" charset="-122"/>
                <a:ea typeface="黑体" panose="02010609060101010101" charset="-122"/>
              </a:rPr>
              <a:t>进入棋盘，双方轮流行动。每次操作可以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直线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zh-CN" altLang="zh-CN" sz="2000">
                <a:latin typeface="黑体" panose="02010609060101010101" charset="-122"/>
                <a:ea typeface="黑体" panose="02010609060101010101" charset="-122"/>
              </a:rPr>
              <a:t>移动棋子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除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和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18)</a:t>
            </a:r>
            <a:r>
              <a:rPr lang="zh-CN" altLang="zh-CN" sz="2000">
                <a:latin typeface="黑体" panose="02010609060101010101" charset="-122"/>
                <a:ea typeface="黑体" panose="02010609060101010101" charset="-122"/>
              </a:rPr>
              <a:t>，使用技能或结束回合。</a:t>
            </a:r>
            <a:endParaRPr lang="zh-CN" altLang="zh-CN" sz="2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415" y="2195830"/>
            <a:ext cx="5598160" cy="3858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87542" y="6653529"/>
            <a:ext cx="7960421" cy="786629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343" y="498752"/>
            <a:ext cx="7929940" cy="4590910"/>
          </a:xfrm>
        </p:spPr>
        <p:txBody>
          <a:bodyPr rtlCol="0">
            <a:normAutofit lnSpcReduction="10000"/>
          </a:bodyPr>
          <a:lstStyle/>
          <a:p>
            <a:pPr algn="l"/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相同玩家的棋子相遇会合并（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相加）</a:t>
            </a:r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不同玩家的棋子相遇会根据行列式大小比较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胜负</a:t>
            </a:r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b="1" i="0" dirty="0">
              <a:effectLst/>
              <a:latin typeface="Inter" panose="02000503000000020004"/>
            </a:endParaRPr>
          </a:p>
          <a:p>
            <a:pPr algn="l"/>
            <a:endParaRPr lang="en-US" altLang="zh-CN" b="1" i="0" dirty="0">
              <a:effectLst/>
              <a:latin typeface="Inter" panose="02000503000000020004"/>
            </a:endParaRPr>
          </a:p>
          <a:p>
            <a:endParaRPr lang="en-US" altLang="zh-CN" b="1" i="0" dirty="0">
              <a:effectLst/>
              <a:latin typeface="Inter" panose="02000503000000020004"/>
            </a:endParaRPr>
          </a:p>
          <a:p>
            <a:endParaRPr lang="zh-CN" altLang="en-US" b="1" i="0" dirty="0">
              <a:solidFill>
                <a:srgbClr val="000000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b="1" i="0" dirty="0">
              <a:solidFill>
                <a:srgbClr val="000000"/>
              </a:solidFill>
              <a:effectLst/>
              <a:latin typeface="Inter" panose="020005030000000200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60" y="937895"/>
            <a:ext cx="3670935" cy="2491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0" y="937895"/>
            <a:ext cx="3887470" cy="2494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" y="3923030"/>
            <a:ext cx="4399280" cy="2672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90972" y="6071234"/>
            <a:ext cx="7960421" cy="786629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660" y="498475"/>
            <a:ext cx="11352530" cy="4591050"/>
          </a:xfrm>
        </p:spPr>
        <p:txBody>
          <a:bodyPr rtlCol="0">
            <a:normAutofit lnSpcReduction="20000"/>
          </a:bodyPr>
          <a:lstStyle/>
          <a:p>
            <a:pPr algn="l"/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一共有五种技能：加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E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，减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E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，转置，求逆，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对角化。</a:t>
            </a:r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主动结束游戏时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,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比较双方剩余棋子的数量决定胜负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; 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当有一方棋子数小于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3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时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,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比较</a:t>
            </a:r>
            <a:endParaRPr lang="zh-CN" altLang="en-US" sz="2400" i="0" dirty="0">
              <a:solidFill>
                <a:schemeClr val="tx1"/>
              </a:solidFill>
              <a:effectLst/>
              <a:latin typeface="Inter" panose="02000503000000020004"/>
            </a:endParaRPr>
          </a:p>
          <a:p>
            <a:pPr algn="l"/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 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                                                                                     3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号和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18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号的行列式大小来决</a:t>
            </a:r>
            <a:r>
              <a:rPr lang="en-US" altLang="zh-CN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                                                                                  </a:t>
            </a:r>
            <a:r>
              <a:rPr lang="zh-CN" altLang="en-US" sz="2400" i="0" dirty="0">
                <a:solidFill>
                  <a:schemeClr val="tx1"/>
                </a:solidFill>
                <a:effectLst/>
                <a:latin typeface="Inter" panose="02000503000000020004"/>
              </a:rPr>
              <a:t>判定胜负。</a:t>
            </a:r>
            <a:endParaRPr lang="zh-CN" altLang="en-US" b="1" i="0" dirty="0">
              <a:effectLst/>
              <a:latin typeface="Inter" panose="02000503000000020004"/>
            </a:endParaRPr>
          </a:p>
          <a:p>
            <a:pPr algn="l"/>
            <a:endParaRPr lang="en-US" altLang="zh-CN" b="1" i="0" dirty="0">
              <a:effectLst/>
              <a:latin typeface="Inter" panose="02000503000000020004"/>
            </a:endParaRPr>
          </a:p>
          <a:p>
            <a:endParaRPr lang="en-US" altLang="zh-CN" b="1" i="0" dirty="0">
              <a:effectLst/>
              <a:latin typeface="Inter" panose="02000503000000020004"/>
            </a:endParaRPr>
          </a:p>
          <a:p>
            <a:endParaRPr lang="zh-CN" altLang="en-US" b="1" i="0" dirty="0">
              <a:solidFill>
                <a:srgbClr val="000000"/>
              </a:solidFill>
              <a:effectLst/>
              <a:latin typeface="Inter" panose="02000503000000020004"/>
            </a:endParaRPr>
          </a:p>
          <a:p>
            <a:pPr algn="l"/>
            <a:endParaRPr lang="zh-CN" altLang="en-US" b="1" i="0" dirty="0">
              <a:solidFill>
                <a:srgbClr val="000000"/>
              </a:solidFill>
              <a:effectLst/>
              <a:latin typeface="Inter" panose="020005030000000200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30397"/>
          <a:stretch>
            <a:fillRect/>
          </a:stretch>
        </p:blipFill>
        <p:spPr>
          <a:xfrm>
            <a:off x="683895" y="883285"/>
            <a:ext cx="2344420" cy="23279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585" y="883285"/>
            <a:ext cx="2249805" cy="23279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19957"/>
          <a:stretch>
            <a:fillRect/>
          </a:stretch>
        </p:blipFill>
        <p:spPr>
          <a:xfrm>
            <a:off x="5988685" y="883285"/>
            <a:ext cx="2062480" cy="23285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b="24676"/>
          <a:stretch>
            <a:fillRect/>
          </a:stretch>
        </p:blipFill>
        <p:spPr>
          <a:xfrm>
            <a:off x="8465820" y="883285"/>
            <a:ext cx="2185670" cy="2327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t="14421" b="12722"/>
          <a:stretch>
            <a:fillRect/>
          </a:stretch>
        </p:blipFill>
        <p:spPr>
          <a:xfrm>
            <a:off x="683895" y="3721100"/>
            <a:ext cx="7367270" cy="2428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7" descr="数据点数字背景"/>
          <p:cNvPicPr>
            <a:picLocks noGrp="1" noChangeAspect="1"/>
          </p:cNvPicPr>
          <p:nvPr>
            <p:ph type="pic" sz="quarter" idx="13"/>
          </p:nvPr>
        </p:nvPicPr>
        <p:blipFill>
          <a:blip r:embed="rId1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11211" y="0"/>
            <a:ext cx="12192000" cy="6858000"/>
          </a:xfrm>
        </p:spPr>
      </p:pic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/>
          <a:p>
            <a:r>
              <a:rPr lang="zh-CN" altLang="en-US" b="1" i="0" dirty="0">
                <a:effectLst/>
                <a:latin typeface="Inter" panose="02000503000000020004"/>
              </a:rPr>
              <a:t>代码</a:t>
            </a:r>
            <a:r>
              <a:rPr lang="zh-CN" altLang="en-US" b="1" i="0" dirty="0">
                <a:effectLst/>
                <a:latin typeface="Inter" panose="02000503000000020004"/>
              </a:rPr>
              <a:t>实现</a:t>
            </a:r>
            <a:endParaRPr lang="zh-CN" altLang="en-US" b="1" i="0" dirty="0">
              <a:effectLst/>
              <a:latin typeface="Inter" panose="020005030000000200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786629"/>
          </a:xfrm>
        </p:spPr>
        <p:txBody>
          <a:bodyPr rtlCol="0"/>
          <a:lstStyle/>
          <a:p>
            <a:pPr rtl="0"/>
            <a:r>
              <a:rPr lang="zh-CN" altLang="en-US" b="1" i="0" dirty="0">
                <a:effectLst/>
                <a:latin typeface="Inter" panose="02000503000000020004"/>
              </a:rPr>
              <a:t>一、类的</a:t>
            </a:r>
            <a:r>
              <a:rPr lang="zh-CN" altLang="en-US" b="1" i="0" dirty="0">
                <a:effectLst/>
                <a:latin typeface="Inter" panose="02000503000000020004"/>
              </a:rPr>
              <a:t>定义</a:t>
            </a:r>
            <a:endParaRPr lang="zh-CN" altLang="en-US" b="1" i="0" dirty="0">
              <a:effectLst/>
              <a:latin typeface="Inter" panose="02000503000000020004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6280" y="1193165"/>
            <a:ext cx="5730875" cy="24403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76060" y="1285240"/>
            <a:ext cx="4399280" cy="538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//</a:t>
            </a:r>
            <a:r>
              <a:rPr lang="zh-CN" altLang="en-US" sz="2000"/>
              <a:t>定义矩阵类，并使用随机数初始化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4083050"/>
            <a:ext cx="2969260" cy="20999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540" y="4083050"/>
            <a:ext cx="2199640" cy="20999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180" y="4083050"/>
            <a:ext cx="2226945" cy="20840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12125" y="40830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利用成员函数实现对角化，</a:t>
            </a:r>
            <a:r>
              <a:rPr lang="zh-CN" altLang="en-US"/>
              <a:t>转置，</a:t>
            </a:r>
            <a:endParaRPr lang="zh-CN" altLang="en-US"/>
          </a:p>
          <a:p>
            <a:r>
              <a:rPr lang="zh-CN" altLang="en-US"/>
              <a:t>求逆，求行列式，求秩等</a:t>
            </a:r>
            <a:r>
              <a:rPr lang="zh-CN" altLang="en-US"/>
              <a:t>功能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任意多边形(F) 5"/>
            <p:cNvSpPr/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" name="任意多边形(F) 6"/>
            <p:cNvSpPr/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" name="任意多边形(F) 8"/>
            <p:cNvSpPr/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40609" y="4564430"/>
            <a:ext cx="4899628" cy="2331490"/>
          </a:xfrm>
          <a:noFill/>
        </p:spPr>
        <p:txBody>
          <a:bodyPr rtlCol="0" anchor="b"/>
          <a:lstStyle/>
          <a:p>
            <a:pPr algn="l" rtl="0"/>
            <a:endParaRPr lang="zh-CN" altLang="en-US" dirty="0"/>
          </a:p>
        </p:txBody>
      </p:sp>
      <p:pic>
        <p:nvPicPr>
          <p:cNvPr id="11" name="内容占位符 10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79120" y="551815"/>
            <a:ext cx="4917440" cy="2045970"/>
          </a:xfrm>
          <a:prstGeom prst="rect">
            <a:avLst/>
          </a:prstGeom>
          <a:noFill/>
        </p:spPr>
      </p:pic>
      <p:sp>
        <p:nvSpPr>
          <p:cNvPr id="9" name="椭圆形 8"/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" name="图片占位符 9"/>
          <p:cNvPicPr>
            <a:picLocks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5417185" y="551815"/>
            <a:ext cx="4880610" cy="2089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79120" y="2751455"/>
            <a:ext cx="6129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//</a:t>
            </a:r>
            <a:r>
              <a:rPr lang="zh-CN" altLang="en-US" sz="2000"/>
              <a:t>重载运算符，实现加、减、乘、输入输出的重载</a:t>
            </a:r>
            <a:endParaRPr lang="zh-CN" altLang="en-US" sz="2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05" y="3303905"/>
            <a:ext cx="6438265" cy="2851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863" y="550801"/>
            <a:ext cx="11090275" cy="1237360"/>
          </a:xfrm>
          <a:noFill/>
        </p:spPr>
        <p:txBody>
          <a:bodyPr rtlCol="0" anchor="t">
            <a:noAutofit/>
          </a:bodyPr>
          <a:lstStyle/>
          <a:p>
            <a:pPr rtl="0"/>
            <a:r>
              <a:rPr lang="zh-CN" altLang="en-US" dirty="0"/>
              <a:t>二、游戏过程</a:t>
            </a:r>
            <a:r>
              <a:rPr lang="zh-CN" altLang="en-US" dirty="0"/>
              <a:t>实现</a:t>
            </a:r>
            <a:endParaRPr lang="zh-CN" altLang="en-US" dirty="0"/>
          </a:p>
        </p:txBody>
      </p:sp>
      <p:pic>
        <p:nvPicPr>
          <p:cNvPr id="3" name="内容占位符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53720" y="1325880"/>
            <a:ext cx="2921000" cy="1348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41135" y="1325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用枚举类型储存当前游戏的</a:t>
            </a:r>
            <a:r>
              <a:rPr lang="zh-CN" altLang="en-US"/>
              <a:t>状态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2673985"/>
            <a:ext cx="5722620" cy="19869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41135" y="2673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定义操作和技能所需的</a:t>
            </a:r>
            <a:r>
              <a:rPr lang="zh-CN" altLang="en-US"/>
              <a:t>变量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" y="4660900"/>
            <a:ext cx="3305175" cy="18116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b="39824"/>
          <a:stretch>
            <a:fillRect/>
          </a:stretch>
        </p:blipFill>
        <p:spPr>
          <a:xfrm>
            <a:off x="3858895" y="4643755"/>
            <a:ext cx="4780915" cy="18218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808720" y="46437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定义按钮类，用于储存每个</a:t>
            </a:r>
            <a:endParaRPr lang="zh-CN" altLang="en-US"/>
          </a:p>
          <a:p>
            <a:r>
              <a:rPr lang="zh-CN" altLang="en-US"/>
              <a:t>按钮的坐标和</a:t>
            </a:r>
            <a:r>
              <a:rPr lang="zh-CN" altLang="en-US"/>
              <a:t>信息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77980" y="6680200"/>
            <a:ext cx="468630" cy="633095"/>
          </a:xfrm>
          <a:noFill/>
        </p:spPr>
        <p:txBody>
          <a:bodyPr lIns="0" rtlCol="0">
            <a:normAutofit fontScale="90000"/>
          </a:bodyPr>
          <a:lstStyle/>
          <a:p>
            <a:pPr rtl="0"/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" y="1163320"/>
            <a:ext cx="3343910" cy="2763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870" y="1163320"/>
            <a:ext cx="2266950" cy="2763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42405" y="1163320"/>
            <a:ext cx="4821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使用函数</a:t>
            </a:r>
            <a:r>
              <a:rPr lang="en-US" altLang="zh-CN"/>
              <a:t>initGame</a:t>
            </a:r>
            <a:r>
              <a:rPr lang="zh-CN" altLang="en-US"/>
              <a:t>来初始化游戏所需的变量和</a:t>
            </a:r>
            <a:r>
              <a:rPr lang="zh-CN" altLang="en-US"/>
              <a:t>常量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5" y="4357370"/>
            <a:ext cx="3002915" cy="11449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6425" y="5827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//(</a:t>
            </a:r>
            <a:r>
              <a:rPr lang="zh-CN" altLang="en-US"/>
              <a:t>使用</a:t>
            </a:r>
            <a:r>
              <a:rPr lang="en-US" altLang="zh-CN"/>
              <a:t>)</a:t>
            </a:r>
            <a:r>
              <a:rPr lang="zh-CN" altLang="en-US"/>
              <a:t>时间初始化随机数</a:t>
            </a:r>
            <a:r>
              <a:rPr lang="zh-CN" altLang="en-US"/>
              <a:t>种子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425" y="4357370"/>
            <a:ext cx="2457450" cy="17405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69480" y="43573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将存活棋子数、游戏阶段、玩家回合等数据设置至初始</a:t>
            </a:r>
            <a:r>
              <a:rPr lang="zh-CN" altLang="en-US"/>
              <a:t>值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6425" y="284480"/>
            <a:ext cx="5147945" cy="71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当游戏开始时：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1323" y="29718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绘制图形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15" y="1007745"/>
            <a:ext cx="6856730" cy="50076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865" y="1007745"/>
            <a:ext cx="4580890" cy="22663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5652770"/>
            <a:ext cx="6294755" cy="984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048" y="11176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绘制图形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73079"/>
          <a:stretch>
            <a:fillRect/>
          </a:stretch>
        </p:blipFill>
        <p:spPr>
          <a:xfrm>
            <a:off x="285750" y="821055"/>
            <a:ext cx="6370955" cy="1859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650" t="55376" r="-650" b="11"/>
          <a:stretch>
            <a:fillRect/>
          </a:stretch>
        </p:blipFill>
        <p:spPr>
          <a:xfrm>
            <a:off x="337185" y="2677795"/>
            <a:ext cx="6359525" cy="30778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877570"/>
            <a:ext cx="5753735" cy="26396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225" y="3517265"/>
            <a:ext cx="6111875" cy="2584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8778" y="250825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绘制图形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1010285"/>
            <a:ext cx="8004175" cy="5472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8778" y="13716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移动操作</a:t>
            </a:r>
            <a:r>
              <a:rPr lang="zh-CN" altLang="en-US" dirty="0"/>
              <a:t>的判定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5" y="861695"/>
            <a:ext cx="6544310" cy="56470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58660" y="1515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检查移动</a:t>
            </a:r>
            <a:r>
              <a:rPr lang="zh-CN" altLang="en-US"/>
              <a:t>次数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58660" y="4604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检查玩家是否</a:t>
            </a:r>
            <a:r>
              <a:rPr lang="zh-CN" altLang="en-US"/>
              <a:t>合法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58660" y="3674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防止移动</a:t>
            </a:r>
            <a:r>
              <a:rPr lang="en-US" altLang="zh-CN"/>
              <a:t>3</a:t>
            </a:r>
            <a:r>
              <a:rPr lang="zh-CN" altLang="en-US"/>
              <a:t>号和</a:t>
            </a:r>
            <a:r>
              <a:rPr lang="en-US" altLang="zh-CN"/>
              <a:t>18</a:t>
            </a:r>
            <a:r>
              <a:rPr lang="zh-CN" altLang="en-US"/>
              <a:t>号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58660" y="5697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检查移动</a:t>
            </a:r>
            <a:r>
              <a:rPr lang="zh-CN" altLang="en-US"/>
              <a:t>方向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8778" y="13716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移动操作</a:t>
            </a:r>
            <a:r>
              <a:rPr lang="zh-CN" altLang="en-US" dirty="0"/>
              <a:t>的判定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5" y="883920"/>
            <a:ext cx="6288405" cy="34493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320" y="229870"/>
            <a:ext cx="6034405" cy="37115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55" y="4549140"/>
            <a:ext cx="3927475" cy="20516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481320" y="4549140"/>
            <a:ext cx="450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移动结束后，改变游戏状态并切换</a:t>
            </a:r>
            <a:r>
              <a:rPr lang="zh-CN" altLang="en-US"/>
              <a:t>玩家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8778" y="13716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使用</a:t>
            </a:r>
            <a:r>
              <a:rPr lang="zh-CN" altLang="en-US" dirty="0"/>
              <a:t>技能的判定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45" y="893445"/>
            <a:ext cx="7609205" cy="56248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28000" y="1581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检查技能使用</a:t>
            </a:r>
            <a:r>
              <a:rPr lang="zh-CN" altLang="en-US"/>
              <a:t>次数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00" y="5875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检查技能</a:t>
            </a:r>
            <a:r>
              <a:rPr lang="zh-CN" altLang="en-US"/>
              <a:t>对象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8778" y="6985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使用</a:t>
            </a:r>
            <a:r>
              <a:rPr lang="zh-CN" altLang="en-US" dirty="0"/>
              <a:t>技能的判定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823595"/>
            <a:ext cx="5459730" cy="38881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32245" y="895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调用成员函数，实现技能的</a:t>
            </a:r>
            <a:r>
              <a:rPr lang="zh-CN" altLang="en-US"/>
              <a:t>使用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950" y="2883535"/>
            <a:ext cx="4671060" cy="26015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953125" y="5728970"/>
            <a:ext cx="5334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使用技能后，改变游戏状态并切换</a:t>
            </a:r>
            <a:r>
              <a:rPr lang="zh-CN" altLang="en-US"/>
              <a:t>玩家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6238" y="30099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三、游戏结束的判定</a:t>
            </a:r>
            <a:r>
              <a:rPr altLang="zh-CN" dirty="0"/>
              <a:t>(</a:t>
            </a:r>
            <a:r>
              <a:rPr lang="zh-CN" altLang="en-US" dirty="0"/>
              <a:t>被动</a:t>
            </a:r>
            <a:r>
              <a:rPr lang="zh-CN" altLang="en-US" dirty="0"/>
              <a:t>结束）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825" y="1261745"/>
            <a:ext cx="8298180" cy="4961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93480" y="1261745"/>
            <a:ext cx="3218180" cy="246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//</a:t>
            </a:r>
            <a:r>
              <a:rPr lang="zh-CN" altLang="en-US"/>
              <a:t>每回合操作结束后通过循环遍历数组进行剩余棋子的</a:t>
            </a:r>
            <a:r>
              <a:rPr lang="zh-CN" altLang="en-US"/>
              <a:t>计数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92845" y="3724275"/>
            <a:ext cx="3218815" cy="2531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//</a:t>
            </a:r>
            <a:r>
              <a:rPr lang="zh-CN" altLang="en-US"/>
              <a:t>若有一方剩余棋子数目小于三，则进行结局判定，通过比较</a:t>
            </a:r>
            <a:r>
              <a:rPr lang="en-US" altLang="zh-CN"/>
              <a:t>3</a:t>
            </a:r>
            <a:r>
              <a:rPr lang="zh-CN" altLang="en-US"/>
              <a:t>号和</a:t>
            </a:r>
            <a:r>
              <a:rPr lang="en-US" altLang="zh-CN"/>
              <a:t>18</a:t>
            </a:r>
            <a:r>
              <a:rPr lang="zh-CN" altLang="en-US"/>
              <a:t>号的行列式大小分出</a:t>
            </a:r>
            <a:r>
              <a:rPr lang="zh-CN" altLang="en-US"/>
              <a:t>胜负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6238" y="300990"/>
            <a:ext cx="11090274" cy="1332000"/>
          </a:xfrm>
          <a:noFill/>
        </p:spPr>
        <p:txBody>
          <a:bodyPr lIns="0" rtlCol="0">
            <a:normAutofit/>
          </a:bodyPr>
          <a:lstStyle/>
          <a:p>
            <a:pPr rtl="0"/>
            <a:r>
              <a:rPr lang="zh-CN" altLang="en-US" dirty="0"/>
              <a:t>三、游戏结束的判定</a:t>
            </a:r>
            <a:r>
              <a:rPr altLang="zh-CN" dirty="0"/>
              <a:t>(</a:t>
            </a:r>
            <a:r>
              <a:rPr lang="zh-CN" altLang="en-US" dirty="0"/>
              <a:t>主动结束）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5" y="1311275"/>
            <a:ext cx="9448165" cy="40474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6555" y="5647055"/>
            <a:ext cx="9800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若主动点击按钮</a:t>
            </a:r>
            <a:r>
              <a:rPr lang="en-US" altLang="zh-CN"/>
              <a:t>9</a:t>
            </a:r>
            <a:r>
              <a:rPr lang="zh-CN" altLang="en-US">
                <a:ea typeface="宋体" panose="02010600030101010101" pitchFamily="2" charset="-122"/>
              </a:rPr>
              <a:t>（结束游戏），则比较双方棋子数量分出</a:t>
            </a:r>
            <a:r>
              <a:rPr lang="zh-CN" altLang="en-US">
                <a:ea typeface="宋体" panose="02010600030101010101" pitchFamily="2" charset="-122"/>
              </a:rPr>
              <a:t>胜负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7" descr="数据点数字背景"/>
          <p:cNvPicPr>
            <a:picLocks noGrp="1" noChangeAspect="1"/>
          </p:cNvPicPr>
          <p:nvPr>
            <p:ph type="pic" sz="quarter" idx="13"/>
          </p:nvPr>
        </p:nvPicPr>
        <p:blipFill>
          <a:blip r:embed="rId1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11211" y="0"/>
            <a:ext cx="12192000" cy="6858000"/>
          </a:xfrm>
        </p:spPr>
      </p:pic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623730" y="1376680"/>
            <a:ext cx="11136302" cy="2286000"/>
          </a:xfrm>
        </p:spPr>
        <p:txBody>
          <a:bodyPr rtlCol="0"/>
          <a:lstStyle/>
          <a:p>
            <a:r>
              <a:rPr lang="zh-CN" altLang="en-US" b="1" i="0" dirty="0">
                <a:effectLst/>
                <a:latin typeface="Inter" panose="02000503000000020004"/>
              </a:rPr>
              <a:t>效果</a:t>
            </a:r>
            <a:r>
              <a:rPr lang="zh-CN" altLang="en-US" b="1" i="0" dirty="0">
                <a:effectLst/>
                <a:latin typeface="Inter" panose="02000503000000020004"/>
              </a:rPr>
              <a:t>演示</a:t>
            </a:r>
            <a:endParaRPr lang="zh-CN" altLang="en-US" b="1" i="0" dirty="0">
              <a:effectLst/>
              <a:latin typeface="Inter" panose="020005030000000200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2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3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4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5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6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7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ags/tag8.xml><?xml version="1.0" encoding="utf-8"?>
<p:tagLst xmlns:p="http://schemas.openxmlformats.org/presentationml/2006/main">
  <p:tag name="KSO_WM_DIAGRAM_VIRTUALLY_FRAME" val="{&quot;height&quot;:408.2081102362205,&quot;left&quot;:320.0603149606299,&quot;top&quot;:96.08952755905511,&quot;width&quot;:289.06244094488187}"/>
</p:tagLst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9.xml><?xml version="1.0" encoding="utf-8"?>
<ds:datastoreItem xmlns:ds="http://schemas.openxmlformats.org/officeDocument/2006/customXml" ds:itemID="{1F342EE1-43E5-4AFB-895D-B61B9656DC14}">
  <ds:schemaRefs/>
</ds:datastoreItem>
</file>

<file path=customXml/itemProps10.xml><?xml version="1.0" encoding="utf-8"?>
<ds:datastoreItem xmlns:ds="http://schemas.openxmlformats.org/officeDocument/2006/customXml" ds:itemID="{2F49CD38-5B57-4682-9FCE-B9174068D0AE}">
  <ds:schemaRefs/>
</ds:datastoreItem>
</file>

<file path=customXml/itemProps11.xml><?xml version="1.0" encoding="utf-8"?>
<ds:datastoreItem xmlns:ds="http://schemas.openxmlformats.org/officeDocument/2006/customXml" ds:itemID="{797783A8-901D-4F73-81D7-AA6841BEB3D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3D 浮动设计</Template>
  <TotalTime>0</TotalTime>
  <Words>909</Words>
  <Application>WPS 演示</Application>
  <PresentationFormat>宽屏</PresentationFormat>
  <Paragraphs>122</Paragraphs>
  <Slides>21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Microsoft YaHei UI</vt:lpstr>
      <vt:lpstr>黑体</vt:lpstr>
      <vt:lpstr>华文隶书</vt:lpstr>
      <vt:lpstr>Inter</vt:lpstr>
      <vt:lpstr>微软雅黑</vt:lpstr>
      <vt:lpstr>Arial Unicode MS</vt:lpstr>
      <vt:lpstr>Courier New</vt:lpstr>
      <vt:lpstr>Gill Sans MT</vt:lpstr>
      <vt:lpstr>3DFloatVTI</vt:lpstr>
      <vt:lpstr>PowerPoint 演示文稿</vt:lpstr>
      <vt:lpstr>PowerPoint 演示文稿</vt:lpstr>
      <vt:lpstr>玩法介绍</vt:lpstr>
      <vt:lpstr>游戏规则</vt:lpstr>
      <vt:lpstr>PowerPoint 演示文稿</vt:lpstr>
      <vt:lpstr>PowerPoint 演示文稿</vt:lpstr>
      <vt:lpstr>代码实现</vt:lpstr>
      <vt:lpstr>一、类的定义</vt:lpstr>
      <vt:lpstr>PowerPoint 演示文稿</vt:lpstr>
      <vt:lpstr>二、游戏过程实现</vt:lpstr>
      <vt:lpstr>PowerPoint 演示文稿</vt:lpstr>
      <vt:lpstr>3.楼梯间声控灯安装情况</vt:lpstr>
      <vt:lpstr>绘制图形界面</vt:lpstr>
      <vt:lpstr>绘制图形界面</vt:lpstr>
      <vt:lpstr>绘制图形界面</vt:lpstr>
      <vt:lpstr>移动与攻击操作的判定</vt:lpstr>
      <vt:lpstr>移动操作的判定</vt:lpstr>
      <vt:lpstr>使用技能的判定</vt:lpstr>
      <vt:lpstr>使用技能的判定</vt:lpstr>
      <vt:lpstr>游戏结束的判定(被动结束）</vt:lpstr>
      <vt:lpstr>校园用电现状分析 - 自习室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8615335067528</dc:creator>
  <cp:lastModifiedBy>爱打电动的YYJ</cp:lastModifiedBy>
  <cp:revision>8</cp:revision>
  <dcterms:created xsi:type="dcterms:W3CDTF">2025-05-06T15:46:00Z</dcterms:created>
  <dcterms:modified xsi:type="dcterms:W3CDTF">2025-05-18T10:02:09Z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74D3033D2E1B4A37A99A4D3AFBF94971_12</vt:lpwstr>
  </property>
  <property fmtid="{D5CDD505-2E9C-101B-9397-08002B2CF9AE}" pid="5" name="KSOProductBuildVer">
    <vt:lpwstr>2052-12.1.0.21171</vt:lpwstr>
  </property>
</Properties>
</file>