
<file path=[Content_Types].xml><?xml version="1.0" encoding="utf-8"?>
<Types xmlns="http://schemas.openxmlformats.org/package/2006/content-types">
  <Default Extension="tmp" ContentType="image/png"/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2.xml" ContentType="application/vnd.openxmlformats-officedocument.presentationml.notesSlid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3.xml" ContentType="application/vnd.openxmlformats-officedocument.presentationml.notesSlid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4.xml" ContentType="application/vnd.openxmlformats-officedocument.presentationml.notesSlide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notesSlides/notesSlide5.xml" ContentType="application/vnd.openxmlformats-officedocument.presentationml.notesSl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306" r:id="rId6"/>
    <p:sldId id="307" r:id="rId7"/>
    <p:sldId id="308" r:id="rId8"/>
    <p:sldId id="260" r:id="rId9"/>
    <p:sldId id="294" r:id="rId10"/>
    <p:sldId id="262" r:id="rId11"/>
    <p:sldId id="263" r:id="rId12"/>
    <p:sldId id="264" r:id="rId13"/>
    <p:sldId id="265" r:id="rId14"/>
    <p:sldId id="315" r:id="rId15"/>
    <p:sldId id="316" r:id="rId16"/>
    <p:sldId id="323" r:id="rId17"/>
    <p:sldId id="329" r:id="rId18"/>
    <p:sldId id="331" r:id="rId19"/>
    <p:sldId id="332" r:id="rId20"/>
    <p:sldId id="333" r:id="rId21"/>
    <p:sldId id="334" r:id="rId22"/>
    <p:sldId id="268" r:id="rId23"/>
    <p:sldId id="269" r:id="rId24"/>
    <p:sldId id="285" r:id="rId25"/>
    <p:sldId id="270" r:id="rId26"/>
    <p:sldId id="324" r:id="rId27"/>
    <p:sldId id="335" r:id="rId28"/>
    <p:sldId id="271" r:id="rId29"/>
    <p:sldId id="284" r:id="rId30"/>
    <p:sldId id="325" r:id="rId31"/>
    <p:sldId id="272" r:id="rId32"/>
    <p:sldId id="326" r:id="rId33"/>
    <p:sldId id="273" r:id="rId34"/>
    <p:sldId id="274" r:id="rId35"/>
    <p:sldId id="298" r:id="rId36"/>
    <p:sldId id="299" r:id="rId37"/>
    <p:sldId id="327" r:id="rId38"/>
    <p:sldId id="275" r:id="rId39"/>
    <p:sldId id="305" r:id="rId40"/>
    <p:sldId id="336" r:id="rId41"/>
    <p:sldId id="276" r:id="rId42"/>
    <p:sldId id="277" r:id="rId43"/>
    <p:sldId id="317" r:id="rId44"/>
    <p:sldId id="338" r:id="rId45"/>
    <p:sldId id="347" r:id="rId46"/>
    <p:sldId id="318" r:id="rId47"/>
    <p:sldId id="339" r:id="rId48"/>
    <p:sldId id="353" r:id="rId49"/>
    <p:sldId id="319" r:id="rId50"/>
    <p:sldId id="340" r:id="rId51"/>
    <p:sldId id="341" r:id="rId52"/>
    <p:sldId id="350" r:id="rId53"/>
    <p:sldId id="349" r:id="rId54"/>
    <p:sldId id="351" r:id="rId55"/>
    <p:sldId id="321" r:id="rId56"/>
    <p:sldId id="278" r:id="rId57"/>
    <p:sldId id="342" r:id="rId58"/>
    <p:sldId id="311" r:id="rId59"/>
    <p:sldId id="345" r:id="rId60"/>
    <p:sldId id="279" r:id="rId61"/>
    <p:sldId id="343" r:id="rId62"/>
    <p:sldId id="328" r:id="rId63"/>
    <p:sldId id="280" r:id="rId64"/>
    <p:sldId id="281" r:id="rId65"/>
    <p:sldId id="302" r:id="rId66"/>
    <p:sldId id="303" r:id="rId67"/>
    <p:sldId id="337" r:id="rId68"/>
    <p:sldId id="352" r:id="rId69"/>
    <p:sldId id="346" r:id="rId70"/>
    <p:sldId id="348" r:id="rId71"/>
    <p:sldId id="290" r:id="rId7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3300"/>
    <a:srgbClr val="339933"/>
    <a:srgbClr val="FF6600"/>
    <a:srgbClr val="333333"/>
    <a:srgbClr val="FFFF66"/>
    <a:srgbClr val="FF33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69915" autoAdjust="0"/>
  </p:normalViewPr>
  <p:slideViewPr>
    <p:cSldViewPr>
      <p:cViewPr varScale="1">
        <p:scale>
          <a:sx n="76" d="100"/>
          <a:sy n="76" d="100"/>
        </p:scale>
        <p:origin x="3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1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81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F6A22872-A05F-4D0C-A949-8B801567B8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4271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FBC9A7C2-CF0A-40EE-8459-38B41196B3FD}" type="slidenum">
              <a:rPr lang="en-US" altLang="zh-CN" b="0">
                <a:latin typeface="Arial" panose="020B0604020202020204" pitchFamily="34" charset="0"/>
              </a:rPr>
              <a:pPr/>
              <a:t>1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3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719B5351-5900-4F5A-AD7B-318C93BFEF31}" type="slidenum">
              <a:rPr lang="en-US" altLang="zh-CN" b="0">
                <a:latin typeface="Arial" panose="020B0604020202020204" pitchFamily="34" charset="0"/>
              </a:rPr>
              <a:pPr/>
              <a:t>43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04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DE1EF938-28FA-4C78-9C7B-F19BD4CB8376}" type="slidenum">
              <a:rPr lang="en-US" altLang="zh-CN" b="0">
                <a:latin typeface="Arial" panose="020B0604020202020204" pitchFamily="34" charset="0"/>
              </a:rPr>
              <a:pPr/>
              <a:t>46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36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8F0DD58C-EE94-4E27-AF6B-C02E69A461DC}" type="slidenum">
              <a:rPr lang="en-US" altLang="zh-CN" b="0">
                <a:latin typeface="Arial" panose="020B0604020202020204" pitchFamily="34" charset="0"/>
              </a:rPr>
              <a:pPr/>
              <a:t>52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main()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float sn=100.0,hn=sn/2;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int n;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for(n=2;n&lt;=10;n++)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</a:t>
            </a:r>
            <a:r>
              <a:rPr lang="en-US" altLang="zh-CN" smtClean="0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　</a:t>
            </a:r>
            <a:r>
              <a:rPr lang="en-US" altLang="zh-CN" smtClean="0">
                <a:latin typeface="Arial" panose="020B0604020202020204" pitchFamily="34" charset="0"/>
              </a:rPr>
              <a:t>sn=sn+2*hn;/*</a:t>
            </a:r>
            <a:r>
              <a:rPr lang="zh-CN" altLang="en-US" smtClean="0">
                <a:latin typeface="Arial" panose="020B0604020202020204" pitchFamily="34" charset="0"/>
              </a:rPr>
              <a:t>第</a:t>
            </a:r>
            <a:r>
              <a:rPr lang="en-US" altLang="zh-CN" smtClean="0">
                <a:latin typeface="Arial" panose="020B0604020202020204" pitchFamily="34" charset="0"/>
              </a:rPr>
              <a:t>n</a:t>
            </a:r>
            <a:r>
              <a:rPr lang="zh-CN" altLang="en-US" smtClean="0">
                <a:latin typeface="Arial" panose="020B0604020202020204" pitchFamily="34" charset="0"/>
              </a:rPr>
              <a:t>次落地时共经过的米数*</a:t>
            </a:r>
            <a:r>
              <a:rPr lang="en-US" altLang="zh-CN" smtClean="0">
                <a:latin typeface="Arial" panose="020B0604020202020204" pitchFamily="34" charset="0"/>
              </a:rPr>
              <a:t>/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　</a:t>
            </a:r>
            <a:r>
              <a:rPr lang="en-US" altLang="zh-CN" smtClean="0">
                <a:latin typeface="Arial" panose="020B0604020202020204" pitchFamily="34" charset="0"/>
              </a:rPr>
              <a:t>hn=hn/2; /*</a:t>
            </a:r>
            <a:r>
              <a:rPr lang="zh-CN" altLang="en-US" smtClean="0">
                <a:latin typeface="Arial" panose="020B0604020202020204" pitchFamily="34" charset="0"/>
              </a:rPr>
              <a:t>第</a:t>
            </a:r>
            <a:r>
              <a:rPr lang="en-US" altLang="zh-CN" smtClean="0">
                <a:latin typeface="Arial" panose="020B0604020202020204" pitchFamily="34" charset="0"/>
              </a:rPr>
              <a:t>n</a:t>
            </a:r>
            <a:r>
              <a:rPr lang="zh-CN" altLang="en-US" smtClean="0">
                <a:latin typeface="Arial" panose="020B0604020202020204" pitchFamily="34" charset="0"/>
              </a:rPr>
              <a:t>次反跳高度*</a:t>
            </a:r>
            <a:r>
              <a:rPr lang="en-US" altLang="zh-CN" smtClean="0">
                <a:latin typeface="Arial" panose="020B0604020202020204" pitchFamily="34" charset="0"/>
              </a:rPr>
              <a:t>/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</a:t>
            </a:r>
            <a:r>
              <a:rPr lang="en-US" altLang="zh-CN" smtClean="0">
                <a:latin typeface="Arial" panose="020B0604020202020204" pitchFamily="34" charset="0"/>
              </a:rPr>
              <a:t>}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cout&lt;&lt;"the total of road is "&lt;&lt;sn&lt;&lt;endl;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cout&lt;&lt;"the tenth is”&lt;&lt;hn&lt;&lt;”meter";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9166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8F0DD58C-EE94-4E27-AF6B-C02E69A461DC}" type="slidenum">
              <a:rPr lang="en-US" altLang="zh-CN" b="0">
                <a:latin typeface="Arial" panose="020B0604020202020204" pitchFamily="34" charset="0"/>
              </a:rPr>
              <a:pPr/>
              <a:t>55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main()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float sn=100.0,hn=sn/2;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int n;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for(n=2;n&lt;=10;n++)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</a:t>
            </a:r>
            <a:r>
              <a:rPr lang="en-US" altLang="zh-CN" smtClean="0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　</a:t>
            </a:r>
            <a:r>
              <a:rPr lang="en-US" altLang="zh-CN" smtClean="0">
                <a:latin typeface="Arial" panose="020B0604020202020204" pitchFamily="34" charset="0"/>
              </a:rPr>
              <a:t>sn=sn+2*hn;/*</a:t>
            </a:r>
            <a:r>
              <a:rPr lang="zh-CN" altLang="en-US" smtClean="0">
                <a:latin typeface="Arial" panose="020B0604020202020204" pitchFamily="34" charset="0"/>
              </a:rPr>
              <a:t>第</a:t>
            </a:r>
            <a:r>
              <a:rPr lang="en-US" altLang="zh-CN" smtClean="0">
                <a:latin typeface="Arial" panose="020B0604020202020204" pitchFamily="34" charset="0"/>
              </a:rPr>
              <a:t>n</a:t>
            </a:r>
            <a:r>
              <a:rPr lang="zh-CN" altLang="en-US" smtClean="0">
                <a:latin typeface="Arial" panose="020B0604020202020204" pitchFamily="34" charset="0"/>
              </a:rPr>
              <a:t>次落地时共经过的米数*</a:t>
            </a:r>
            <a:r>
              <a:rPr lang="en-US" altLang="zh-CN" smtClean="0">
                <a:latin typeface="Arial" panose="020B0604020202020204" pitchFamily="34" charset="0"/>
              </a:rPr>
              <a:t>/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　</a:t>
            </a:r>
            <a:r>
              <a:rPr lang="en-US" altLang="zh-CN" smtClean="0">
                <a:latin typeface="Arial" panose="020B0604020202020204" pitchFamily="34" charset="0"/>
              </a:rPr>
              <a:t>hn=hn/2; /*</a:t>
            </a:r>
            <a:r>
              <a:rPr lang="zh-CN" altLang="en-US" smtClean="0">
                <a:latin typeface="Arial" panose="020B0604020202020204" pitchFamily="34" charset="0"/>
              </a:rPr>
              <a:t>第</a:t>
            </a:r>
            <a:r>
              <a:rPr lang="en-US" altLang="zh-CN" smtClean="0">
                <a:latin typeface="Arial" panose="020B0604020202020204" pitchFamily="34" charset="0"/>
              </a:rPr>
              <a:t>n</a:t>
            </a:r>
            <a:r>
              <a:rPr lang="zh-CN" altLang="en-US" smtClean="0">
                <a:latin typeface="Arial" panose="020B0604020202020204" pitchFamily="34" charset="0"/>
              </a:rPr>
              <a:t>次反跳高度*</a:t>
            </a:r>
            <a:r>
              <a:rPr lang="en-US" altLang="zh-CN" smtClean="0">
                <a:latin typeface="Arial" panose="020B0604020202020204" pitchFamily="34" charset="0"/>
              </a:rPr>
              <a:t>/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　</a:t>
            </a:r>
            <a:r>
              <a:rPr lang="en-US" altLang="zh-CN" smtClean="0">
                <a:latin typeface="Arial" panose="020B0604020202020204" pitchFamily="34" charset="0"/>
              </a:rPr>
              <a:t>}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cout&lt;&lt;"the total of road is "&lt;&lt;sn&lt;&lt;endl;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cout&lt;&lt;"the tenth is”&lt;&lt;hn&lt;&lt;”meter";</a:t>
            </a: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5285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848278E2-81B4-4916-B641-15314193C830}" type="slidenum">
              <a:rPr lang="en-US" altLang="zh-CN" b="0">
                <a:latin typeface="Arial" panose="020B0604020202020204" pitchFamily="34" charset="0"/>
              </a:rPr>
              <a:pPr/>
              <a:t>65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365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24AB9358-6CBE-4F96-AADF-B46AB23DA1B7}" type="slidenum">
              <a:rPr lang="en-US" altLang="zh-CN" b="0">
                <a:latin typeface="Arial" panose="020B0604020202020204" pitchFamily="34" charset="0"/>
              </a:rPr>
              <a:pPr/>
              <a:t>66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295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6BAB5ED2-426E-40F9-9B1B-148AAED4862C}" type="slidenum">
              <a:rPr lang="en-US" altLang="zh-CN" b="0">
                <a:latin typeface="Arial" panose="020B0604020202020204" pitchFamily="34" charset="0"/>
              </a:rPr>
              <a:pPr/>
              <a:t>71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#include &lt;iostream.h&gt;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void main()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int n,i;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cout&lt;&lt;"\nplease input a number:\n";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cin&gt;&gt;n;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cout&lt;&lt;n&lt;&lt;’=’;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for(i=2;i&lt;=n;i++)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</a:t>
            </a:r>
            <a:r>
              <a:rPr lang="en-US" altLang="zh-CN" sz="1000" smtClean="0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</a:t>
            </a:r>
            <a:r>
              <a:rPr lang="en-US" altLang="zh-CN" sz="1000" smtClean="0">
                <a:latin typeface="Arial" panose="020B0604020202020204" pitchFamily="34" charset="0"/>
              </a:rPr>
              <a:t>while(n!=i)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</a:t>
            </a:r>
            <a:r>
              <a:rPr lang="en-US" altLang="zh-CN" sz="1000" smtClean="0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　</a:t>
            </a:r>
            <a:r>
              <a:rPr lang="en-US" altLang="zh-CN" sz="1000" smtClean="0">
                <a:latin typeface="Arial" panose="020B0604020202020204" pitchFamily="34" charset="0"/>
              </a:rPr>
              <a:t>if(n%i==0)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　</a:t>
            </a:r>
            <a:r>
              <a:rPr lang="en-US" altLang="zh-CN" sz="1000" smtClean="0">
                <a:latin typeface="Arial" panose="020B0604020202020204" pitchFamily="34" charset="0"/>
              </a:rPr>
              <a:t>{ cout&lt;&lt;i;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　　</a:t>
            </a:r>
            <a:r>
              <a:rPr lang="en-US" altLang="zh-CN" sz="1000" smtClean="0">
                <a:latin typeface="Arial" panose="020B0604020202020204" pitchFamily="34" charset="0"/>
              </a:rPr>
              <a:t>n=n/i;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　</a:t>
            </a:r>
            <a:r>
              <a:rPr lang="en-US" altLang="zh-CN" sz="1000" smtClean="0">
                <a:latin typeface="Arial" panose="020B0604020202020204" pitchFamily="34" charset="0"/>
              </a:rPr>
              <a:t>}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　</a:t>
            </a:r>
            <a:r>
              <a:rPr lang="en-US" altLang="zh-CN" sz="1000" smtClean="0">
                <a:latin typeface="Arial" panose="020B0604020202020204" pitchFamily="34" charset="0"/>
              </a:rPr>
              <a:t>else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　　</a:t>
            </a:r>
            <a:r>
              <a:rPr lang="en-US" altLang="zh-CN" sz="1000" smtClean="0">
                <a:latin typeface="Arial" panose="020B0604020202020204" pitchFamily="34" charset="0"/>
              </a:rPr>
              <a:t>break;</a:t>
            </a:r>
          </a:p>
          <a:p>
            <a:pPr eaLnBrk="1" hangingPunct="1"/>
            <a:r>
              <a:rPr lang="zh-CN" altLang="en-US" sz="1000" smtClean="0">
                <a:latin typeface="Arial" panose="020B0604020202020204" pitchFamily="34" charset="0"/>
              </a:rPr>
              <a:t>　　</a:t>
            </a:r>
            <a:r>
              <a:rPr lang="en-US" altLang="zh-CN" sz="1000" smtClean="0">
                <a:latin typeface="Arial" panose="020B0604020202020204" pitchFamily="34" charset="0"/>
              </a:rPr>
              <a:t>}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}</a:t>
            </a:r>
          </a:p>
          <a:p>
            <a:pPr eaLnBrk="1" hangingPunct="1"/>
            <a:r>
              <a:rPr lang="en-US" altLang="zh-CN" sz="1000" smtClean="0">
                <a:latin typeface="Arial" panose="020B0604020202020204" pitchFamily="34" charset="0"/>
              </a:rPr>
              <a:t>cout&lt;&lt;n;}</a:t>
            </a:r>
          </a:p>
        </p:txBody>
      </p:sp>
    </p:spTree>
    <p:extLst>
      <p:ext uri="{BB962C8B-B14F-4D97-AF65-F5344CB8AC3E}">
        <p14:creationId xmlns:p14="http://schemas.microsoft.com/office/powerpoint/2010/main" val="241461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6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776 h 1906"/>
                <a:gd name="T4" fmla="*/ 5758 w 5740"/>
                <a:gd name="T5" fmla="*/ 1776 h 1906"/>
                <a:gd name="T6" fmla="*/ 5758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4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084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D85EA04-2B9E-4D13-AE57-D1B2963936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1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C8190F-0B84-4EC1-AF99-A732AC12411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016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42604E-1608-4461-913C-A9E220DDC38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685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019667-6939-4C88-B4C1-B812B1DDCD6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943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86BE5-0CB7-47E9-B764-7A6B7B5FAC5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834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D24C02-BE0B-45FC-BA2D-FCE237E0531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38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E40CA8-0D09-48AF-B53D-919F9422EE0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435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BAB700-E252-4266-8461-2F7CC85819B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92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8DABF9-A935-427B-937F-A042B4D4E61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52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C9F501-E318-4D0F-80F7-B9CDAEC5E4D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91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64D99-4C7F-427C-8678-D679CF1307D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149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8469C6-3EAE-4B12-BBE9-14E8FA73EFC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6694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421B28-6DBF-4DB6-B1F0-59BCF392D16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309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F77ED420-B8B4-4AF2-9D7A-22120A77C04D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19814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9815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9816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18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119819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776 h 1906"/>
                <a:gd name="T4" fmla="*/ 5758 w 5740"/>
                <a:gd name="T5" fmla="*/ 1776 h 1906"/>
                <a:gd name="T6" fmla="*/ 5758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9821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982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9823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15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1.tmp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10" Type="http://schemas.openxmlformats.org/officeDocument/2006/relationships/tags" Target="../tags/tag42.xml"/><Relationship Id="rId19" Type="http://schemas.openxmlformats.org/officeDocument/2006/relationships/image" Target="../media/image1.tmp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10" Type="http://schemas.openxmlformats.org/officeDocument/2006/relationships/tags" Target="../tags/tag59.xml"/><Relationship Id="rId19" Type="http://schemas.openxmlformats.org/officeDocument/2006/relationships/image" Target="../media/image1.tmp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image" Target="../media/image1.tmp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image" Target="../media/image1.tmp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image" Target="../media/image1.tmp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10" Type="http://schemas.openxmlformats.org/officeDocument/2006/relationships/tags" Target="../tags/tag115.xml"/><Relationship Id="rId19" Type="http://schemas.openxmlformats.org/officeDocument/2006/relationships/image" Target="../media/image1.tmp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tags" Target="../tags/tag135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tags" Target="../tags/tag134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image" Target="../media/image1.tmp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tags" Target="../tags/tag152.xml"/><Relationship Id="rId2" Type="http://schemas.openxmlformats.org/officeDocument/2006/relationships/tags" Target="../tags/tag137.xml"/><Relationship Id="rId16" Type="http://schemas.openxmlformats.org/officeDocument/2006/relationships/tags" Target="../tags/tag151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10" Type="http://schemas.openxmlformats.org/officeDocument/2006/relationships/tags" Target="../tags/tag145.xml"/><Relationship Id="rId19" Type="http://schemas.openxmlformats.org/officeDocument/2006/relationships/image" Target="../media/image1.tmp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19" Type="http://schemas.openxmlformats.org/officeDocument/2006/relationships/image" Target="../media/image1.tmp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tags" Target="../tags/tag18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17" Type="http://schemas.openxmlformats.org/officeDocument/2006/relationships/tags" Target="../tags/tag186.xml"/><Relationship Id="rId2" Type="http://schemas.openxmlformats.org/officeDocument/2006/relationships/tags" Target="../tags/tag171.xml"/><Relationship Id="rId16" Type="http://schemas.openxmlformats.org/officeDocument/2006/relationships/tags" Target="../tags/tag185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5" Type="http://schemas.openxmlformats.org/officeDocument/2006/relationships/tags" Target="../tags/tag174.xml"/><Relationship Id="rId15" Type="http://schemas.openxmlformats.org/officeDocument/2006/relationships/tags" Target="../tags/tag184.xml"/><Relationship Id="rId10" Type="http://schemas.openxmlformats.org/officeDocument/2006/relationships/tags" Target="../tags/tag179.xml"/><Relationship Id="rId19" Type="http://schemas.openxmlformats.org/officeDocument/2006/relationships/image" Target="../media/image1.tmp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tags" Target="../tags/tag18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13" Type="http://schemas.openxmlformats.org/officeDocument/2006/relationships/tags" Target="../tags/tag199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tags" Target="../tags/tag198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tags" Target="../tags/tag197.xml"/><Relationship Id="rId5" Type="http://schemas.openxmlformats.org/officeDocument/2006/relationships/tags" Target="../tags/tag191.xml"/><Relationship Id="rId15" Type="http://schemas.openxmlformats.org/officeDocument/2006/relationships/image" Target="../media/image1.tmp"/><Relationship Id="rId10" Type="http://schemas.openxmlformats.org/officeDocument/2006/relationships/tags" Target="../tags/tag196.xml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image" Target="../media/image1.tmp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image" Target="../media/image3.wmf"/><Relationship Id="rId2" Type="http://schemas.openxmlformats.org/officeDocument/2006/relationships/tags" Target="../tags/tag200.xml"/><Relationship Id="rId16" Type="http://schemas.openxmlformats.org/officeDocument/2006/relationships/oleObject" Target="../embeddings/oleObject1.bin"/><Relationship Id="rId1" Type="http://schemas.openxmlformats.org/officeDocument/2006/relationships/vmlDrawing" Target="../drawings/vmlDrawing1.v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08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3" Type="http://schemas.openxmlformats.org/officeDocument/2006/relationships/tags" Target="../tags/tag215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5" Type="http://schemas.openxmlformats.org/officeDocument/2006/relationships/tags" Target="../tags/tag217.xml"/><Relationship Id="rId15" Type="http://schemas.openxmlformats.org/officeDocument/2006/relationships/image" Target="../media/image1.tmp"/><Relationship Id="rId10" Type="http://schemas.openxmlformats.org/officeDocument/2006/relationships/tags" Target="../tags/tag222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13" Type="http://schemas.openxmlformats.org/officeDocument/2006/relationships/tags" Target="../tags/tag238.xml"/><Relationship Id="rId3" Type="http://schemas.openxmlformats.org/officeDocument/2006/relationships/tags" Target="../tags/tag228.xml"/><Relationship Id="rId7" Type="http://schemas.openxmlformats.org/officeDocument/2006/relationships/tags" Target="../tags/tag232.xml"/><Relationship Id="rId12" Type="http://schemas.openxmlformats.org/officeDocument/2006/relationships/tags" Target="../tags/tag237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tags" Target="../tags/tag236.xml"/><Relationship Id="rId5" Type="http://schemas.openxmlformats.org/officeDocument/2006/relationships/tags" Target="../tags/tag230.xml"/><Relationship Id="rId15" Type="http://schemas.openxmlformats.org/officeDocument/2006/relationships/image" Target="../media/image1.tmp"/><Relationship Id="rId10" Type="http://schemas.openxmlformats.org/officeDocument/2006/relationships/tags" Target="../tags/tag235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13" Type="http://schemas.openxmlformats.org/officeDocument/2006/relationships/tags" Target="../tags/tag251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tags" Target="../tags/tag250.xml"/><Relationship Id="rId2" Type="http://schemas.openxmlformats.org/officeDocument/2006/relationships/tags" Target="../tags/tag240.xml"/><Relationship Id="rId16" Type="http://schemas.openxmlformats.org/officeDocument/2006/relationships/image" Target="../media/image1.tmp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tags" Target="../tags/tag249.xml"/><Relationship Id="rId5" Type="http://schemas.openxmlformats.org/officeDocument/2006/relationships/tags" Target="../tags/tag243.xml"/><Relationship Id="rId15" Type="http://schemas.openxmlformats.org/officeDocument/2006/relationships/image" Target="../media/image5.png"/><Relationship Id="rId10" Type="http://schemas.openxmlformats.org/officeDocument/2006/relationships/tags" Target="../tags/tag248.xml"/><Relationship Id="rId4" Type="http://schemas.openxmlformats.org/officeDocument/2006/relationships/tags" Target="../tags/tag242.xml"/><Relationship Id="rId9" Type="http://schemas.openxmlformats.org/officeDocument/2006/relationships/tags" Target="../tags/tag247.xml"/><Relationship Id="rId14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13" Type="http://schemas.openxmlformats.org/officeDocument/2006/relationships/tags" Target="../tags/tag2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54.xml"/><Relationship Id="rId7" Type="http://schemas.openxmlformats.org/officeDocument/2006/relationships/tags" Target="../tags/tag258.xml"/><Relationship Id="rId12" Type="http://schemas.openxmlformats.org/officeDocument/2006/relationships/tags" Target="../tags/tag263.xml"/><Relationship Id="rId17" Type="http://schemas.openxmlformats.org/officeDocument/2006/relationships/tags" Target="../tags/tag268.xml"/><Relationship Id="rId2" Type="http://schemas.openxmlformats.org/officeDocument/2006/relationships/tags" Target="../tags/tag253.xml"/><Relationship Id="rId16" Type="http://schemas.openxmlformats.org/officeDocument/2006/relationships/tags" Target="../tags/tag267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tags" Target="../tags/tag262.xml"/><Relationship Id="rId5" Type="http://schemas.openxmlformats.org/officeDocument/2006/relationships/tags" Target="../tags/tag256.xml"/><Relationship Id="rId15" Type="http://schemas.openxmlformats.org/officeDocument/2006/relationships/tags" Target="../tags/tag266.xml"/><Relationship Id="rId10" Type="http://schemas.openxmlformats.org/officeDocument/2006/relationships/tags" Target="../tags/tag261.xml"/><Relationship Id="rId19" Type="http://schemas.openxmlformats.org/officeDocument/2006/relationships/image" Target="../media/image1.tmp"/><Relationship Id="rId4" Type="http://schemas.openxmlformats.org/officeDocument/2006/relationships/tags" Target="../tags/tag255.xml"/><Relationship Id="rId9" Type="http://schemas.openxmlformats.org/officeDocument/2006/relationships/tags" Target="../tags/tag260.xml"/><Relationship Id="rId14" Type="http://schemas.openxmlformats.org/officeDocument/2006/relationships/tags" Target="../tags/tag26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276.xml"/><Relationship Id="rId13" Type="http://schemas.openxmlformats.org/officeDocument/2006/relationships/tags" Target="../tags/tag2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71.xml"/><Relationship Id="rId7" Type="http://schemas.openxmlformats.org/officeDocument/2006/relationships/tags" Target="../tags/tag275.xml"/><Relationship Id="rId12" Type="http://schemas.openxmlformats.org/officeDocument/2006/relationships/tags" Target="../tags/tag280.xml"/><Relationship Id="rId17" Type="http://schemas.openxmlformats.org/officeDocument/2006/relationships/tags" Target="../tags/tag285.xml"/><Relationship Id="rId2" Type="http://schemas.openxmlformats.org/officeDocument/2006/relationships/tags" Target="../tags/tag270.xml"/><Relationship Id="rId16" Type="http://schemas.openxmlformats.org/officeDocument/2006/relationships/tags" Target="../tags/tag284.xml"/><Relationship Id="rId1" Type="http://schemas.openxmlformats.org/officeDocument/2006/relationships/tags" Target="../tags/tag269.xml"/><Relationship Id="rId6" Type="http://schemas.openxmlformats.org/officeDocument/2006/relationships/tags" Target="../tags/tag274.xml"/><Relationship Id="rId11" Type="http://schemas.openxmlformats.org/officeDocument/2006/relationships/tags" Target="../tags/tag279.xml"/><Relationship Id="rId5" Type="http://schemas.openxmlformats.org/officeDocument/2006/relationships/tags" Target="../tags/tag273.xml"/><Relationship Id="rId15" Type="http://schemas.openxmlformats.org/officeDocument/2006/relationships/tags" Target="../tags/tag283.xml"/><Relationship Id="rId10" Type="http://schemas.openxmlformats.org/officeDocument/2006/relationships/tags" Target="../tags/tag278.xml"/><Relationship Id="rId19" Type="http://schemas.openxmlformats.org/officeDocument/2006/relationships/image" Target="../media/image1.tmp"/><Relationship Id="rId4" Type="http://schemas.openxmlformats.org/officeDocument/2006/relationships/tags" Target="../tags/tag272.xml"/><Relationship Id="rId9" Type="http://schemas.openxmlformats.org/officeDocument/2006/relationships/tags" Target="../tags/tag277.xml"/><Relationship Id="rId14" Type="http://schemas.openxmlformats.org/officeDocument/2006/relationships/tags" Target="../tags/tag28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93.xml"/><Relationship Id="rId13" Type="http://schemas.openxmlformats.org/officeDocument/2006/relationships/tags" Target="../tags/tag2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88.xml"/><Relationship Id="rId7" Type="http://schemas.openxmlformats.org/officeDocument/2006/relationships/tags" Target="../tags/tag292.xml"/><Relationship Id="rId12" Type="http://schemas.openxmlformats.org/officeDocument/2006/relationships/tags" Target="../tags/tag297.xml"/><Relationship Id="rId17" Type="http://schemas.openxmlformats.org/officeDocument/2006/relationships/tags" Target="../tags/tag302.xml"/><Relationship Id="rId2" Type="http://schemas.openxmlformats.org/officeDocument/2006/relationships/tags" Target="../tags/tag287.xml"/><Relationship Id="rId16" Type="http://schemas.openxmlformats.org/officeDocument/2006/relationships/tags" Target="../tags/tag301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tags" Target="../tags/tag296.xml"/><Relationship Id="rId5" Type="http://schemas.openxmlformats.org/officeDocument/2006/relationships/tags" Target="../tags/tag290.xml"/><Relationship Id="rId15" Type="http://schemas.openxmlformats.org/officeDocument/2006/relationships/tags" Target="../tags/tag300.xml"/><Relationship Id="rId10" Type="http://schemas.openxmlformats.org/officeDocument/2006/relationships/tags" Target="../tags/tag295.xml"/><Relationship Id="rId19" Type="http://schemas.openxmlformats.org/officeDocument/2006/relationships/image" Target="../media/image1.tmp"/><Relationship Id="rId4" Type="http://schemas.openxmlformats.org/officeDocument/2006/relationships/tags" Target="../tags/tag289.xml"/><Relationship Id="rId9" Type="http://schemas.openxmlformats.org/officeDocument/2006/relationships/tags" Target="../tags/tag294.xml"/><Relationship Id="rId14" Type="http://schemas.openxmlformats.org/officeDocument/2006/relationships/tags" Target="../tags/tag299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310.xml"/><Relationship Id="rId13" Type="http://schemas.openxmlformats.org/officeDocument/2006/relationships/tags" Target="../tags/tag3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05.xml"/><Relationship Id="rId7" Type="http://schemas.openxmlformats.org/officeDocument/2006/relationships/tags" Target="../tags/tag309.xml"/><Relationship Id="rId12" Type="http://schemas.openxmlformats.org/officeDocument/2006/relationships/tags" Target="../tags/tag314.xml"/><Relationship Id="rId17" Type="http://schemas.openxmlformats.org/officeDocument/2006/relationships/tags" Target="../tags/tag319.xml"/><Relationship Id="rId2" Type="http://schemas.openxmlformats.org/officeDocument/2006/relationships/tags" Target="../tags/tag304.xml"/><Relationship Id="rId16" Type="http://schemas.openxmlformats.org/officeDocument/2006/relationships/tags" Target="../tags/tag318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11" Type="http://schemas.openxmlformats.org/officeDocument/2006/relationships/tags" Target="../tags/tag313.xml"/><Relationship Id="rId5" Type="http://schemas.openxmlformats.org/officeDocument/2006/relationships/tags" Target="../tags/tag307.xml"/><Relationship Id="rId15" Type="http://schemas.openxmlformats.org/officeDocument/2006/relationships/tags" Target="../tags/tag317.xml"/><Relationship Id="rId10" Type="http://schemas.openxmlformats.org/officeDocument/2006/relationships/tags" Target="../tags/tag312.xml"/><Relationship Id="rId19" Type="http://schemas.openxmlformats.org/officeDocument/2006/relationships/image" Target="../media/image1.tmp"/><Relationship Id="rId4" Type="http://schemas.openxmlformats.org/officeDocument/2006/relationships/tags" Target="../tags/tag306.xml"/><Relationship Id="rId9" Type="http://schemas.openxmlformats.org/officeDocument/2006/relationships/tags" Target="../tags/tag311.xml"/><Relationship Id="rId14" Type="http://schemas.openxmlformats.org/officeDocument/2006/relationships/tags" Target="../tags/tag3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327.xml"/><Relationship Id="rId13" Type="http://schemas.openxmlformats.org/officeDocument/2006/relationships/tags" Target="../tags/tag332.xml"/><Relationship Id="rId3" Type="http://schemas.openxmlformats.org/officeDocument/2006/relationships/tags" Target="../tags/tag322.xml"/><Relationship Id="rId7" Type="http://schemas.openxmlformats.org/officeDocument/2006/relationships/tags" Target="../tags/tag326.xml"/><Relationship Id="rId12" Type="http://schemas.openxmlformats.org/officeDocument/2006/relationships/tags" Target="../tags/tag331.xml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tags" Target="../tags/tag325.xml"/><Relationship Id="rId11" Type="http://schemas.openxmlformats.org/officeDocument/2006/relationships/tags" Target="../tags/tag330.xml"/><Relationship Id="rId5" Type="http://schemas.openxmlformats.org/officeDocument/2006/relationships/tags" Target="../tags/tag324.xml"/><Relationship Id="rId15" Type="http://schemas.openxmlformats.org/officeDocument/2006/relationships/image" Target="../media/image1.tmp"/><Relationship Id="rId10" Type="http://schemas.openxmlformats.org/officeDocument/2006/relationships/tags" Target="../tags/tag329.xml"/><Relationship Id="rId4" Type="http://schemas.openxmlformats.org/officeDocument/2006/relationships/tags" Target="../tags/tag323.xml"/><Relationship Id="rId9" Type="http://schemas.openxmlformats.org/officeDocument/2006/relationships/tags" Target="../tags/tag328.xml"/><Relationship Id="rId14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13" Type="http://schemas.openxmlformats.org/officeDocument/2006/relationships/tags" Target="../tags/tag345.xml"/><Relationship Id="rId3" Type="http://schemas.openxmlformats.org/officeDocument/2006/relationships/tags" Target="../tags/tag335.xml"/><Relationship Id="rId7" Type="http://schemas.openxmlformats.org/officeDocument/2006/relationships/tags" Target="../tags/tag339.xml"/><Relationship Id="rId12" Type="http://schemas.openxmlformats.org/officeDocument/2006/relationships/tags" Target="../tags/tag344.xml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11" Type="http://schemas.openxmlformats.org/officeDocument/2006/relationships/tags" Target="../tags/tag343.xml"/><Relationship Id="rId5" Type="http://schemas.openxmlformats.org/officeDocument/2006/relationships/tags" Target="../tags/tag337.xml"/><Relationship Id="rId15" Type="http://schemas.openxmlformats.org/officeDocument/2006/relationships/image" Target="../media/image1.tmp"/><Relationship Id="rId10" Type="http://schemas.openxmlformats.org/officeDocument/2006/relationships/tags" Target="../tags/tag342.xml"/><Relationship Id="rId4" Type="http://schemas.openxmlformats.org/officeDocument/2006/relationships/tags" Target="../tags/tag336.xml"/><Relationship Id="rId9" Type="http://schemas.openxmlformats.org/officeDocument/2006/relationships/tags" Target="../tags/tag341.xml"/><Relationship Id="rId14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4</a:t>
            </a:r>
            <a:r>
              <a:rPr lang="zh-CN" altLang="en-US" smtClean="0"/>
              <a:t>章 </a:t>
            </a:r>
            <a:br>
              <a:rPr lang="zh-CN" altLang="en-US" smtClean="0"/>
            </a:br>
            <a:r>
              <a:rPr lang="zh-CN" altLang="en-US" smtClean="0"/>
              <a:t>基本语句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学习目标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zh-CN" altLang="en-US" b="1" smtClean="0"/>
              <a:t>熟练掌握</a:t>
            </a:r>
            <a:r>
              <a:rPr lang="en-US" altLang="zh-CN" b="1" smtClean="0"/>
              <a:t>C++</a:t>
            </a:r>
            <a:r>
              <a:rPr lang="zh-CN" altLang="en-US" b="1" smtClean="0"/>
              <a:t>各种流程控制语句的用法，包括分支控制语句：</a:t>
            </a:r>
            <a:r>
              <a:rPr lang="en-US" altLang="zh-CN" b="1" smtClean="0"/>
              <a:t>if-else</a:t>
            </a:r>
            <a:r>
              <a:rPr lang="zh-CN" altLang="en-US" b="1" smtClean="0"/>
              <a:t>语句，多分支控制语句：</a:t>
            </a:r>
            <a:r>
              <a:rPr lang="en-US" altLang="zh-CN" b="1" smtClean="0"/>
              <a:t>switch</a:t>
            </a:r>
            <a:r>
              <a:rPr lang="zh-CN" altLang="en-US" b="1" smtClean="0"/>
              <a:t>语句，三种循环语句：</a:t>
            </a:r>
            <a:r>
              <a:rPr lang="en-US" altLang="zh-CN" b="1" smtClean="0"/>
              <a:t>for</a:t>
            </a:r>
            <a:r>
              <a:rPr lang="zh-CN" altLang="en-US" b="1" smtClean="0"/>
              <a:t>循环、</a:t>
            </a:r>
            <a:r>
              <a:rPr lang="en-US" altLang="zh-CN" b="1" smtClean="0"/>
              <a:t>while</a:t>
            </a:r>
            <a:r>
              <a:rPr lang="zh-CN" altLang="en-US" b="1" smtClean="0"/>
              <a:t>循环和</a:t>
            </a:r>
            <a:r>
              <a:rPr lang="en-US" altLang="zh-CN" b="1" smtClean="0"/>
              <a:t>do-while</a:t>
            </a:r>
            <a:r>
              <a:rPr lang="zh-CN" altLang="en-US" b="1" smtClean="0"/>
              <a:t>循环语句，跳转语句：</a:t>
            </a:r>
            <a:r>
              <a:rPr lang="en-US" altLang="zh-CN" b="1" smtClean="0"/>
              <a:t>break</a:t>
            </a:r>
            <a:r>
              <a:rPr lang="zh-CN" altLang="en-US" b="1" smtClean="0"/>
              <a:t>、</a:t>
            </a:r>
            <a:r>
              <a:rPr lang="en-US" altLang="zh-CN" b="1" smtClean="0"/>
              <a:t>continue</a:t>
            </a:r>
            <a:r>
              <a:rPr lang="zh-CN" altLang="en-US" b="1" smtClean="0"/>
              <a:t>、</a:t>
            </a:r>
            <a:r>
              <a:rPr lang="en-US" altLang="zh-CN" b="1" smtClean="0"/>
              <a:t>goto</a:t>
            </a:r>
            <a:r>
              <a:rPr lang="zh-CN" altLang="en-US" b="1" smtClean="0"/>
              <a:t>语句，会用流程控制语句构造程序。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4.1 C++</a:t>
            </a:r>
            <a:r>
              <a:rPr lang="zh-CN" altLang="en-US" smtClean="0"/>
              <a:t>语言的语句分类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219200" y="312737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C++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语句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3200400" y="3179763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控制语句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1" name="AutoShape 7"/>
          <p:cNvSpPr>
            <a:spLocks/>
          </p:cNvSpPr>
          <p:nvPr/>
        </p:nvSpPr>
        <p:spPr bwMode="auto">
          <a:xfrm>
            <a:off x="2916238" y="1628775"/>
            <a:ext cx="284162" cy="4679950"/>
          </a:xfrm>
          <a:prstGeom prst="leftBrace">
            <a:avLst>
              <a:gd name="adj1" fmla="val 137244"/>
              <a:gd name="adj2" fmla="val 3657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2" name="AutoShape 8"/>
          <p:cNvSpPr>
            <a:spLocks/>
          </p:cNvSpPr>
          <p:nvPr/>
        </p:nvSpPr>
        <p:spPr bwMode="auto">
          <a:xfrm>
            <a:off x="4648200" y="2540000"/>
            <a:ext cx="304800" cy="1858963"/>
          </a:xfrm>
          <a:prstGeom prst="leftBrace">
            <a:avLst>
              <a:gd name="adj1" fmla="val 68613"/>
              <a:gd name="adj2" fmla="val 55171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124200" y="4779963"/>
            <a:ext cx="2024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函数调用语句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5148263" y="4779963"/>
            <a:ext cx="2736850" cy="650875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由一次函数调用加一个分号构成一个语句。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3124200" y="18923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表达式语句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3124200" y="545782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空语句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7" name="AutoShape 13"/>
          <p:cNvSpPr>
            <a:spLocks noChangeArrowheads="1"/>
          </p:cNvSpPr>
          <p:nvPr/>
        </p:nvSpPr>
        <p:spPr bwMode="auto">
          <a:xfrm flipH="1" flipV="1">
            <a:off x="1295400" y="3965575"/>
            <a:ext cx="990600" cy="685800"/>
          </a:xfrm>
          <a:prstGeom prst="cloudCallout">
            <a:avLst>
              <a:gd name="adj1" fmla="val -12343"/>
              <a:gd name="adj2" fmla="val 112269"/>
            </a:avLst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4000">
                <a:latin typeface="Times New Roman" panose="02020603050405020304" pitchFamily="18" charset="0"/>
                <a:ea typeface="楷体_GB2312" pitchFamily="49" charset="-122"/>
              </a:rPr>
              <a:t>?</a:t>
            </a:r>
            <a:endParaRPr kumimoji="1" lang="en-US" altLang="zh-CN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8" name="AutoShape 14"/>
          <p:cNvSpPr>
            <a:spLocks noChangeArrowheads="1"/>
          </p:cNvSpPr>
          <p:nvPr/>
        </p:nvSpPr>
        <p:spPr bwMode="auto">
          <a:xfrm>
            <a:off x="228600" y="5260975"/>
            <a:ext cx="2743200" cy="1371600"/>
          </a:xfrm>
          <a:prstGeom prst="wedgeRoundRectCallout">
            <a:avLst>
              <a:gd name="adj1" fmla="val 7236"/>
              <a:gd name="adj2" fmla="val -91435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、出现在函数体的执行</a:t>
            </a:r>
          </a:p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      部分。</a:t>
            </a:r>
          </a:p>
          <a:p>
            <a:pPr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、作用是向计算机系统</a:t>
            </a:r>
          </a:p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      发出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操作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指令。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3124200" y="6067425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复合语句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5148263" y="2468563"/>
            <a:ext cx="3494087" cy="2043112"/>
          </a:xfrm>
          <a:prstGeom prst="rect">
            <a:avLst/>
          </a:prstGeom>
          <a:noFill/>
          <a:ln w="28575">
            <a:solidFill>
              <a:srgbClr val="33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accent2"/>
                </a:solidFill>
                <a:latin typeface="Tahoma" panose="020B0604030504040204" pitchFamily="34" charset="0"/>
                <a:ea typeface="楷体_GB2312" pitchFamily="49" charset="-122"/>
              </a:rPr>
              <a:t>if ()  ~   else  ~</a:t>
            </a:r>
            <a:r>
              <a:rPr kumimoji="1" lang="zh-CN" altLang="en-US">
                <a:solidFill>
                  <a:schemeClr val="accent2"/>
                </a:solidFill>
                <a:latin typeface="Tahoma" panose="020B0604030504040204" pitchFamily="34" charset="0"/>
                <a:ea typeface="楷体_GB2312" pitchFamily="49" charset="-122"/>
              </a:rPr>
              <a:t>， 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switch</a:t>
            </a:r>
          </a:p>
          <a:p>
            <a:pPr eaLnBrk="1" hangingPunct="1"/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 pitchFamily="49" charset="-122"/>
              </a:rPr>
              <a:t>for ()  ~</a:t>
            </a:r>
          </a:p>
          <a:p>
            <a:pPr eaLnBrk="1" hangingPunct="1"/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 pitchFamily="49" charset="-122"/>
              </a:rPr>
              <a:t>while ()  ~</a:t>
            </a:r>
          </a:p>
          <a:p>
            <a:pPr eaLnBrk="1" hangingPunct="1"/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  <a:ea typeface="楷体_GB2312" pitchFamily="49" charset="-122"/>
              </a:rPr>
              <a:t>do ~ while()</a:t>
            </a:r>
          </a:p>
          <a:p>
            <a:pPr eaLnBrk="1" hangingPunct="1"/>
            <a:r>
              <a:rPr kumimoji="1" lang="en-US" altLang="zh-CN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rPr>
              <a:t>continue</a:t>
            </a:r>
            <a:r>
              <a:rPr kumimoji="1" lang="zh-CN" altLang="en-US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rPr>
              <a:t>，</a:t>
            </a:r>
            <a:r>
              <a:rPr kumimoji="1" lang="en-US" altLang="zh-CN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rPr>
              <a:t>break</a:t>
            </a:r>
          </a:p>
          <a:p>
            <a:pPr eaLnBrk="1" hangingPunct="1"/>
            <a:r>
              <a:rPr kumimoji="1" lang="en-US" altLang="zh-CN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rPr>
              <a:t>goto</a:t>
            </a:r>
          </a:p>
          <a:p>
            <a:pPr eaLnBrk="1" hangingPunct="1"/>
            <a:r>
              <a:rPr kumimoji="1" lang="en-US" altLang="zh-CN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rPr>
              <a:t>return</a:t>
            </a:r>
          </a:p>
        </p:txBody>
      </p:sp>
      <p:sp>
        <p:nvSpPr>
          <p:cNvPr id="11281" name="AutoShape 17"/>
          <p:cNvSpPr>
            <a:spLocks noChangeArrowheads="1"/>
          </p:cNvSpPr>
          <p:nvPr/>
        </p:nvSpPr>
        <p:spPr bwMode="auto">
          <a:xfrm>
            <a:off x="7667625" y="3116263"/>
            <a:ext cx="1065213" cy="1220787"/>
          </a:xfrm>
          <a:prstGeom prst="wedgeRoundRectCallout">
            <a:avLst>
              <a:gd name="adj1" fmla="val -135694"/>
              <a:gd name="adj2" fmla="val -76139"/>
              <a:gd name="adj3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if  (x&gt;y)</a:t>
            </a:r>
          </a:p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z=x;</a:t>
            </a:r>
          </a:p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else</a:t>
            </a:r>
          </a:p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z=y;</a:t>
            </a:r>
          </a:p>
        </p:txBody>
      </p:sp>
      <p:sp>
        <p:nvSpPr>
          <p:cNvPr id="11282" name="AutoShape 18"/>
          <p:cNvSpPr>
            <a:spLocks noChangeArrowheads="1"/>
          </p:cNvSpPr>
          <p:nvPr/>
        </p:nvSpPr>
        <p:spPr bwMode="auto">
          <a:xfrm>
            <a:off x="8172450" y="5276850"/>
            <a:ext cx="814388" cy="457200"/>
          </a:xfrm>
          <a:prstGeom prst="wedgeRoundRectCallout">
            <a:avLst>
              <a:gd name="adj1" fmla="val -112185"/>
              <a:gd name="adj2" fmla="val -74306"/>
              <a:gd name="adj3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sin(x);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4800600" y="1973263"/>
            <a:ext cx="3948113" cy="376237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由表达式加一个分号构成一个语句。</a:t>
            </a:r>
          </a:p>
        </p:txBody>
      </p:sp>
      <p:sp>
        <p:nvSpPr>
          <p:cNvPr id="11285" name="AutoShape 21"/>
          <p:cNvSpPr>
            <a:spLocks noChangeArrowheads="1"/>
          </p:cNvSpPr>
          <p:nvPr/>
        </p:nvSpPr>
        <p:spPr bwMode="auto">
          <a:xfrm>
            <a:off x="5334000" y="5534025"/>
            <a:ext cx="685800" cy="304800"/>
          </a:xfrm>
          <a:prstGeom prst="wedgeRoundRectCallout">
            <a:avLst>
              <a:gd name="adj1" fmla="val -224306"/>
              <a:gd name="adj2" fmla="val 1042"/>
              <a:gd name="adj3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4495800" y="6067425"/>
            <a:ext cx="3100388" cy="376238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{   }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将一些语句括起来。</a:t>
            </a:r>
          </a:p>
        </p:txBody>
      </p:sp>
      <p:sp>
        <p:nvSpPr>
          <p:cNvPr id="11287" name="AutoShape 23"/>
          <p:cNvSpPr>
            <a:spLocks noChangeArrowheads="1"/>
          </p:cNvSpPr>
          <p:nvPr/>
        </p:nvSpPr>
        <p:spPr bwMode="auto">
          <a:xfrm>
            <a:off x="7673975" y="5876925"/>
            <a:ext cx="1219200" cy="908050"/>
          </a:xfrm>
          <a:prstGeom prst="wedgeRoundRectCallout">
            <a:avLst>
              <a:gd name="adj1" fmla="val -78648"/>
              <a:gd name="adj2" fmla="val -17481"/>
              <a:gd name="adj3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{  t=a; </a:t>
            </a:r>
          </a:p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a=b;</a:t>
            </a:r>
          </a:p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b=t;}</a:t>
            </a:r>
          </a:p>
        </p:txBody>
      </p:sp>
      <p:sp>
        <p:nvSpPr>
          <p:cNvPr id="11288" name="AutoShape 24"/>
          <p:cNvSpPr>
            <a:spLocks noChangeArrowheads="1"/>
          </p:cNvSpPr>
          <p:nvPr/>
        </p:nvSpPr>
        <p:spPr bwMode="auto">
          <a:xfrm flipH="1" flipV="1">
            <a:off x="8001000" y="4727575"/>
            <a:ext cx="914400" cy="533400"/>
          </a:xfrm>
          <a:prstGeom prst="cloudCallout">
            <a:avLst>
              <a:gd name="adj1" fmla="val 28472"/>
              <a:gd name="adj2" fmla="val -189287"/>
            </a:avLst>
          </a:pr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4000">
                <a:latin typeface="Times New Roman" panose="02020603050405020304" pitchFamily="18" charset="0"/>
                <a:ea typeface="楷体_GB2312" pitchFamily="49" charset="-122"/>
              </a:rPr>
              <a:t>?</a:t>
            </a: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3132138" y="1268413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说明语句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4572000" y="1341438"/>
            <a:ext cx="4176713" cy="376237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引入新的类型、对象等新名字的语句。</a:t>
            </a:r>
          </a:p>
        </p:txBody>
      </p:sp>
      <p:sp>
        <p:nvSpPr>
          <p:cNvPr id="11284" name="AutoShape 20"/>
          <p:cNvSpPr>
            <a:spLocks noChangeArrowheads="1"/>
          </p:cNvSpPr>
          <p:nvPr/>
        </p:nvSpPr>
        <p:spPr bwMode="auto">
          <a:xfrm>
            <a:off x="7956550" y="1484313"/>
            <a:ext cx="685800" cy="457200"/>
          </a:xfrm>
          <a:prstGeom prst="wedgeRoundRectCallout">
            <a:avLst>
              <a:gd name="adj1" fmla="val -100694"/>
              <a:gd name="adj2" fmla="val 87153"/>
              <a:gd name="adj3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a=3;</a:t>
            </a:r>
          </a:p>
        </p:txBody>
      </p:sp>
      <p:sp>
        <p:nvSpPr>
          <p:cNvPr id="11292" name="AutoShape 28"/>
          <p:cNvSpPr>
            <a:spLocks noChangeArrowheads="1"/>
          </p:cNvSpPr>
          <p:nvPr/>
        </p:nvSpPr>
        <p:spPr bwMode="auto">
          <a:xfrm>
            <a:off x="7956550" y="836613"/>
            <a:ext cx="830263" cy="457200"/>
          </a:xfrm>
          <a:prstGeom prst="wedgeRoundRectCallout">
            <a:avLst>
              <a:gd name="adj1" fmla="val -74472"/>
              <a:gd name="adj2" fmla="val 87153"/>
              <a:gd name="adj3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int a;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0" grpId="0" autoUpdateAnimBg="0"/>
      <p:bldP spid="11271" grpId="0" animBg="1"/>
      <p:bldP spid="11272" grpId="0" animBg="1"/>
      <p:bldP spid="11273" grpId="0" autoUpdateAnimBg="0"/>
      <p:bldP spid="11274" grpId="0" animBg="1" autoUpdateAnimBg="0"/>
      <p:bldP spid="11275" grpId="0" autoUpdateAnimBg="0"/>
      <p:bldP spid="11276" grpId="0" autoUpdateAnimBg="0"/>
      <p:bldP spid="11277" grpId="0" animBg="1" autoUpdateAnimBg="0"/>
      <p:bldP spid="11278" grpId="0" animBg="1" autoUpdateAnimBg="0"/>
      <p:bldP spid="11279" grpId="0" autoUpdateAnimBg="0"/>
      <p:bldP spid="11280" grpId="0" animBg="1" autoUpdateAnimBg="0"/>
      <p:bldP spid="11281" grpId="0" animBg="1" autoUpdateAnimBg="0"/>
      <p:bldP spid="11282" grpId="0" animBg="1" autoUpdateAnimBg="0"/>
      <p:bldP spid="11283" grpId="0" animBg="1" autoUpdateAnimBg="0"/>
      <p:bldP spid="11285" grpId="0" animBg="1" autoUpdateAnimBg="0"/>
      <p:bldP spid="11286" grpId="0" animBg="1" autoUpdateAnimBg="0"/>
      <p:bldP spid="11287" grpId="0" animBg="1" autoUpdateAnimBg="0"/>
      <p:bldP spid="11288" grpId="0" animBg="1" autoUpdateAnimBg="0"/>
      <p:bldP spid="11290" grpId="0" autoUpdateAnimBg="0"/>
      <p:bldP spid="11291" grpId="0" animBg="1" autoUpdateAnimBg="0"/>
      <p:bldP spid="11284" grpId="0" animBg="1" autoUpdateAnimBg="0"/>
      <p:bldP spid="1129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4.2 </a:t>
            </a:r>
            <a:r>
              <a:rPr lang="zh-CN" altLang="en-US" smtClean="0"/>
              <a:t>程序的基本结构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smtClean="0">
                <a:solidFill>
                  <a:schemeClr val="hlink"/>
                </a:solidFill>
              </a:rPr>
              <a:t>基本结构</a:t>
            </a:r>
            <a:r>
              <a:rPr lang="zh-CN" altLang="en-US" b="1" smtClean="0"/>
              <a:t>：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zh-CN" altLang="en-US" b="1" smtClean="0">
                <a:solidFill>
                  <a:srgbClr val="FFFF66"/>
                </a:solidFill>
              </a:rPr>
              <a:t>顺序结构</a:t>
            </a:r>
          </a:p>
          <a:p>
            <a:pPr lvl="2" eaLnBrk="1" hangingPunct="1"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smtClean="0"/>
              <a:t>按从上到下的顺序依次执行各个语句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zh-CN" altLang="en-US" b="1" smtClean="0">
                <a:solidFill>
                  <a:srgbClr val="FFFF66"/>
                </a:solidFill>
              </a:rPr>
              <a:t>选择结构</a:t>
            </a:r>
          </a:p>
          <a:p>
            <a:pPr lvl="2" eaLnBrk="1" hangingPunct="1"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smtClean="0"/>
              <a:t>根据不同的条件作出不同的选择，从而执行不同的语句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zh-CN" altLang="en-US" b="1" smtClean="0">
                <a:solidFill>
                  <a:srgbClr val="FFFF66"/>
                </a:solidFill>
              </a:rPr>
              <a:t>循环结构</a:t>
            </a:r>
          </a:p>
          <a:p>
            <a:pPr lvl="2" eaLnBrk="1" hangingPunct="1"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smtClean="0"/>
              <a:t>对程序中某些语句重复执行多次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4.2 </a:t>
            </a:r>
            <a:r>
              <a:rPr lang="zh-CN" altLang="en-US" smtClean="0"/>
              <a:t>程序的基本结构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6762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smtClean="0">
                <a:solidFill>
                  <a:schemeClr val="hlink"/>
                </a:solidFill>
              </a:rPr>
              <a:t>（</a:t>
            </a:r>
            <a:r>
              <a:rPr lang="en-US" altLang="zh-CN" b="1" smtClean="0">
                <a:solidFill>
                  <a:schemeClr val="hlink"/>
                </a:solidFill>
              </a:rPr>
              <a:t>1</a:t>
            </a:r>
            <a:r>
              <a:rPr lang="zh-CN" altLang="en-US" b="1" smtClean="0">
                <a:solidFill>
                  <a:schemeClr val="hlink"/>
                </a:solidFill>
              </a:rPr>
              <a:t>）顺序结构：</a:t>
            </a:r>
          </a:p>
        </p:txBody>
      </p:sp>
      <p:grpSp>
        <p:nvGrpSpPr>
          <p:cNvPr id="7173" name="Group 6"/>
          <p:cNvGrpSpPr>
            <a:grpSpLocks/>
          </p:cNvGrpSpPr>
          <p:nvPr/>
        </p:nvGrpSpPr>
        <p:grpSpPr bwMode="auto">
          <a:xfrm>
            <a:off x="3336032" y="2636838"/>
            <a:ext cx="1524000" cy="3886200"/>
            <a:chOff x="288" y="1728"/>
            <a:chExt cx="960" cy="2448"/>
          </a:xfrm>
        </p:grpSpPr>
        <p:grpSp>
          <p:nvGrpSpPr>
            <p:cNvPr id="7207" name="Group 7"/>
            <p:cNvGrpSpPr>
              <a:grpSpLocks/>
            </p:cNvGrpSpPr>
            <p:nvPr/>
          </p:nvGrpSpPr>
          <p:grpSpPr bwMode="auto">
            <a:xfrm>
              <a:off x="528" y="1728"/>
              <a:ext cx="576" cy="1968"/>
              <a:chOff x="384" y="1776"/>
              <a:chExt cx="576" cy="1968"/>
            </a:xfrm>
          </p:grpSpPr>
          <p:grpSp>
            <p:nvGrpSpPr>
              <p:cNvPr id="7209" name="Group 8"/>
              <p:cNvGrpSpPr>
                <a:grpSpLocks/>
              </p:cNvGrpSpPr>
              <p:nvPr/>
            </p:nvGrpSpPr>
            <p:grpSpPr bwMode="auto">
              <a:xfrm>
                <a:off x="384" y="1776"/>
                <a:ext cx="576" cy="1680"/>
                <a:chOff x="384" y="1392"/>
                <a:chExt cx="576" cy="1680"/>
              </a:xfrm>
            </p:grpSpPr>
            <p:grpSp>
              <p:nvGrpSpPr>
                <p:cNvPr id="7211" name="Group 9"/>
                <p:cNvGrpSpPr>
                  <a:grpSpLocks/>
                </p:cNvGrpSpPr>
                <p:nvPr/>
              </p:nvGrpSpPr>
              <p:grpSpPr bwMode="auto">
                <a:xfrm>
                  <a:off x="384" y="1392"/>
                  <a:ext cx="576" cy="576"/>
                  <a:chOff x="384" y="1392"/>
                  <a:chExt cx="576" cy="576"/>
                </a:xfrm>
              </p:grpSpPr>
              <p:sp>
                <p:nvSpPr>
                  <p:cNvPr id="7218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392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19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" y="1680"/>
                    <a:ext cx="576" cy="288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108000" bIns="0" anchor="ctr"/>
                  <a:lstStyle>
                    <a:lvl1pPr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1pPr>
                    <a:lvl2pPr marL="742950" indent="-28575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2pPr>
                    <a:lvl3pPr marL="11430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3pPr>
                    <a:lvl4pPr marL="16002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4pPr>
                    <a:lvl5pPr marL="20574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5pPr>
                    <a:lvl6pPr marL="25146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6pPr>
                    <a:lvl7pPr marL="29718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7pPr>
                    <a:lvl8pPr marL="34290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8pPr>
                    <a:lvl9pPr marL="38862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fontAlgn="t" hangingPunct="1">
                      <a:spcBef>
                        <a:spcPct val="50000"/>
                      </a:spcBef>
                    </a:pPr>
                    <a:r>
                      <a:rPr kumimoji="1" lang="zh-CN" altLang="en-US" sz="2400" b="0">
                        <a:latin typeface="Tahoma" panose="020B0604030504040204" pitchFamily="34" charset="0"/>
                      </a:rPr>
                      <a:t>块</a:t>
                    </a:r>
                    <a:r>
                      <a:rPr kumimoji="1" lang="en-US" altLang="zh-CN" sz="2400" b="0">
                        <a:latin typeface="Tahoma" panose="020B0604030504040204" pitchFamily="34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7212" name="Group 12"/>
                <p:cNvGrpSpPr>
                  <a:grpSpLocks/>
                </p:cNvGrpSpPr>
                <p:nvPr/>
              </p:nvGrpSpPr>
              <p:grpSpPr bwMode="auto">
                <a:xfrm>
                  <a:off x="384" y="1920"/>
                  <a:ext cx="576" cy="576"/>
                  <a:chOff x="384" y="1392"/>
                  <a:chExt cx="576" cy="576"/>
                </a:xfrm>
              </p:grpSpPr>
              <p:sp>
                <p:nvSpPr>
                  <p:cNvPr id="7216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392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17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" y="1680"/>
                    <a:ext cx="576" cy="288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108000" bIns="0" anchor="ctr"/>
                  <a:lstStyle>
                    <a:lvl1pPr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1pPr>
                    <a:lvl2pPr marL="742950" indent="-28575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2pPr>
                    <a:lvl3pPr marL="11430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3pPr>
                    <a:lvl4pPr marL="16002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4pPr>
                    <a:lvl5pPr marL="20574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5pPr>
                    <a:lvl6pPr marL="25146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6pPr>
                    <a:lvl7pPr marL="29718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7pPr>
                    <a:lvl8pPr marL="34290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8pPr>
                    <a:lvl9pPr marL="38862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fontAlgn="t" hangingPunct="1">
                      <a:spcBef>
                        <a:spcPct val="50000"/>
                      </a:spcBef>
                    </a:pPr>
                    <a:r>
                      <a:rPr kumimoji="1" lang="zh-CN" altLang="en-US" sz="2400" b="0">
                        <a:latin typeface="Tahoma" panose="020B0604030504040204" pitchFamily="34" charset="0"/>
                      </a:rPr>
                      <a:t>块</a:t>
                    </a:r>
                    <a:r>
                      <a:rPr kumimoji="1" lang="en-US" altLang="zh-CN" sz="2400" b="0">
                        <a:latin typeface="Tahoma" panose="020B0604030504040204" pitchFamily="34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7213" name="Group 15"/>
                <p:cNvGrpSpPr>
                  <a:grpSpLocks/>
                </p:cNvGrpSpPr>
                <p:nvPr/>
              </p:nvGrpSpPr>
              <p:grpSpPr bwMode="auto">
                <a:xfrm>
                  <a:off x="384" y="2496"/>
                  <a:ext cx="576" cy="576"/>
                  <a:chOff x="384" y="1392"/>
                  <a:chExt cx="576" cy="576"/>
                </a:xfrm>
              </p:grpSpPr>
              <p:sp>
                <p:nvSpPr>
                  <p:cNvPr id="7214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392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15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" y="1680"/>
                    <a:ext cx="576" cy="288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108000" bIns="0" anchor="ctr"/>
                  <a:lstStyle>
                    <a:lvl1pPr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1pPr>
                    <a:lvl2pPr marL="742950" indent="-28575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2pPr>
                    <a:lvl3pPr marL="11430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3pPr>
                    <a:lvl4pPr marL="16002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4pPr>
                    <a:lvl5pPr marL="2057400" indent="-228600" defTabSz="663575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5pPr>
                    <a:lvl6pPr marL="25146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6pPr>
                    <a:lvl7pPr marL="29718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7pPr>
                    <a:lvl8pPr marL="34290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8pPr>
                    <a:lvl9pPr marL="3886200" indent="-228600" defTabSz="663575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fontAlgn="t" hangingPunct="1">
                      <a:spcBef>
                        <a:spcPct val="50000"/>
                      </a:spcBef>
                    </a:pPr>
                    <a:r>
                      <a:rPr kumimoji="1" lang="zh-CN" altLang="en-US" sz="2400" b="0">
                        <a:latin typeface="Tahoma" panose="020B0604030504040204" pitchFamily="34" charset="0"/>
                      </a:rPr>
                      <a:t>块</a:t>
                    </a:r>
                    <a:r>
                      <a:rPr kumimoji="1" lang="en-US" altLang="zh-CN" sz="2400" b="0">
                        <a:latin typeface="Tahoma" panose="020B0604030504040204" pitchFamily="34" charset="0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210" name="Line 18"/>
              <p:cNvSpPr>
                <a:spLocks noChangeShapeType="1"/>
              </p:cNvSpPr>
              <p:nvPr/>
            </p:nvSpPr>
            <p:spPr bwMode="auto">
              <a:xfrm>
                <a:off x="672" y="345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208" name="Text Box 19"/>
            <p:cNvSpPr txBox="1">
              <a:spLocks noChangeArrowheads="1"/>
            </p:cNvSpPr>
            <p:nvPr/>
          </p:nvSpPr>
          <p:spPr bwMode="auto">
            <a:xfrm>
              <a:off x="288" y="3888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t" hangingPunct="1">
                <a:spcBef>
                  <a:spcPct val="50000"/>
                </a:spcBef>
              </a:pPr>
              <a:r>
                <a:rPr kumimoji="1" lang="zh-CN" altLang="en-US" sz="2400">
                  <a:solidFill>
                    <a:schemeClr val="hlink"/>
                  </a:solidFill>
                  <a:latin typeface="Tahoma" panose="020B0604030504040204" pitchFamily="34" charset="0"/>
                  <a:ea typeface="幼圆" panose="02010509060101010101" pitchFamily="49" charset="-122"/>
                </a:rPr>
                <a:t>流程图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4.2 </a:t>
            </a:r>
            <a:r>
              <a:rPr lang="zh-CN" altLang="en-US" smtClean="0"/>
              <a:t>程序的基本结构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6762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smtClean="0">
                <a:solidFill>
                  <a:schemeClr val="hlink"/>
                </a:solidFill>
              </a:rPr>
              <a:t>（</a:t>
            </a:r>
            <a:r>
              <a:rPr lang="en-US" altLang="zh-CN" b="1" smtClean="0">
                <a:solidFill>
                  <a:schemeClr val="hlink"/>
                </a:solidFill>
              </a:rPr>
              <a:t>2</a:t>
            </a:r>
            <a:r>
              <a:rPr lang="zh-CN" altLang="en-US" b="1" smtClean="0">
                <a:solidFill>
                  <a:schemeClr val="hlink"/>
                </a:solidFill>
              </a:rPr>
              <a:t>）选择（分支）结构：</a:t>
            </a:r>
          </a:p>
        </p:txBody>
      </p:sp>
      <p:grpSp>
        <p:nvGrpSpPr>
          <p:cNvPr id="8218" name="Group 100"/>
          <p:cNvGrpSpPr>
            <a:grpSpLocks/>
          </p:cNvGrpSpPr>
          <p:nvPr/>
        </p:nvGrpSpPr>
        <p:grpSpPr bwMode="auto">
          <a:xfrm>
            <a:off x="3061320" y="2708275"/>
            <a:ext cx="2590800" cy="3657600"/>
            <a:chOff x="96" y="1824"/>
            <a:chExt cx="1632" cy="2304"/>
          </a:xfrm>
        </p:grpSpPr>
        <p:grpSp>
          <p:nvGrpSpPr>
            <p:cNvPr id="8219" name="Group 101"/>
            <p:cNvGrpSpPr>
              <a:grpSpLocks/>
            </p:cNvGrpSpPr>
            <p:nvPr/>
          </p:nvGrpSpPr>
          <p:grpSpPr bwMode="auto">
            <a:xfrm>
              <a:off x="96" y="1824"/>
              <a:ext cx="1632" cy="2304"/>
              <a:chOff x="96" y="1824"/>
              <a:chExt cx="1632" cy="2304"/>
            </a:xfrm>
          </p:grpSpPr>
          <p:sp>
            <p:nvSpPr>
              <p:cNvPr id="8223" name="Text Box 102"/>
              <p:cNvSpPr txBox="1">
                <a:spLocks noChangeArrowheads="1"/>
              </p:cNvSpPr>
              <p:nvPr/>
            </p:nvSpPr>
            <p:spPr bwMode="auto">
              <a:xfrm>
                <a:off x="432" y="3840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t" hangingPunct="1">
                  <a:spcBef>
                    <a:spcPct val="50000"/>
                  </a:spcBef>
                </a:pPr>
                <a:r>
                  <a:rPr kumimoji="1" lang="zh-CN" altLang="en-US" sz="2400">
                    <a:solidFill>
                      <a:schemeClr val="hlink"/>
                    </a:solidFill>
                    <a:latin typeface="Tahoma" panose="020B0604030504040204" pitchFamily="34" charset="0"/>
                    <a:ea typeface="幼圆" panose="02010509060101010101" pitchFamily="49" charset="-122"/>
                  </a:rPr>
                  <a:t>流程图</a:t>
                </a:r>
              </a:p>
            </p:txBody>
          </p:sp>
          <p:grpSp>
            <p:nvGrpSpPr>
              <p:cNvPr id="8224" name="Group 103"/>
              <p:cNvGrpSpPr>
                <a:grpSpLocks/>
              </p:cNvGrpSpPr>
              <p:nvPr/>
            </p:nvGrpSpPr>
            <p:grpSpPr bwMode="auto">
              <a:xfrm>
                <a:off x="96" y="1824"/>
                <a:ext cx="1632" cy="1776"/>
                <a:chOff x="528" y="384"/>
                <a:chExt cx="1632" cy="1776"/>
              </a:xfrm>
            </p:grpSpPr>
            <p:grpSp>
              <p:nvGrpSpPr>
                <p:cNvPr id="8225" name="Group 104"/>
                <p:cNvGrpSpPr>
                  <a:grpSpLocks/>
                </p:cNvGrpSpPr>
                <p:nvPr/>
              </p:nvGrpSpPr>
              <p:grpSpPr bwMode="auto">
                <a:xfrm>
                  <a:off x="528" y="384"/>
                  <a:ext cx="1632" cy="1470"/>
                  <a:chOff x="528" y="384"/>
                  <a:chExt cx="1632" cy="1470"/>
                </a:xfrm>
              </p:grpSpPr>
              <p:grpSp>
                <p:nvGrpSpPr>
                  <p:cNvPr id="8227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912" y="384"/>
                    <a:ext cx="864" cy="672"/>
                    <a:chOff x="912" y="384"/>
                    <a:chExt cx="864" cy="672"/>
                  </a:xfrm>
                </p:grpSpPr>
                <p:sp>
                  <p:nvSpPr>
                    <p:cNvPr id="8242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384"/>
                      <a:ext cx="0" cy="28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243" name="AutoShape 1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672"/>
                      <a:ext cx="864" cy="384"/>
                    </a:xfrm>
                    <a:prstGeom prst="diamond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r>
                        <a:rPr kumimoji="1" lang="zh-CN" altLang="en-US" sz="2400" b="0">
                          <a:latin typeface="Times New Roman" panose="02020603050405020304" pitchFamily="18" charset="0"/>
                        </a:rPr>
                        <a:t>条件</a:t>
                      </a:r>
                    </a:p>
                  </p:txBody>
                </p:sp>
              </p:grpSp>
              <p:grpSp>
                <p:nvGrpSpPr>
                  <p:cNvPr id="8228" name="Group 108"/>
                  <p:cNvGrpSpPr>
                    <a:grpSpLocks/>
                  </p:cNvGrpSpPr>
                  <p:nvPr/>
                </p:nvGrpSpPr>
                <p:grpSpPr bwMode="auto">
                  <a:xfrm>
                    <a:off x="768" y="864"/>
                    <a:ext cx="1152" cy="467"/>
                    <a:chOff x="768" y="864"/>
                    <a:chExt cx="1152" cy="672"/>
                  </a:xfrm>
                </p:grpSpPr>
                <p:grpSp>
                  <p:nvGrpSpPr>
                    <p:cNvPr id="8236" name="Group 10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68" y="864"/>
                      <a:ext cx="144" cy="672"/>
                      <a:chOff x="768" y="864"/>
                      <a:chExt cx="144" cy="672"/>
                    </a:xfrm>
                  </p:grpSpPr>
                  <p:sp>
                    <p:nvSpPr>
                      <p:cNvPr id="8240" name="Line 11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768" y="864"/>
                        <a:ext cx="144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241" name="Line 1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8" y="864"/>
                        <a:ext cx="0" cy="6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823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76" y="864"/>
                      <a:ext cx="144" cy="672"/>
                      <a:chOff x="1776" y="864"/>
                      <a:chExt cx="144" cy="672"/>
                    </a:xfrm>
                  </p:grpSpPr>
                  <p:sp>
                    <p:nvSpPr>
                      <p:cNvPr id="8238" name="Line 11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76" y="864"/>
                        <a:ext cx="144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239" name="Line 1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0" y="864"/>
                        <a:ext cx="0" cy="67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8229" name="Group 115"/>
                  <p:cNvGrpSpPr>
                    <a:grpSpLocks/>
                  </p:cNvGrpSpPr>
                  <p:nvPr/>
                </p:nvGrpSpPr>
                <p:grpSpPr bwMode="auto">
                  <a:xfrm>
                    <a:off x="528" y="1326"/>
                    <a:ext cx="1632" cy="528"/>
                    <a:chOff x="528" y="1536"/>
                    <a:chExt cx="1632" cy="528"/>
                  </a:xfrm>
                </p:grpSpPr>
                <p:sp>
                  <p:nvSpPr>
                    <p:cNvPr id="8230" name="Rectangle 1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8" y="1536"/>
                      <a:ext cx="528" cy="2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kumimoji="1" lang="zh-CN" altLang="en-US" sz="2400" b="0">
                          <a:latin typeface="Times New Roman" panose="02020603050405020304" pitchFamily="18" charset="0"/>
                        </a:rPr>
                        <a:t>块</a:t>
                      </a:r>
                      <a:r>
                        <a:rPr kumimoji="1" lang="en-US" altLang="zh-CN" sz="2400" b="0">
                          <a:latin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8231" name="Rectangle 1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2" y="1536"/>
                      <a:ext cx="528" cy="2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kumimoji="1" lang="zh-CN" altLang="en-US" sz="2400" b="0">
                          <a:latin typeface="Times New Roman" panose="02020603050405020304" pitchFamily="18" charset="0"/>
                        </a:rPr>
                        <a:t>块</a:t>
                      </a:r>
                      <a:r>
                        <a:rPr kumimoji="1" lang="en-US" altLang="zh-CN" sz="2400" b="0">
                          <a:latin typeface="Times New Roman" panose="02020603050405020304" pitchFamily="18" charset="0"/>
                        </a:rPr>
                        <a:t>2</a:t>
                      </a:r>
                    </a:p>
                  </p:txBody>
                </p:sp>
                <p:grpSp>
                  <p:nvGrpSpPr>
                    <p:cNvPr id="8232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68" y="1824"/>
                      <a:ext cx="1152" cy="240"/>
                      <a:chOff x="768" y="1824"/>
                      <a:chExt cx="1152" cy="240"/>
                    </a:xfrm>
                  </p:grpSpPr>
                  <p:sp>
                    <p:nvSpPr>
                      <p:cNvPr id="8233" name="Line 11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8" y="1824"/>
                        <a:ext cx="0" cy="24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234" name="Line 12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8" y="2064"/>
                        <a:ext cx="1149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8235" name="Line 12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920" y="1824"/>
                        <a:ext cx="0" cy="24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8226" name="Line 122"/>
                <p:cNvSpPr>
                  <a:spLocks noChangeShapeType="1"/>
                </p:cNvSpPr>
                <p:nvPr/>
              </p:nvSpPr>
              <p:spPr bwMode="auto">
                <a:xfrm>
                  <a:off x="1344" y="1872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220" name="Group 123"/>
            <p:cNvGrpSpPr>
              <a:grpSpLocks/>
            </p:cNvGrpSpPr>
            <p:nvPr/>
          </p:nvGrpSpPr>
          <p:grpSpPr bwMode="auto">
            <a:xfrm>
              <a:off x="288" y="2064"/>
              <a:ext cx="1248" cy="250"/>
              <a:chOff x="288" y="2064"/>
              <a:chExt cx="1248" cy="250"/>
            </a:xfrm>
          </p:grpSpPr>
          <p:sp>
            <p:nvSpPr>
              <p:cNvPr id="8221" name="Text Box 124">
                <a:hlinkClick r:id="" action="ppaction://hlinkshowjump?jump=nextslide"/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2064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sz="2000" b="0">
                    <a:solidFill>
                      <a:schemeClr val="hlink"/>
                    </a:solidFill>
                    <a:latin typeface="Tahoma" panose="020B0604030504040204" pitchFamily="34" charset="0"/>
                  </a:rPr>
                  <a:t>真</a:t>
                </a:r>
              </a:p>
            </p:txBody>
          </p:sp>
          <p:sp>
            <p:nvSpPr>
              <p:cNvPr id="8222" name="Text Box 125">
                <a:hlinkClick r:id="" action="ppaction://hlinkshowjump?jump=nextslide"/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2064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sz="2000" b="0">
                    <a:solidFill>
                      <a:schemeClr val="hlink"/>
                    </a:solidFill>
                    <a:latin typeface="Tahoma" panose="020B0604030504040204" pitchFamily="34" charset="0"/>
                  </a:rPr>
                  <a:t>假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4.2 </a:t>
            </a:r>
            <a:r>
              <a:rPr lang="zh-CN" altLang="en-US" smtClean="0"/>
              <a:t>程序的基本结构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6762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smtClean="0">
                <a:solidFill>
                  <a:schemeClr val="hlink"/>
                </a:solidFill>
              </a:rPr>
              <a:t>（</a:t>
            </a:r>
            <a:r>
              <a:rPr lang="en-US" altLang="zh-CN" b="1" smtClean="0">
                <a:solidFill>
                  <a:schemeClr val="hlink"/>
                </a:solidFill>
              </a:rPr>
              <a:t>3</a:t>
            </a:r>
            <a:r>
              <a:rPr lang="zh-CN" altLang="en-US" b="1" smtClean="0">
                <a:solidFill>
                  <a:schemeClr val="hlink"/>
                </a:solidFill>
              </a:rPr>
              <a:t>）循环结构：</a:t>
            </a:r>
          </a:p>
        </p:txBody>
      </p:sp>
      <p:grpSp>
        <p:nvGrpSpPr>
          <p:cNvPr id="9220" name="Group 80"/>
          <p:cNvGrpSpPr>
            <a:grpSpLocks/>
          </p:cNvGrpSpPr>
          <p:nvPr/>
        </p:nvGrpSpPr>
        <p:grpSpPr bwMode="auto">
          <a:xfrm>
            <a:off x="2993504" y="2565400"/>
            <a:ext cx="2514600" cy="3657600"/>
            <a:chOff x="144" y="1824"/>
            <a:chExt cx="1584" cy="2304"/>
          </a:xfrm>
        </p:grpSpPr>
        <p:grpSp>
          <p:nvGrpSpPr>
            <p:cNvPr id="9264" name="Group 81"/>
            <p:cNvGrpSpPr>
              <a:grpSpLocks/>
            </p:cNvGrpSpPr>
            <p:nvPr/>
          </p:nvGrpSpPr>
          <p:grpSpPr bwMode="auto">
            <a:xfrm>
              <a:off x="528" y="2304"/>
              <a:ext cx="153" cy="467"/>
              <a:chOff x="471" y="2256"/>
              <a:chExt cx="153" cy="467"/>
            </a:xfrm>
          </p:grpSpPr>
          <p:sp>
            <p:nvSpPr>
              <p:cNvPr id="9284" name="Line 82"/>
              <p:cNvSpPr>
                <a:spLocks noChangeShapeType="1"/>
              </p:cNvSpPr>
              <p:nvPr/>
            </p:nvSpPr>
            <p:spPr bwMode="auto">
              <a:xfrm flipH="1">
                <a:off x="480" y="225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5" name="Line 83"/>
              <p:cNvSpPr>
                <a:spLocks noChangeShapeType="1"/>
              </p:cNvSpPr>
              <p:nvPr/>
            </p:nvSpPr>
            <p:spPr bwMode="auto">
              <a:xfrm>
                <a:off x="471" y="2256"/>
                <a:ext cx="0" cy="4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65" name="Group 84"/>
            <p:cNvGrpSpPr>
              <a:grpSpLocks/>
            </p:cNvGrpSpPr>
            <p:nvPr/>
          </p:nvGrpSpPr>
          <p:grpSpPr bwMode="auto">
            <a:xfrm>
              <a:off x="144" y="1824"/>
              <a:ext cx="1584" cy="2304"/>
              <a:chOff x="96" y="1776"/>
              <a:chExt cx="1584" cy="2304"/>
            </a:xfrm>
          </p:grpSpPr>
          <p:sp>
            <p:nvSpPr>
              <p:cNvPr id="9266" name="Text Box 85"/>
              <p:cNvSpPr txBox="1">
                <a:spLocks noChangeArrowheads="1"/>
              </p:cNvSpPr>
              <p:nvPr/>
            </p:nvSpPr>
            <p:spPr bwMode="auto">
              <a:xfrm>
                <a:off x="576" y="3792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t" hangingPunct="1">
                  <a:spcBef>
                    <a:spcPct val="50000"/>
                  </a:spcBef>
                </a:pPr>
                <a:r>
                  <a:rPr kumimoji="1" lang="zh-CN" altLang="en-US" sz="2400">
                    <a:solidFill>
                      <a:schemeClr val="hlink"/>
                    </a:solidFill>
                    <a:latin typeface="Tahoma" panose="020B0604030504040204" pitchFamily="34" charset="0"/>
                    <a:ea typeface="幼圆" panose="02010509060101010101" pitchFamily="49" charset="-122"/>
                  </a:rPr>
                  <a:t>流程图</a:t>
                </a:r>
              </a:p>
            </p:txBody>
          </p:sp>
          <p:grpSp>
            <p:nvGrpSpPr>
              <p:cNvPr id="9267" name="Group 86"/>
              <p:cNvGrpSpPr>
                <a:grpSpLocks/>
              </p:cNvGrpSpPr>
              <p:nvPr/>
            </p:nvGrpSpPr>
            <p:grpSpPr bwMode="auto">
              <a:xfrm>
                <a:off x="96" y="1776"/>
                <a:ext cx="1584" cy="1824"/>
                <a:chOff x="96" y="1776"/>
                <a:chExt cx="1584" cy="1824"/>
              </a:xfrm>
            </p:grpSpPr>
            <p:grpSp>
              <p:nvGrpSpPr>
                <p:cNvPr id="9268" name="Group 87"/>
                <p:cNvGrpSpPr>
                  <a:grpSpLocks/>
                </p:cNvGrpSpPr>
                <p:nvPr/>
              </p:nvGrpSpPr>
              <p:grpSpPr bwMode="auto">
                <a:xfrm>
                  <a:off x="624" y="1776"/>
                  <a:ext cx="864" cy="672"/>
                  <a:chOff x="912" y="384"/>
                  <a:chExt cx="864" cy="672"/>
                </a:xfrm>
              </p:grpSpPr>
              <p:sp>
                <p:nvSpPr>
                  <p:cNvPr id="9282" name="Line 88"/>
                  <p:cNvSpPr>
                    <a:spLocks noChangeShapeType="1"/>
                  </p:cNvSpPr>
                  <p:nvPr/>
                </p:nvSpPr>
                <p:spPr bwMode="auto">
                  <a:xfrm>
                    <a:off x="1344" y="384"/>
                    <a:ext cx="0" cy="28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83" name="AutoShape 89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672"/>
                    <a:ext cx="864" cy="384"/>
                  </a:xfrm>
                  <a:prstGeom prst="diamond">
                    <a:avLst/>
                  </a:prstGeom>
                  <a:solidFill>
                    <a:srgbClr val="FF66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zh-CN" altLang="en-US" sz="2400" b="0">
                        <a:latin typeface="Times New Roman" panose="02020603050405020304" pitchFamily="18" charset="0"/>
                      </a:rPr>
                      <a:t>条件</a:t>
                    </a:r>
                  </a:p>
                </p:txBody>
              </p:sp>
            </p:grpSp>
            <p:sp>
              <p:nvSpPr>
                <p:cNvPr id="9269" name="Rectangle 90"/>
                <p:cNvSpPr>
                  <a:spLocks noChangeArrowheads="1"/>
                </p:cNvSpPr>
                <p:nvPr/>
              </p:nvSpPr>
              <p:spPr bwMode="auto">
                <a:xfrm>
                  <a:off x="240" y="2718"/>
                  <a:ext cx="528" cy="288"/>
                </a:xfrm>
                <a:prstGeom prst="rect">
                  <a:avLst/>
                </a:prstGeom>
                <a:solidFill>
                  <a:srgbClr val="FF66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zh-CN" altLang="en-US" sz="2400" b="0">
                      <a:latin typeface="Times New Roman" panose="02020603050405020304" pitchFamily="18" charset="0"/>
                    </a:rPr>
                    <a:t>块</a:t>
                  </a:r>
                </a:p>
              </p:txBody>
            </p:sp>
            <p:sp>
              <p:nvSpPr>
                <p:cNvPr id="9270" name="Rectangle 91"/>
                <p:cNvSpPr>
                  <a:spLocks noChangeArrowheads="1"/>
                </p:cNvSpPr>
                <p:nvPr/>
              </p:nvSpPr>
              <p:spPr bwMode="auto">
                <a:xfrm>
                  <a:off x="432" y="2064"/>
                  <a:ext cx="288" cy="1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zh-CN" altLang="en-US" sz="2000" b="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真</a:t>
                  </a:r>
                </a:p>
              </p:txBody>
            </p:sp>
            <p:sp>
              <p:nvSpPr>
                <p:cNvPr id="9271" name="Rectangle 92"/>
                <p:cNvSpPr>
                  <a:spLocks noChangeArrowheads="1"/>
                </p:cNvSpPr>
                <p:nvPr/>
              </p:nvSpPr>
              <p:spPr bwMode="auto">
                <a:xfrm>
                  <a:off x="1392" y="2064"/>
                  <a:ext cx="288" cy="1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Garamond" panose="020204040303010108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zh-CN" altLang="en-US" sz="2000" b="0">
                      <a:solidFill>
                        <a:schemeClr val="hlink"/>
                      </a:solidFill>
                      <a:latin typeface="Times New Roman" panose="02020603050405020304" pitchFamily="18" charset="0"/>
                    </a:rPr>
                    <a:t>假</a:t>
                  </a:r>
                </a:p>
              </p:txBody>
            </p:sp>
            <p:grpSp>
              <p:nvGrpSpPr>
                <p:cNvPr id="9272" name="Group 93"/>
                <p:cNvGrpSpPr>
                  <a:grpSpLocks/>
                </p:cNvGrpSpPr>
                <p:nvPr/>
              </p:nvGrpSpPr>
              <p:grpSpPr bwMode="auto">
                <a:xfrm>
                  <a:off x="96" y="1872"/>
                  <a:ext cx="960" cy="1347"/>
                  <a:chOff x="96" y="1872"/>
                  <a:chExt cx="960" cy="1347"/>
                </a:xfrm>
              </p:grpSpPr>
              <p:sp>
                <p:nvSpPr>
                  <p:cNvPr id="9278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480" y="3015"/>
                    <a:ext cx="0" cy="2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9" name="Line 9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9" y="3216"/>
                    <a:ext cx="38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80" name="Line 9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6" y="1872"/>
                    <a:ext cx="0" cy="133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81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96" y="1872"/>
                    <a:ext cx="96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273" name="Group 98"/>
                <p:cNvGrpSpPr>
                  <a:grpSpLocks/>
                </p:cNvGrpSpPr>
                <p:nvPr/>
              </p:nvGrpSpPr>
              <p:grpSpPr bwMode="auto">
                <a:xfrm>
                  <a:off x="1008" y="2256"/>
                  <a:ext cx="624" cy="1344"/>
                  <a:chOff x="1008" y="2256"/>
                  <a:chExt cx="624" cy="1344"/>
                </a:xfrm>
              </p:grpSpPr>
              <p:sp>
                <p:nvSpPr>
                  <p:cNvPr id="9274" name="Line 99"/>
                  <p:cNvSpPr>
                    <a:spLocks noChangeShapeType="1"/>
                  </p:cNvSpPr>
                  <p:nvPr/>
                </p:nvSpPr>
                <p:spPr bwMode="auto">
                  <a:xfrm>
                    <a:off x="1488" y="2256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5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1632" y="2256"/>
                    <a:ext cx="0" cy="96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6" name="Line 10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8" y="3216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7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3216"/>
                    <a:ext cx="0" cy="38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776288" y="307657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选择结构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2833688" y="1628775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单分支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35" name="AutoShape 23"/>
          <p:cNvSpPr>
            <a:spLocks/>
          </p:cNvSpPr>
          <p:nvPr/>
        </p:nvSpPr>
        <p:spPr bwMode="auto">
          <a:xfrm>
            <a:off x="2452688" y="1933575"/>
            <a:ext cx="381000" cy="2895600"/>
          </a:xfrm>
          <a:prstGeom prst="leftBrace">
            <a:avLst>
              <a:gd name="adj1" fmla="val 63333"/>
              <a:gd name="adj2" fmla="val 4895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6" name="AutoShape 24"/>
          <p:cNvSpPr>
            <a:spLocks/>
          </p:cNvSpPr>
          <p:nvPr/>
        </p:nvSpPr>
        <p:spPr bwMode="auto">
          <a:xfrm>
            <a:off x="3900488" y="3686175"/>
            <a:ext cx="304800" cy="2209800"/>
          </a:xfrm>
          <a:prstGeom prst="leftBrace">
            <a:avLst>
              <a:gd name="adj1" fmla="val 81563"/>
              <a:gd name="adj2" fmla="val 4784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7" name="Text Box 25"/>
          <p:cNvSpPr txBox="1">
            <a:spLocks noChangeArrowheads="1"/>
          </p:cNvSpPr>
          <p:nvPr/>
        </p:nvSpPr>
        <p:spPr bwMode="auto">
          <a:xfrm>
            <a:off x="2833688" y="2619375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双分支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4129088" y="1628775"/>
            <a:ext cx="2209800" cy="376238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if  (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)   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语句</a:t>
            </a:r>
          </a:p>
        </p:txBody>
      </p:sp>
      <p:sp>
        <p:nvSpPr>
          <p:cNvPr id="13339" name="Text Box 27"/>
          <p:cNvSpPr txBox="1">
            <a:spLocks noChangeArrowheads="1"/>
          </p:cNvSpPr>
          <p:nvPr/>
        </p:nvSpPr>
        <p:spPr bwMode="auto">
          <a:xfrm>
            <a:off x="2833688" y="4524375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多分支</a:t>
            </a:r>
            <a:endParaRPr kumimoji="1" lang="zh-CN" altLang="en-US" sz="24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40" name="Text Box 28"/>
          <p:cNvSpPr txBox="1">
            <a:spLocks noChangeArrowheads="1"/>
          </p:cNvSpPr>
          <p:nvPr/>
        </p:nvSpPr>
        <p:spPr bwMode="auto">
          <a:xfrm>
            <a:off x="4129088" y="2695575"/>
            <a:ext cx="4114800" cy="376238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if  (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)  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　语句１　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else   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语句２</a:t>
            </a:r>
          </a:p>
        </p:txBody>
      </p:sp>
      <p:sp>
        <p:nvSpPr>
          <p:cNvPr id="13341" name="Text Box 29"/>
          <p:cNvSpPr txBox="1">
            <a:spLocks noChangeArrowheads="1"/>
          </p:cNvSpPr>
          <p:nvPr/>
        </p:nvSpPr>
        <p:spPr bwMode="auto">
          <a:xfrm>
            <a:off x="4281488" y="3381375"/>
            <a:ext cx="3352800" cy="1200150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if  (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1)  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语句１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else  if  (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表达式２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)  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语句２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cs typeface="Tahoma" panose="020B0604030504040204" pitchFamily="34" charset="0"/>
              </a:rPr>
              <a:t>……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cs typeface="Tahoma" panose="020B0604030504040204" pitchFamily="34" charset="0"/>
              </a:rPr>
              <a:t>else  </a:t>
            </a:r>
            <a:r>
              <a:rPr kumimoji="1" lang="zh-CN" altLang="en-US">
                <a:latin typeface="Tahoma" panose="020B0604030504040204" pitchFamily="34" charset="0"/>
              </a:rPr>
              <a:t>语句</a:t>
            </a:r>
            <a:r>
              <a:rPr kumimoji="1" lang="en-US" altLang="zh-CN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4281488" y="4905375"/>
            <a:ext cx="3352800" cy="376238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if 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语句的嵌套</a:t>
            </a:r>
            <a:endParaRPr kumimoji="1" lang="zh-CN" altLang="en-US">
              <a:latin typeface="Tahoma" panose="020B0604030504040204" pitchFamily="34" charset="0"/>
            </a:endParaRPr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4281488" y="5667375"/>
            <a:ext cx="3352800" cy="376238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switch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语句</a:t>
            </a:r>
            <a:endParaRPr kumimoji="1"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484313"/>
            <a:ext cx="8362950" cy="5040312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SzTx/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b="1" smtClean="0"/>
              <a:t>条件语句（</a:t>
            </a:r>
            <a:r>
              <a:rPr lang="en-US" altLang="zh-CN" sz="2400" b="1" smtClean="0"/>
              <a:t>if</a:t>
            </a:r>
            <a:r>
              <a:rPr lang="zh-CN" altLang="en-US" sz="2400" b="1" smtClean="0"/>
              <a:t>语句）</a:t>
            </a:r>
          </a:p>
          <a:p>
            <a:pPr marL="609600" indent="-609600" eaLnBrk="1" hangingPunct="1">
              <a:lnSpc>
                <a:spcPct val="120000"/>
              </a:lnSpc>
              <a:buSzTx/>
              <a:buFont typeface="Wingdings" panose="05000000000000000000" pitchFamily="2" charset="2"/>
              <a:buAutoNum type="alphaLcParenR"/>
              <a:defRPr/>
            </a:pPr>
            <a:r>
              <a:rPr lang="zh-CN" altLang="en-US" sz="2400" b="1" smtClean="0"/>
              <a:t>最基本的</a:t>
            </a:r>
            <a:r>
              <a:rPr lang="en-US" altLang="zh-CN" sz="2400" b="1" smtClean="0"/>
              <a:t>if</a:t>
            </a:r>
            <a:r>
              <a:rPr lang="zh-CN" altLang="en-US" sz="2400" b="1" smtClean="0"/>
              <a:t>语句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800" b="1" smtClean="0"/>
              <a:t>    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smtClean="0"/>
              <a:t>     </a:t>
            </a:r>
            <a:r>
              <a:rPr lang="en-US" altLang="zh-CN" sz="2000" b="1" smtClean="0"/>
              <a:t>if(</a:t>
            </a:r>
            <a:r>
              <a:rPr lang="zh-CN" altLang="en-US" sz="2000" b="1" smtClean="0"/>
              <a:t>表达式</a:t>
            </a:r>
            <a:r>
              <a:rPr lang="en-US" altLang="zh-CN" sz="2000" b="1" smtClean="0"/>
              <a:t>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 </a:t>
            </a:r>
            <a:r>
              <a:rPr lang="zh-CN" altLang="en-US" sz="2000" b="1" smtClean="0"/>
              <a:t>语句</a:t>
            </a:r>
            <a:r>
              <a:rPr lang="en-US" altLang="zh-CN" sz="2000" b="1" smtClean="0"/>
              <a:t>;    //</a:t>
            </a:r>
            <a:r>
              <a:rPr lang="zh-CN" altLang="en-US" sz="2000" b="1" smtClean="0"/>
              <a:t>简单语句形式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800" b="1" smtClean="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smtClean="0"/>
              <a:t>      </a:t>
            </a:r>
            <a:r>
              <a:rPr lang="en-US" altLang="zh-CN" sz="2000" b="1" smtClean="0"/>
              <a:t>if(</a:t>
            </a:r>
            <a:r>
              <a:rPr lang="zh-CN" altLang="en-US" sz="2000" b="1" smtClean="0"/>
              <a:t>表达式</a:t>
            </a:r>
            <a:r>
              <a:rPr lang="en-US" altLang="zh-CN" sz="2000" b="1" smtClean="0"/>
              <a:t>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{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  </a:t>
            </a:r>
            <a:r>
              <a:rPr lang="zh-CN" altLang="en-US" sz="2000" b="1" smtClean="0"/>
              <a:t>语句</a:t>
            </a:r>
            <a:r>
              <a:rPr lang="en-US" altLang="zh-CN" sz="2000" b="1" smtClean="0"/>
              <a:t>;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  </a:t>
            </a:r>
            <a:r>
              <a:rPr lang="zh-CN" altLang="en-US" sz="2000" b="1" smtClean="0"/>
              <a:t>语句</a:t>
            </a:r>
            <a:r>
              <a:rPr lang="en-US" altLang="zh-CN" sz="2000" b="1" smtClean="0"/>
              <a:t>;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   </a:t>
            </a:r>
            <a:r>
              <a:rPr lang="en-US" altLang="zh-CN" sz="2000" b="1" smtClean="0">
                <a:latin typeface="Arial"/>
              </a:rPr>
              <a:t>…</a:t>
            </a:r>
            <a:r>
              <a:rPr lang="en-US" altLang="zh-CN" sz="2000" b="1" smtClean="0"/>
              <a:t> 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 }        //</a:t>
            </a:r>
            <a:r>
              <a:rPr lang="zh-CN" altLang="en-US" sz="2000" b="1" smtClean="0"/>
              <a:t>复合语句形式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800" b="1" smtClean="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smtClean="0">
                <a:solidFill>
                  <a:srgbClr val="FF0000"/>
                </a:solidFill>
              </a:rPr>
              <a:t>      </a:t>
            </a:r>
            <a:r>
              <a:rPr lang="zh-CN" altLang="en-US" sz="2000" b="1" smtClean="0">
                <a:solidFill>
                  <a:srgbClr val="FFFF66"/>
                </a:solidFill>
              </a:rPr>
              <a:t>功能：</a:t>
            </a:r>
            <a:r>
              <a:rPr lang="zh-CN" altLang="en-US" sz="2000" b="1" smtClean="0"/>
              <a:t>计算表达式，若为真（非０），执行语句，</a:t>
            </a:r>
            <a:r>
              <a:rPr lang="zh-CN" altLang="en-US" sz="2000" b="1" smtClean="0">
                <a:solidFill>
                  <a:srgbClr val="FFFF66"/>
                </a:solidFill>
              </a:rPr>
              <a:t>否则</a:t>
            </a:r>
            <a:r>
              <a:rPr lang="zh-CN" altLang="en-US" sz="2000" b="1" smtClean="0"/>
              <a:t>执行后续操作</a:t>
            </a:r>
          </a:p>
        </p:txBody>
      </p:sp>
      <p:sp>
        <p:nvSpPr>
          <p:cNvPr id="174084" name="Line 4"/>
          <p:cNvSpPr>
            <a:spLocks noChangeShapeType="1"/>
          </p:cNvSpPr>
          <p:nvPr/>
        </p:nvSpPr>
        <p:spPr bwMode="auto">
          <a:xfrm>
            <a:off x="6156325" y="16287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085" name="AutoShape 5"/>
          <p:cNvSpPr>
            <a:spLocks noChangeArrowheads="1"/>
          </p:cNvSpPr>
          <p:nvPr/>
        </p:nvSpPr>
        <p:spPr bwMode="auto">
          <a:xfrm>
            <a:off x="5364163" y="2276475"/>
            <a:ext cx="1584325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</a:p>
        </p:txBody>
      </p:sp>
      <p:sp>
        <p:nvSpPr>
          <p:cNvPr id="174086" name="AutoShape 6"/>
          <p:cNvSpPr>
            <a:spLocks noChangeArrowheads="1"/>
          </p:cNvSpPr>
          <p:nvPr/>
        </p:nvSpPr>
        <p:spPr bwMode="auto">
          <a:xfrm>
            <a:off x="5508625" y="3211513"/>
            <a:ext cx="1296988" cy="50482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内嵌语句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156325" y="3716338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156325" y="2708275"/>
            <a:ext cx="503238" cy="503238"/>
            <a:chOff x="3878" y="1706"/>
            <a:chExt cx="317" cy="317"/>
          </a:xfrm>
        </p:grpSpPr>
        <p:sp>
          <p:nvSpPr>
            <p:cNvPr id="11280" name="Line 9"/>
            <p:cNvSpPr>
              <a:spLocks noChangeShapeType="1"/>
            </p:cNvSpPr>
            <p:nvPr/>
          </p:nvSpPr>
          <p:spPr bwMode="auto">
            <a:xfrm>
              <a:off x="3878" y="1706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Text Box 10"/>
            <p:cNvSpPr txBox="1">
              <a:spLocks noChangeArrowheads="1"/>
            </p:cNvSpPr>
            <p:nvPr/>
          </p:nvSpPr>
          <p:spPr bwMode="auto">
            <a:xfrm>
              <a:off x="3980" y="1747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156325" y="2125663"/>
            <a:ext cx="1584325" cy="2095500"/>
            <a:chOff x="3878" y="1339"/>
            <a:chExt cx="998" cy="1320"/>
          </a:xfrm>
        </p:grpSpPr>
        <p:grpSp>
          <p:nvGrpSpPr>
            <p:cNvPr id="11275" name="Group 12"/>
            <p:cNvGrpSpPr>
              <a:grpSpLocks/>
            </p:cNvGrpSpPr>
            <p:nvPr/>
          </p:nvGrpSpPr>
          <p:grpSpPr bwMode="auto">
            <a:xfrm>
              <a:off x="3878" y="1570"/>
              <a:ext cx="998" cy="1089"/>
              <a:chOff x="3878" y="1570"/>
              <a:chExt cx="998" cy="1089"/>
            </a:xfrm>
          </p:grpSpPr>
          <p:sp>
            <p:nvSpPr>
              <p:cNvPr id="11277" name="Line 13"/>
              <p:cNvSpPr>
                <a:spLocks noChangeShapeType="1"/>
              </p:cNvSpPr>
              <p:nvPr/>
            </p:nvSpPr>
            <p:spPr bwMode="auto">
              <a:xfrm>
                <a:off x="4332" y="1570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" name="Line 14"/>
              <p:cNvSpPr>
                <a:spLocks noChangeShapeType="1"/>
              </p:cNvSpPr>
              <p:nvPr/>
            </p:nvSpPr>
            <p:spPr bwMode="auto">
              <a:xfrm>
                <a:off x="4876" y="1570"/>
                <a:ext cx="0" cy="10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9" name="Line 15"/>
              <p:cNvSpPr>
                <a:spLocks noChangeShapeType="1"/>
              </p:cNvSpPr>
              <p:nvPr/>
            </p:nvSpPr>
            <p:spPr bwMode="auto">
              <a:xfrm flipH="1">
                <a:off x="3878" y="2659"/>
                <a:ext cx="9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6" name="Text Box 16"/>
            <p:cNvSpPr txBox="1">
              <a:spLocks noChangeArrowheads="1"/>
            </p:cNvSpPr>
            <p:nvPr/>
          </p:nvSpPr>
          <p:spPr bwMode="auto">
            <a:xfrm>
              <a:off x="4434" y="1339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</p:grpSp>
      <p:sp>
        <p:nvSpPr>
          <p:cNvPr id="174097" name="AutoShape 17"/>
          <p:cNvSpPr>
            <a:spLocks noChangeArrowheads="1"/>
          </p:cNvSpPr>
          <p:nvPr/>
        </p:nvSpPr>
        <p:spPr bwMode="auto">
          <a:xfrm>
            <a:off x="3348038" y="6165850"/>
            <a:ext cx="2916237" cy="431800"/>
          </a:xfrm>
          <a:prstGeom prst="wedgeRoundRectCallout">
            <a:avLst>
              <a:gd name="adj1" fmla="val 72644"/>
              <a:gd name="adj2" fmla="val -11250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表达式计算的结果是０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362950" cy="511175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SzTx/>
              <a:buFont typeface="Wingdings" panose="05000000000000000000" pitchFamily="2" charset="2"/>
              <a:buAutoNum type="alphaLcParenR" startAt="2"/>
              <a:defRPr/>
            </a:pPr>
            <a:r>
              <a:rPr lang="en-US" altLang="zh-CN" sz="2400" b="1" smtClean="0"/>
              <a:t>if </a:t>
            </a:r>
            <a:r>
              <a:rPr lang="en-US" altLang="zh-CN" sz="2400" b="1" smtClean="0">
                <a:latin typeface="Arial"/>
              </a:rPr>
              <a:t>…</a:t>
            </a:r>
            <a:r>
              <a:rPr lang="en-US" altLang="zh-CN" sz="2400" b="1" smtClean="0"/>
              <a:t> else</a:t>
            </a:r>
            <a:r>
              <a:rPr lang="zh-CN" altLang="en-US" sz="2400" b="1" smtClean="0"/>
              <a:t>语句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smtClean="0"/>
              <a:t>    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2000" b="1" smtClean="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smtClean="0"/>
              <a:t>     </a:t>
            </a:r>
            <a:r>
              <a:rPr lang="en-US" altLang="zh-CN" sz="2000" b="1" smtClean="0"/>
              <a:t>if(</a:t>
            </a:r>
            <a:r>
              <a:rPr lang="zh-CN" altLang="en-US" sz="2000" b="1" smtClean="0"/>
              <a:t>表达式</a:t>
            </a:r>
            <a:r>
              <a:rPr lang="en-US" altLang="zh-CN" sz="2000" b="1" smtClean="0"/>
              <a:t>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 </a:t>
            </a:r>
            <a:r>
              <a:rPr lang="zh-CN" altLang="en-US" sz="2000" b="1" smtClean="0"/>
              <a:t>语句</a:t>
            </a:r>
            <a:r>
              <a:rPr lang="en-US" altLang="zh-CN" sz="2000" b="1" smtClean="0"/>
              <a:t>1;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else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smtClean="0"/>
              <a:t>        </a:t>
            </a:r>
            <a:r>
              <a:rPr lang="zh-CN" altLang="en-US" sz="2000" b="1" smtClean="0"/>
              <a:t>语句</a:t>
            </a:r>
            <a:r>
              <a:rPr lang="en-US" altLang="zh-CN" sz="2000" b="1" smtClean="0"/>
              <a:t>2;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smtClean="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smtClean="0"/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smtClean="0">
                <a:solidFill>
                  <a:srgbClr val="FFFF66"/>
                </a:solidFill>
              </a:rPr>
              <a:t>      </a:t>
            </a:r>
            <a:r>
              <a:rPr lang="zh-CN" altLang="en-US" sz="2000" b="1" smtClean="0">
                <a:solidFill>
                  <a:srgbClr val="FFFF66"/>
                </a:solidFill>
              </a:rPr>
              <a:t>注意：</a:t>
            </a:r>
            <a:r>
              <a:rPr lang="zh-CN" altLang="en-US" sz="2000" b="1" smtClean="0"/>
              <a:t>这里的语句，语句１，语句２可以是任何Ｃ／Ｃ＋＋的语句，如果使用了复合语句，一定要用花括号把它们括起来。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smtClean="0">
                <a:solidFill>
                  <a:srgbClr val="FF0000"/>
                </a:solidFill>
              </a:rPr>
              <a:t>      </a:t>
            </a:r>
            <a:r>
              <a:rPr lang="zh-CN" altLang="en-US" sz="2000" b="1" smtClean="0">
                <a:solidFill>
                  <a:srgbClr val="FFFF66"/>
                </a:solidFill>
              </a:rPr>
              <a:t>功能：</a:t>
            </a:r>
            <a:r>
              <a:rPr lang="zh-CN" altLang="en-US" sz="2000" b="1" smtClean="0"/>
              <a:t>计算表达式，若为真（非０），执行语句１，否则执行</a:t>
            </a:r>
            <a:r>
              <a:rPr lang="zh-CN" altLang="zh-CN" sz="2000" b="1" smtClean="0"/>
              <a:t>语句２</a:t>
            </a:r>
            <a:endParaRPr lang="zh-CN" altLang="en-US" sz="2000" b="1" smtClean="0"/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smtClean="0">
                <a:solidFill>
                  <a:srgbClr val="FF0000"/>
                </a:solidFill>
              </a:rPr>
              <a:t>      </a:t>
            </a:r>
            <a:r>
              <a:rPr lang="zh-CN" altLang="en-US" sz="2000" b="1" smtClean="0">
                <a:solidFill>
                  <a:srgbClr val="FFFF66"/>
                </a:solidFill>
              </a:rPr>
              <a:t>书写注意：</a:t>
            </a:r>
            <a:r>
              <a:rPr lang="zh-CN" altLang="en-US" sz="2000" b="1" smtClean="0"/>
              <a:t>为增加程序书写的美观和可读性， </a:t>
            </a:r>
            <a:r>
              <a:rPr lang="en-US" altLang="zh-CN" sz="2000" b="1" smtClean="0"/>
              <a:t>else</a:t>
            </a:r>
            <a:r>
              <a:rPr lang="zh-CN" altLang="en-US" sz="2000" b="1" smtClean="0"/>
              <a:t>同</a:t>
            </a:r>
            <a:r>
              <a:rPr lang="en-US" altLang="zh-CN" sz="2000" b="1" smtClean="0"/>
              <a:t>if </a:t>
            </a:r>
            <a:r>
              <a:rPr lang="zh-CN" altLang="en-US" sz="2000" b="1" smtClean="0"/>
              <a:t>一般不写在一行上，</a:t>
            </a:r>
            <a:r>
              <a:rPr lang="en-US" altLang="zh-CN" sz="2000" b="1" smtClean="0"/>
              <a:t>else </a:t>
            </a:r>
            <a:r>
              <a:rPr lang="zh-CN" altLang="zh-CN" sz="2000" b="1" smtClean="0"/>
              <a:t>在垂直方向上对齐</a:t>
            </a:r>
            <a:endParaRPr lang="zh-CN" altLang="en-US" sz="2000" b="1" smtClean="0"/>
          </a:p>
        </p:txBody>
      </p:sp>
      <p:sp>
        <p:nvSpPr>
          <p:cNvPr id="78852" name="Line 4"/>
          <p:cNvSpPr>
            <a:spLocks noChangeShapeType="1"/>
          </p:cNvSpPr>
          <p:nvPr/>
        </p:nvSpPr>
        <p:spPr bwMode="auto">
          <a:xfrm>
            <a:off x="6156325" y="16287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53" name="AutoShape 5"/>
          <p:cNvSpPr>
            <a:spLocks noChangeArrowheads="1"/>
          </p:cNvSpPr>
          <p:nvPr/>
        </p:nvSpPr>
        <p:spPr bwMode="auto">
          <a:xfrm>
            <a:off x="5364163" y="2276475"/>
            <a:ext cx="1584325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</a:p>
        </p:txBody>
      </p:sp>
      <p:sp>
        <p:nvSpPr>
          <p:cNvPr id="78854" name="AutoShape 6"/>
          <p:cNvSpPr>
            <a:spLocks noChangeArrowheads="1"/>
          </p:cNvSpPr>
          <p:nvPr/>
        </p:nvSpPr>
        <p:spPr bwMode="auto">
          <a:xfrm>
            <a:off x="3851275" y="2997200"/>
            <a:ext cx="1296988" cy="50482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语句</a:t>
            </a:r>
            <a:r>
              <a:rPr lang="en-US" altLang="zh-CN">
                <a:solidFill>
                  <a:srgbClr val="FFFF66"/>
                </a:solidFill>
              </a:rPr>
              <a:t>1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500563" y="2135188"/>
            <a:ext cx="863600" cy="862012"/>
            <a:chOff x="2835" y="1344"/>
            <a:chExt cx="544" cy="543"/>
          </a:xfrm>
        </p:grpSpPr>
        <p:sp>
          <p:nvSpPr>
            <p:cNvPr id="12306" name="Line 9"/>
            <p:cNvSpPr>
              <a:spLocks noChangeShapeType="1"/>
            </p:cNvSpPr>
            <p:nvPr/>
          </p:nvSpPr>
          <p:spPr bwMode="auto">
            <a:xfrm>
              <a:off x="2835" y="1570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Text Box 18"/>
            <p:cNvSpPr txBox="1">
              <a:spLocks noChangeArrowheads="1"/>
            </p:cNvSpPr>
            <p:nvPr/>
          </p:nvSpPr>
          <p:spPr bwMode="auto">
            <a:xfrm>
              <a:off x="2971" y="1344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  <p:sp>
          <p:nvSpPr>
            <p:cNvPr id="12308" name="Line 19"/>
            <p:cNvSpPr>
              <a:spLocks noChangeShapeType="1"/>
            </p:cNvSpPr>
            <p:nvPr/>
          </p:nvSpPr>
          <p:spPr bwMode="auto">
            <a:xfrm flipH="1">
              <a:off x="2835" y="157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877050" y="2125663"/>
            <a:ext cx="863600" cy="871537"/>
            <a:chOff x="4332" y="1339"/>
            <a:chExt cx="544" cy="549"/>
          </a:xfrm>
        </p:grpSpPr>
        <p:sp>
          <p:nvSpPr>
            <p:cNvPr id="12303" name="Line 13"/>
            <p:cNvSpPr>
              <a:spLocks noChangeShapeType="1"/>
            </p:cNvSpPr>
            <p:nvPr/>
          </p:nvSpPr>
          <p:spPr bwMode="auto">
            <a:xfrm>
              <a:off x="4332" y="157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4" name="Text Box 16"/>
            <p:cNvSpPr txBox="1">
              <a:spLocks noChangeArrowheads="1"/>
            </p:cNvSpPr>
            <p:nvPr/>
          </p:nvSpPr>
          <p:spPr bwMode="auto">
            <a:xfrm>
              <a:off x="4489" y="1339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  <p:sp>
          <p:nvSpPr>
            <p:cNvPr id="12305" name="Line 21"/>
            <p:cNvSpPr>
              <a:spLocks noChangeShapeType="1"/>
            </p:cNvSpPr>
            <p:nvPr/>
          </p:nvSpPr>
          <p:spPr bwMode="auto">
            <a:xfrm>
              <a:off x="4876" y="1570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870" name="AutoShape 22"/>
          <p:cNvSpPr>
            <a:spLocks noChangeArrowheads="1"/>
          </p:cNvSpPr>
          <p:nvPr/>
        </p:nvSpPr>
        <p:spPr bwMode="auto">
          <a:xfrm>
            <a:off x="7092950" y="2997200"/>
            <a:ext cx="1296988" cy="50482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语句</a:t>
            </a:r>
            <a:r>
              <a:rPr lang="en-US" altLang="zh-CN">
                <a:solidFill>
                  <a:srgbClr val="FFFF66"/>
                </a:solidFill>
              </a:rPr>
              <a:t>2</a:t>
            </a: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500563" y="3500438"/>
            <a:ext cx="3240087" cy="1008062"/>
            <a:chOff x="2835" y="2205"/>
            <a:chExt cx="2041" cy="635"/>
          </a:xfrm>
        </p:grpSpPr>
        <p:sp>
          <p:nvSpPr>
            <p:cNvPr id="12299" name="Line 7"/>
            <p:cNvSpPr>
              <a:spLocks noChangeShapeType="1"/>
            </p:cNvSpPr>
            <p:nvPr/>
          </p:nvSpPr>
          <p:spPr bwMode="auto">
            <a:xfrm>
              <a:off x="3878" y="2432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Line 24"/>
            <p:cNvSpPr>
              <a:spLocks noChangeShapeType="1"/>
            </p:cNvSpPr>
            <p:nvPr/>
          </p:nvSpPr>
          <p:spPr bwMode="auto">
            <a:xfrm>
              <a:off x="2835" y="220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" name="Line 25"/>
            <p:cNvSpPr>
              <a:spLocks noChangeShapeType="1"/>
            </p:cNvSpPr>
            <p:nvPr/>
          </p:nvSpPr>
          <p:spPr bwMode="auto">
            <a:xfrm>
              <a:off x="4876" y="220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" name="Line 26"/>
            <p:cNvSpPr>
              <a:spLocks noChangeShapeType="1"/>
            </p:cNvSpPr>
            <p:nvPr/>
          </p:nvSpPr>
          <p:spPr bwMode="auto">
            <a:xfrm>
              <a:off x="2835" y="2432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73100" y="1600200"/>
            <a:ext cx="3829050" cy="4349750"/>
          </a:xfrm>
        </p:spPr>
        <p:txBody>
          <a:bodyPr/>
          <a:lstStyle/>
          <a:p>
            <a:pPr marL="609600" indent="-609600" eaLnBrk="1" hangingPunct="1">
              <a:buSzTx/>
              <a:buFont typeface="Wingdings" panose="05000000000000000000" pitchFamily="2" charset="2"/>
              <a:buAutoNum type="alphaLcParenR" startAt="3"/>
            </a:pPr>
            <a:r>
              <a:rPr lang="en-US" altLang="zh-CN" sz="2400" b="1" smtClean="0">
                <a:effectLst/>
              </a:rPr>
              <a:t>if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 else if</a:t>
            </a:r>
            <a:r>
              <a:rPr lang="zh-CN" altLang="en-US" sz="2400" b="1" smtClean="0">
                <a:effectLst/>
              </a:rPr>
              <a:t>语句</a:t>
            </a:r>
          </a:p>
          <a:p>
            <a:pPr marL="609600" indent="-609600" eaLnBrk="1" hangingPunct="1">
              <a:buSzTx/>
              <a:buFont typeface="Wingdings" panose="05000000000000000000" pitchFamily="2" charset="2"/>
              <a:buAutoNum type="alphaLcParenR" startAt="3"/>
            </a:pPr>
            <a:endParaRPr lang="zh-CN" altLang="en-US" sz="900" b="1" smtClean="0">
              <a:effectLst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effectLst/>
              </a:rPr>
              <a:t>      </a:t>
            </a:r>
            <a:r>
              <a:rPr lang="en-US" altLang="zh-CN" sz="2400" b="1" smtClean="0">
                <a:effectLst/>
              </a:rPr>
              <a:t>if(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1)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</a:t>
            </a:r>
            <a:r>
              <a:rPr lang="zh-CN" altLang="en-US" sz="2400" b="1" smtClean="0">
                <a:effectLst/>
              </a:rPr>
              <a:t>语句</a:t>
            </a:r>
            <a:r>
              <a:rPr lang="en-US" altLang="zh-CN" sz="2400" b="1" smtClean="0">
                <a:effectLst/>
              </a:rPr>
              <a:t>1;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else if(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2)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  </a:t>
            </a:r>
            <a:r>
              <a:rPr lang="zh-CN" altLang="en-US" sz="2400" b="1" smtClean="0">
                <a:effectLst/>
              </a:rPr>
              <a:t>语句</a:t>
            </a:r>
            <a:r>
              <a:rPr lang="en-US" altLang="zh-CN" sz="2400" b="1" smtClean="0">
                <a:effectLst/>
              </a:rPr>
              <a:t>2;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else if(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3)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       </a:t>
            </a:r>
            <a:r>
              <a:rPr lang="zh-CN" altLang="en-US" sz="2400" b="1" smtClean="0">
                <a:effectLst/>
              </a:rPr>
              <a:t>语句</a:t>
            </a:r>
            <a:r>
              <a:rPr lang="en-US" altLang="zh-CN" sz="2400" b="1" smtClean="0">
                <a:effectLst/>
              </a:rPr>
              <a:t>3;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     else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       </a:t>
            </a:r>
            <a:r>
              <a:rPr lang="zh-CN" altLang="en-US" sz="2400" b="1" smtClean="0">
                <a:effectLst/>
              </a:rPr>
              <a:t>语句</a:t>
            </a:r>
            <a:r>
              <a:rPr lang="en-US" altLang="zh-CN" sz="2400" b="1" smtClean="0">
                <a:effectLst/>
              </a:rPr>
              <a:t>4;</a:t>
            </a:r>
          </a:p>
        </p:txBody>
      </p:sp>
      <p:sp>
        <p:nvSpPr>
          <p:cNvPr id="94229" name="Rectangle 21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00200"/>
            <a:ext cx="3740150" cy="384492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smtClean="0">
                <a:solidFill>
                  <a:srgbClr val="FFFF66"/>
                </a:solidFill>
                <a:effectLst/>
              </a:rPr>
              <a:t>注意缩排：</a:t>
            </a:r>
            <a:r>
              <a:rPr lang="zh-CN" altLang="en-US" sz="2400" b="1" smtClean="0">
                <a:effectLst/>
              </a:rPr>
              <a:t>语句相对于上一个语句退后若干个字符位置的书写方法。</a:t>
            </a: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smtClean="0">
                <a:effectLst/>
              </a:rPr>
              <a:t>缩排的目的就是为了使源程序的层次清晰明了，</a:t>
            </a:r>
            <a:r>
              <a:rPr lang="zh-CN" altLang="en-US" sz="2400" b="1" smtClean="0">
                <a:solidFill>
                  <a:srgbClr val="FFFF66"/>
                </a:solidFill>
                <a:effectLst/>
              </a:rPr>
              <a:t>增加源程序的可读性。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362950" cy="1584325"/>
          </a:xfrm>
        </p:spPr>
        <p:txBody>
          <a:bodyPr/>
          <a:lstStyle/>
          <a:p>
            <a:pPr marL="609600" indent="-609600">
              <a:spcBef>
                <a:spcPct val="0"/>
              </a:spcBef>
              <a:buSzTx/>
              <a:buFontTx/>
              <a:buAutoNum type="alphaLcParenR" startAt="4"/>
            </a:pPr>
            <a:r>
              <a:rPr lang="en-US" altLang="zh-CN" sz="2800" b="1" smtClean="0">
                <a:effectLst/>
              </a:rPr>
              <a:t>if </a:t>
            </a:r>
            <a:r>
              <a:rPr lang="zh-CN" altLang="en-US" sz="2800" b="1" smtClean="0">
                <a:effectLst/>
              </a:rPr>
              <a:t>语句的嵌套</a:t>
            </a:r>
          </a:p>
          <a:p>
            <a:pPr marL="990600" lvl="1" indent="-533400">
              <a:spcBef>
                <a:spcPct val="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b="1" smtClean="0">
                <a:effectLst/>
              </a:rPr>
              <a:t>当前面所述表达式又是</a:t>
            </a:r>
            <a:r>
              <a:rPr lang="en-US" altLang="zh-CN" sz="2400" b="1" smtClean="0">
                <a:effectLst/>
              </a:rPr>
              <a:t>if</a:t>
            </a:r>
            <a:r>
              <a:rPr lang="zh-CN" altLang="en-US" sz="2400" b="1" smtClean="0">
                <a:effectLst/>
              </a:rPr>
              <a:t>语句时，即</a:t>
            </a:r>
            <a:r>
              <a:rPr lang="en-US" altLang="zh-CN" sz="2400" b="1" smtClean="0">
                <a:effectLst/>
              </a:rPr>
              <a:t>if</a:t>
            </a:r>
            <a:r>
              <a:rPr lang="zh-CN" altLang="en-US" sz="2400" b="1" smtClean="0">
                <a:effectLst/>
              </a:rPr>
              <a:t>语句中又包含一个或多个</a:t>
            </a:r>
            <a:r>
              <a:rPr lang="en-US" altLang="zh-CN" sz="2400" b="1" smtClean="0">
                <a:effectLst/>
              </a:rPr>
              <a:t>if</a:t>
            </a:r>
            <a:r>
              <a:rPr lang="zh-CN" altLang="en-US" sz="2400" b="1" smtClean="0">
                <a:effectLst/>
              </a:rPr>
              <a:t>语句的情况称为</a:t>
            </a:r>
            <a:r>
              <a:rPr lang="en-US" altLang="zh-CN" sz="2400" b="1" smtClean="0">
                <a:effectLst/>
              </a:rPr>
              <a:t>if</a:t>
            </a:r>
            <a:r>
              <a:rPr lang="zh-CN" altLang="en-US" sz="2400" b="1" smtClean="0">
                <a:effectLst/>
              </a:rPr>
              <a:t>语句的嵌套。</a:t>
            </a:r>
          </a:p>
        </p:txBody>
      </p:sp>
      <p:sp>
        <p:nvSpPr>
          <p:cNvPr id="96260" name="Line 4"/>
          <p:cNvSpPr>
            <a:spLocks noChangeShapeType="1"/>
          </p:cNvSpPr>
          <p:nvPr/>
        </p:nvSpPr>
        <p:spPr bwMode="auto">
          <a:xfrm>
            <a:off x="6515100" y="3068638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1" name="AutoShape 5"/>
          <p:cNvSpPr>
            <a:spLocks noChangeArrowheads="1"/>
          </p:cNvSpPr>
          <p:nvPr/>
        </p:nvSpPr>
        <p:spPr bwMode="auto">
          <a:xfrm>
            <a:off x="5722938" y="3716338"/>
            <a:ext cx="1657350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  <a:r>
              <a:rPr lang="en-US" altLang="zh-CN">
                <a:solidFill>
                  <a:srgbClr val="FFFF66"/>
                </a:solidFill>
              </a:rPr>
              <a:t>1</a:t>
            </a:r>
          </a:p>
        </p:txBody>
      </p:sp>
      <p:sp>
        <p:nvSpPr>
          <p:cNvPr id="96262" name="AutoShape 6"/>
          <p:cNvSpPr>
            <a:spLocks noChangeArrowheads="1"/>
          </p:cNvSpPr>
          <p:nvPr/>
        </p:nvSpPr>
        <p:spPr bwMode="auto">
          <a:xfrm>
            <a:off x="3851275" y="4941888"/>
            <a:ext cx="720725" cy="35877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语句</a:t>
            </a:r>
            <a:r>
              <a:rPr lang="en-US" altLang="zh-CN">
                <a:solidFill>
                  <a:srgbClr val="FFFF66"/>
                </a:solidFill>
              </a:rPr>
              <a:t>1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5219700" y="3575050"/>
            <a:ext cx="504825" cy="717550"/>
            <a:chOff x="3288" y="2252"/>
            <a:chExt cx="318" cy="452"/>
          </a:xfrm>
        </p:grpSpPr>
        <p:sp>
          <p:nvSpPr>
            <p:cNvPr id="14382" name="Line 8"/>
            <p:cNvSpPr>
              <a:spLocks noChangeShapeType="1"/>
            </p:cNvSpPr>
            <p:nvPr/>
          </p:nvSpPr>
          <p:spPr bwMode="auto">
            <a:xfrm>
              <a:off x="3288" y="2478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3" name="Text Box 9"/>
            <p:cNvSpPr txBox="1">
              <a:spLocks noChangeArrowheads="1"/>
            </p:cNvSpPr>
            <p:nvPr/>
          </p:nvSpPr>
          <p:spPr bwMode="auto">
            <a:xfrm>
              <a:off x="3345" y="2252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  <p:sp>
          <p:nvSpPr>
            <p:cNvPr id="14384" name="Line 10"/>
            <p:cNvSpPr>
              <a:spLocks noChangeShapeType="1"/>
            </p:cNvSpPr>
            <p:nvPr/>
          </p:nvSpPr>
          <p:spPr bwMode="auto">
            <a:xfrm flipH="1">
              <a:off x="3288" y="2478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7235825" y="3565525"/>
            <a:ext cx="504825" cy="727075"/>
            <a:chOff x="4558" y="2246"/>
            <a:chExt cx="318" cy="458"/>
          </a:xfrm>
        </p:grpSpPr>
        <p:sp>
          <p:nvSpPr>
            <p:cNvPr id="14379" name="Line 12"/>
            <p:cNvSpPr>
              <a:spLocks noChangeShapeType="1"/>
            </p:cNvSpPr>
            <p:nvPr/>
          </p:nvSpPr>
          <p:spPr bwMode="auto">
            <a:xfrm>
              <a:off x="4558" y="2477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Text Box 13"/>
            <p:cNvSpPr txBox="1">
              <a:spLocks noChangeArrowheads="1"/>
            </p:cNvSpPr>
            <p:nvPr/>
          </p:nvSpPr>
          <p:spPr bwMode="auto">
            <a:xfrm>
              <a:off x="4604" y="2246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  <p:sp>
          <p:nvSpPr>
            <p:cNvPr id="14381" name="Line 14"/>
            <p:cNvSpPr>
              <a:spLocks noChangeShapeType="1"/>
            </p:cNvSpPr>
            <p:nvPr/>
          </p:nvSpPr>
          <p:spPr bwMode="auto">
            <a:xfrm>
              <a:off x="4876" y="2478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271" name="AutoShape 15"/>
          <p:cNvSpPr>
            <a:spLocks noChangeArrowheads="1"/>
          </p:cNvSpPr>
          <p:nvPr/>
        </p:nvSpPr>
        <p:spPr bwMode="auto">
          <a:xfrm>
            <a:off x="5651500" y="4941888"/>
            <a:ext cx="720725" cy="360362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语句</a:t>
            </a:r>
            <a:r>
              <a:rPr lang="en-US" altLang="zh-CN">
                <a:solidFill>
                  <a:srgbClr val="FFFF66"/>
                </a:solidFill>
              </a:rPr>
              <a:t>2</a:t>
            </a:r>
          </a:p>
        </p:txBody>
      </p:sp>
      <p:grpSp>
        <p:nvGrpSpPr>
          <p:cNvPr id="14346" name="Group 52"/>
          <p:cNvGrpSpPr>
            <a:grpSpLocks/>
          </p:cNvGrpSpPr>
          <p:nvPr/>
        </p:nvGrpSpPr>
        <p:grpSpPr bwMode="auto">
          <a:xfrm>
            <a:off x="954088" y="3008313"/>
            <a:ext cx="3113087" cy="3444875"/>
            <a:chOff x="385" y="1933"/>
            <a:chExt cx="1961" cy="2170"/>
          </a:xfrm>
        </p:grpSpPr>
        <p:sp>
          <p:nvSpPr>
            <p:cNvPr id="14374" name="Rectangle 22"/>
            <p:cNvSpPr>
              <a:spLocks noChangeArrowheads="1"/>
            </p:cNvSpPr>
            <p:nvPr/>
          </p:nvSpPr>
          <p:spPr bwMode="auto">
            <a:xfrm>
              <a:off x="385" y="1933"/>
              <a:ext cx="1270" cy="2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if(</a:t>
              </a:r>
              <a:r>
                <a:rPr lang="zh-CN" altLang="en-US" sz="2000">
                  <a:latin typeface="宋体" panose="02010600030101010101" pitchFamily="2" charset="-122"/>
                </a:rPr>
                <a:t>表达式</a:t>
              </a:r>
              <a:r>
                <a:rPr lang="en-US" altLang="zh-CN" sz="2000">
                  <a:latin typeface="宋体" panose="02010600030101010101" pitchFamily="2" charset="-122"/>
                </a:rPr>
                <a:t>1)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if(</a:t>
              </a:r>
              <a:r>
                <a:rPr lang="zh-CN" altLang="en-US" sz="2000">
                  <a:latin typeface="宋体" panose="02010600030101010101" pitchFamily="2" charset="-122"/>
                </a:rPr>
                <a:t>表达式</a:t>
              </a:r>
              <a:r>
                <a:rPr lang="en-US" altLang="zh-CN" sz="2000">
                  <a:latin typeface="宋体" panose="02010600030101010101" pitchFamily="2" charset="-122"/>
                </a:rPr>
                <a:t>2)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   </a:t>
              </a:r>
              <a:r>
                <a:rPr lang="zh-CN" altLang="en-US" sz="2000">
                  <a:latin typeface="宋体" panose="02010600030101010101" pitchFamily="2" charset="-122"/>
                </a:rPr>
                <a:t>语句</a:t>
              </a:r>
              <a:r>
                <a:rPr lang="en-US" altLang="zh-CN" sz="2000">
                  <a:latin typeface="宋体" panose="02010600030101010101" pitchFamily="2" charset="-122"/>
                </a:rPr>
                <a:t>1; 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else 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   </a:t>
              </a:r>
              <a:r>
                <a:rPr lang="zh-CN" altLang="en-US" sz="2000">
                  <a:latin typeface="宋体" panose="02010600030101010101" pitchFamily="2" charset="-122"/>
                </a:rPr>
                <a:t>语句</a:t>
              </a:r>
              <a:r>
                <a:rPr lang="en-US" altLang="zh-CN" sz="2000">
                  <a:latin typeface="宋体" panose="02010600030101010101" pitchFamily="2" charset="-122"/>
                </a:rPr>
                <a:t>2;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else 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 if(</a:t>
              </a:r>
              <a:r>
                <a:rPr lang="zh-CN" altLang="en-US" sz="2000">
                  <a:latin typeface="宋体" panose="02010600030101010101" pitchFamily="2" charset="-122"/>
                </a:rPr>
                <a:t>表达式</a:t>
              </a:r>
              <a:r>
                <a:rPr lang="en-US" altLang="zh-CN" sz="2000">
                  <a:latin typeface="宋体" panose="02010600030101010101" pitchFamily="2" charset="-122"/>
                </a:rPr>
                <a:t>3)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    </a:t>
              </a:r>
              <a:r>
                <a:rPr lang="zh-CN" altLang="en-US" sz="2000">
                  <a:latin typeface="宋体" panose="02010600030101010101" pitchFamily="2" charset="-122"/>
                </a:rPr>
                <a:t>语句</a:t>
              </a:r>
              <a:r>
                <a:rPr lang="en-US" altLang="zh-CN" sz="2000">
                  <a:latin typeface="宋体" panose="02010600030101010101" pitchFamily="2" charset="-122"/>
                </a:rPr>
                <a:t>3; 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 else 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    </a:t>
              </a:r>
              <a:r>
                <a:rPr lang="zh-CN" altLang="en-US" sz="2000">
                  <a:latin typeface="宋体" panose="02010600030101010101" pitchFamily="2" charset="-122"/>
                </a:rPr>
                <a:t>语句</a:t>
              </a:r>
              <a:r>
                <a:rPr lang="en-US" altLang="zh-CN" sz="2000">
                  <a:latin typeface="宋体" panose="02010600030101010101" pitchFamily="2" charset="-122"/>
                </a:rPr>
                <a:t>4;</a:t>
              </a:r>
            </a:p>
            <a:p>
              <a:pPr eaLnBrk="1" hangingPunct="1"/>
              <a:r>
                <a:rPr lang="en-US" altLang="zh-CN" sz="2000">
                  <a:latin typeface="宋体" panose="02010600030101010101" pitchFamily="2" charset="-122"/>
                </a:rPr>
                <a:t>              </a:t>
              </a:r>
            </a:p>
          </p:txBody>
        </p:sp>
        <p:sp>
          <p:nvSpPr>
            <p:cNvPr id="14375" name="AutoShape 23"/>
            <p:cNvSpPr>
              <a:spLocks/>
            </p:cNvSpPr>
            <p:nvPr/>
          </p:nvSpPr>
          <p:spPr bwMode="auto">
            <a:xfrm>
              <a:off x="1518" y="2238"/>
              <a:ext cx="144" cy="624"/>
            </a:xfrm>
            <a:prstGeom prst="righ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6" name="AutoShape 24"/>
            <p:cNvSpPr>
              <a:spLocks/>
            </p:cNvSpPr>
            <p:nvPr/>
          </p:nvSpPr>
          <p:spPr bwMode="auto">
            <a:xfrm>
              <a:off x="1518" y="3198"/>
              <a:ext cx="144" cy="624"/>
            </a:xfrm>
            <a:prstGeom prst="righ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7" name="Rectangle 25"/>
            <p:cNvSpPr>
              <a:spLocks noChangeArrowheads="1"/>
            </p:cNvSpPr>
            <p:nvPr/>
          </p:nvSpPr>
          <p:spPr bwMode="auto">
            <a:xfrm>
              <a:off x="1626" y="2418"/>
              <a:ext cx="7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宋体" panose="02010600030101010101" pitchFamily="2" charset="-122"/>
                </a:rPr>
                <a:t>内嵌</a:t>
              </a:r>
              <a:r>
                <a:rPr lang="en-US" altLang="zh-CN" sz="2000"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4378" name="Rectangle 26"/>
            <p:cNvSpPr>
              <a:spLocks noChangeArrowheads="1"/>
            </p:cNvSpPr>
            <p:nvPr/>
          </p:nvSpPr>
          <p:spPr bwMode="auto">
            <a:xfrm>
              <a:off x="1626" y="3380"/>
              <a:ext cx="7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宋体" panose="02010600030101010101" pitchFamily="2" charset="-122"/>
                </a:rPr>
                <a:t>内嵌</a:t>
              </a:r>
              <a:r>
                <a:rPr lang="en-US" altLang="zh-CN" sz="2000">
                  <a:latin typeface="宋体" panose="02010600030101010101" pitchFamily="2" charset="-122"/>
                </a:rPr>
                <a:t>if</a:t>
              </a:r>
            </a:p>
          </p:txBody>
        </p:sp>
      </p:grpSp>
      <p:sp>
        <p:nvSpPr>
          <p:cNvPr id="96283" name="AutoShape 27"/>
          <p:cNvSpPr>
            <a:spLocks noChangeArrowheads="1"/>
          </p:cNvSpPr>
          <p:nvPr/>
        </p:nvSpPr>
        <p:spPr bwMode="auto">
          <a:xfrm>
            <a:off x="4356100" y="4300538"/>
            <a:ext cx="1655763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  <a:r>
              <a:rPr lang="en-US" altLang="zh-CN">
                <a:solidFill>
                  <a:srgbClr val="FFFF66"/>
                </a:solidFill>
              </a:rPr>
              <a:t>2</a:t>
            </a:r>
          </a:p>
        </p:txBody>
      </p:sp>
      <p:sp>
        <p:nvSpPr>
          <p:cNvPr id="96284" name="AutoShape 28"/>
          <p:cNvSpPr>
            <a:spLocks noChangeArrowheads="1"/>
          </p:cNvSpPr>
          <p:nvPr/>
        </p:nvSpPr>
        <p:spPr bwMode="auto">
          <a:xfrm>
            <a:off x="6948488" y="4300538"/>
            <a:ext cx="1655762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  <a:r>
              <a:rPr lang="en-US" altLang="zh-CN">
                <a:solidFill>
                  <a:srgbClr val="FFFF66"/>
                </a:solidFill>
              </a:rPr>
              <a:t>3</a:t>
            </a:r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4159250" y="4214813"/>
            <a:ext cx="341313" cy="727075"/>
            <a:chOff x="2620" y="2655"/>
            <a:chExt cx="215" cy="458"/>
          </a:xfrm>
        </p:grpSpPr>
        <p:sp>
          <p:nvSpPr>
            <p:cNvPr id="14371" name="Line 29"/>
            <p:cNvSpPr>
              <a:spLocks noChangeShapeType="1"/>
            </p:cNvSpPr>
            <p:nvPr/>
          </p:nvSpPr>
          <p:spPr bwMode="auto">
            <a:xfrm>
              <a:off x="2653" y="2844"/>
              <a:ext cx="0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Text Box 30"/>
            <p:cNvSpPr txBox="1">
              <a:spLocks noChangeArrowheads="1"/>
            </p:cNvSpPr>
            <p:nvPr/>
          </p:nvSpPr>
          <p:spPr bwMode="auto">
            <a:xfrm>
              <a:off x="2620" y="2655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  <p:sp>
          <p:nvSpPr>
            <p:cNvPr id="14373" name="Line 31"/>
            <p:cNvSpPr>
              <a:spLocks noChangeShapeType="1"/>
            </p:cNvSpPr>
            <p:nvPr/>
          </p:nvSpPr>
          <p:spPr bwMode="auto">
            <a:xfrm flipH="1">
              <a:off x="2653" y="2844"/>
              <a:ext cx="18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659563" y="4227513"/>
            <a:ext cx="341312" cy="714375"/>
            <a:chOff x="4195" y="2663"/>
            <a:chExt cx="215" cy="450"/>
          </a:xfrm>
        </p:grpSpPr>
        <p:sp>
          <p:nvSpPr>
            <p:cNvPr id="14368" name="Line 32"/>
            <p:cNvSpPr>
              <a:spLocks noChangeShapeType="1"/>
            </p:cNvSpPr>
            <p:nvPr/>
          </p:nvSpPr>
          <p:spPr bwMode="auto">
            <a:xfrm>
              <a:off x="4241" y="2845"/>
              <a:ext cx="0" cy="2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9" name="Text Box 33"/>
            <p:cNvSpPr txBox="1">
              <a:spLocks noChangeArrowheads="1"/>
            </p:cNvSpPr>
            <p:nvPr/>
          </p:nvSpPr>
          <p:spPr bwMode="auto">
            <a:xfrm>
              <a:off x="4195" y="2663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  <p:sp>
          <p:nvSpPr>
            <p:cNvPr id="14370" name="Line 34"/>
            <p:cNvSpPr>
              <a:spLocks noChangeShapeType="1"/>
            </p:cNvSpPr>
            <p:nvPr/>
          </p:nvSpPr>
          <p:spPr bwMode="auto">
            <a:xfrm flipH="1">
              <a:off x="4241" y="284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291" name="AutoShape 35"/>
          <p:cNvSpPr>
            <a:spLocks noChangeArrowheads="1"/>
          </p:cNvSpPr>
          <p:nvPr/>
        </p:nvSpPr>
        <p:spPr bwMode="auto">
          <a:xfrm>
            <a:off x="6516688" y="4941888"/>
            <a:ext cx="792162" cy="360362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语句</a:t>
            </a:r>
            <a:r>
              <a:rPr lang="en-US" altLang="zh-CN">
                <a:solidFill>
                  <a:srgbClr val="FFFF66"/>
                </a:solidFill>
              </a:rPr>
              <a:t>3</a:t>
            </a:r>
          </a:p>
        </p:txBody>
      </p:sp>
      <p:sp>
        <p:nvSpPr>
          <p:cNvPr id="96292" name="AutoShape 36"/>
          <p:cNvSpPr>
            <a:spLocks noChangeArrowheads="1"/>
          </p:cNvSpPr>
          <p:nvPr/>
        </p:nvSpPr>
        <p:spPr bwMode="auto">
          <a:xfrm>
            <a:off x="8243888" y="4941888"/>
            <a:ext cx="757237" cy="360362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语句</a:t>
            </a:r>
            <a:r>
              <a:rPr lang="en-US" altLang="zh-CN">
                <a:solidFill>
                  <a:srgbClr val="FFFF66"/>
                </a:solidFill>
              </a:rPr>
              <a:t>4</a:t>
            </a:r>
          </a:p>
        </p:txBody>
      </p: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8459788" y="4221163"/>
            <a:ext cx="325437" cy="720725"/>
            <a:chOff x="5329" y="2659"/>
            <a:chExt cx="205" cy="454"/>
          </a:xfrm>
        </p:grpSpPr>
        <p:sp>
          <p:nvSpPr>
            <p:cNvPr id="14365" name="Line 37"/>
            <p:cNvSpPr>
              <a:spLocks noChangeShapeType="1"/>
            </p:cNvSpPr>
            <p:nvPr/>
          </p:nvSpPr>
          <p:spPr bwMode="auto">
            <a:xfrm>
              <a:off x="5374" y="2844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6" name="Text Box 38"/>
            <p:cNvSpPr txBox="1">
              <a:spLocks noChangeArrowheads="1"/>
            </p:cNvSpPr>
            <p:nvPr/>
          </p:nvSpPr>
          <p:spPr bwMode="auto">
            <a:xfrm>
              <a:off x="5329" y="2659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  <p:sp>
          <p:nvSpPr>
            <p:cNvPr id="14367" name="Line 39"/>
            <p:cNvSpPr>
              <a:spLocks noChangeShapeType="1"/>
            </p:cNvSpPr>
            <p:nvPr/>
          </p:nvSpPr>
          <p:spPr bwMode="auto">
            <a:xfrm>
              <a:off x="5465" y="2845"/>
              <a:ext cx="0" cy="2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5902325" y="4221163"/>
            <a:ext cx="325438" cy="720725"/>
            <a:chOff x="3718" y="2659"/>
            <a:chExt cx="205" cy="454"/>
          </a:xfrm>
        </p:grpSpPr>
        <p:sp>
          <p:nvSpPr>
            <p:cNvPr id="14362" name="Line 40"/>
            <p:cNvSpPr>
              <a:spLocks noChangeShapeType="1"/>
            </p:cNvSpPr>
            <p:nvPr/>
          </p:nvSpPr>
          <p:spPr bwMode="auto">
            <a:xfrm>
              <a:off x="3763" y="2844"/>
              <a:ext cx="9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Text Box 41"/>
            <p:cNvSpPr txBox="1">
              <a:spLocks noChangeArrowheads="1"/>
            </p:cNvSpPr>
            <p:nvPr/>
          </p:nvSpPr>
          <p:spPr bwMode="auto">
            <a:xfrm>
              <a:off x="3718" y="2659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  <p:sp>
          <p:nvSpPr>
            <p:cNvPr id="14364" name="Line 42"/>
            <p:cNvSpPr>
              <a:spLocks noChangeShapeType="1"/>
            </p:cNvSpPr>
            <p:nvPr/>
          </p:nvSpPr>
          <p:spPr bwMode="auto">
            <a:xfrm>
              <a:off x="3833" y="284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4211638" y="5302250"/>
            <a:ext cx="4464050" cy="1006475"/>
            <a:chOff x="2653" y="3113"/>
            <a:chExt cx="2812" cy="634"/>
          </a:xfrm>
        </p:grpSpPr>
        <p:sp>
          <p:nvSpPr>
            <p:cNvPr id="14356" name="Line 17"/>
            <p:cNvSpPr>
              <a:spLocks noChangeShapeType="1"/>
            </p:cNvSpPr>
            <p:nvPr/>
          </p:nvSpPr>
          <p:spPr bwMode="auto">
            <a:xfrm>
              <a:off x="4014" y="3339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7" name="Line 18"/>
            <p:cNvSpPr>
              <a:spLocks noChangeShapeType="1"/>
            </p:cNvSpPr>
            <p:nvPr/>
          </p:nvSpPr>
          <p:spPr bwMode="auto">
            <a:xfrm>
              <a:off x="2653" y="311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Line 19"/>
            <p:cNvSpPr>
              <a:spLocks noChangeShapeType="1"/>
            </p:cNvSpPr>
            <p:nvPr/>
          </p:nvSpPr>
          <p:spPr bwMode="auto">
            <a:xfrm>
              <a:off x="5465" y="311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Line 20"/>
            <p:cNvSpPr>
              <a:spLocks noChangeShapeType="1"/>
            </p:cNvSpPr>
            <p:nvPr/>
          </p:nvSpPr>
          <p:spPr bwMode="auto">
            <a:xfrm>
              <a:off x="2653" y="3339"/>
              <a:ext cx="28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Line 43"/>
            <p:cNvSpPr>
              <a:spLocks noChangeShapeType="1"/>
            </p:cNvSpPr>
            <p:nvPr/>
          </p:nvSpPr>
          <p:spPr bwMode="auto">
            <a:xfrm>
              <a:off x="3833" y="311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44"/>
            <p:cNvSpPr>
              <a:spLocks noChangeShapeType="1"/>
            </p:cNvSpPr>
            <p:nvPr/>
          </p:nvSpPr>
          <p:spPr bwMode="auto">
            <a:xfrm>
              <a:off x="4241" y="311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204913"/>
            <a:ext cx="8362950" cy="1439862"/>
          </a:xfrm>
        </p:spPr>
        <p:txBody>
          <a:bodyPr/>
          <a:lstStyle/>
          <a:p>
            <a:pPr marL="609600" indent="-609600" eaLnBrk="1" hangingPunct="1">
              <a:buClr>
                <a:srgbClr val="FF0000"/>
              </a:buClr>
            </a:pPr>
            <a:r>
              <a:rPr lang="zh-CN" altLang="en-US" sz="2400" b="1" smtClean="0">
                <a:solidFill>
                  <a:schemeClr val="hlink"/>
                </a:solidFill>
                <a:effectLst/>
              </a:rPr>
              <a:t>每个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if</a:t>
            </a:r>
            <a:r>
              <a:rPr lang="zh-CN" altLang="en-US" sz="2400" b="1" smtClean="0">
                <a:solidFill>
                  <a:schemeClr val="hlink"/>
                </a:solidFill>
                <a:effectLst/>
              </a:rPr>
              <a:t>可能与一个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else</a:t>
            </a:r>
            <a:r>
              <a:rPr lang="zh-CN" altLang="en-US" sz="2400" b="1" smtClean="0">
                <a:solidFill>
                  <a:schemeClr val="hlink"/>
                </a:solidFill>
                <a:effectLst/>
              </a:rPr>
              <a:t>相匹配，也可能不与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else</a:t>
            </a:r>
            <a:r>
              <a:rPr lang="zh-CN" altLang="en-US" sz="2400" b="1" smtClean="0">
                <a:solidFill>
                  <a:schemeClr val="hlink"/>
                </a:solidFill>
                <a:effectLst/>
              </a:rPr>
              <a:t>相匹配；但每一个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else</a:t>
            </a:r>
            <a:r>
              <a:rPr lang="zh-CN" altLang="en-US" sz="2400" b="1" smtClean="0">
                <a:solidFill>
                  <a:schemeClr val="hlink"/>
                </a:solidFill>
                <a:effectLst/>
              </a:rPr>
              <a:t>都必须与一个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if</a:t>
            </a:r>
            <a:r>
              <a:rPr lang="zh-CN" altLang="en-US" sz="2400" b="1" smtClean="0">
                <a:solidFill>
                  <a:schemeClr val="hlink"/>
                </a:solidFill>
                <a:effectLst/>
              </a:rPr>
              <a:t>相匹配。</a:t>
            </a:r>
          </a:p>
          <a:p>
            <a:pPr marL="609600" indent="-609600" eaLnBrk="1" hangingPunct="1">
              <a:buClr>
                <a:srgbClr val="FF0000"/>
              </a:buClr>
            </a:pPr>
            <a:r>
              <a:rPr lang="en-US" altLang="zh-CN" sz="2400" b="1" smtClean="0">
                <a:effectLst/>
              </a:rPr>
              <a:t>else</a:t>
            </a:r>
            <a:r>
              <a:rPr lang="zh-CN" altLang="en-US" sz="2400" b="1" smtClean="0">
                <a:effectLst/>
              </a:rPr>
              <a:t>与</a:t>
            </a:r>
            <a:r>
              <a:rPr lang="en-US" altLang="zh-CN" sz="2400" b="1" smtClean="0">
                <a:effectLst/>
              </a:rPr>
              <a:t>if</a:t>
            </a:r>
            <a:r>
              <a:rPr lang="zh-CN" altLang="en-US" sz="2400" b="1" smtClean="0">
                <a:effectLst/>
              </a:rPr>
              <a:t>的配对规则是：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else </a:t>
            </a:r>
            <a:r>
              <a:rPr lang="zh-CN" altLang="zh-CN" sz="2400" b="1" smtClean="0">
                <a:solidFill>
                  <a:schemeClr val="hlink"/>
                </a:solidFill>
                <a:effectLst/>
              </a:rPr>
              <a:t>同最近的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if </a:t>
            </a:r>
            <a:r>
              <a:rPr lang="zh-CN" altLang="en-US" sz="2400" b="1" smtClean="0">
                <a:solidFill>
                  <a:schemeClr val="hlink"/>
                </a:solidFill>
                <a:effectLst/>
              </a:rPr>
              <a:t>配对，除非用花括号表示出其它的选择。</a:t>
            </a:r>
          </a:p>
        </p:txBody>
      </p:sp>
      <p:sp>
        <p:nvSpPr>
          <p:cNvPr id="97298" name="Rectangle 18"/>
          <p:cNvSpPr>
            <a:spLocks noChangeArrowheads="1"/>
          </p:cNvSpPr>
          <p:nvPr/>
        </p:nvSpPr>
        <p:spPr bwMode="auto">
          <a:xfrm>
            <a:off x="1266825" y="4908550"/>
            <a:ext cx="2971800" cy="16160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宋体" panose="02010600030101010101" pitchFamily="2" charset="-122"/>
              </a:rPr>
              <a:t>B)    b=1;</a:t>
            </a:r>
          </a:p>
          <a:p>
            <a:pPr eaLnBrk="1" hangingPunct="1"/>
            <a:r>
              <a:rPr lang="en-US" altLang="zh-CN" sz="2000">
                <a:solidFill>
                  <a:srgbClr val="FF33CC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</a:rPr>
              <a:t>if (a&lt;=0)</a:t>
            </a:r>
          </a:p>
          <a:p>
            <a:pPr eaLnBrk="1" hangingPunct="1"/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</a:rPr>
              <a:t>         if(a= =0)</a:t>
            </a:r>
          </a:p>
          <a:p>
            <a:pPr eaLnBrk="1" hangingPunct="1"/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</a:rPr>
              <a:t>           b=0</a:t>
            </a: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；</a:t>
            </a:r>
          </a:p>
          <a:p>
            <a:pPr eaLnBrk="1" hangingPunct="1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</a:rPr>
              <a:t>else b=-1;</a:t>
            </a:r>
          </a:p>
        </p:txBody>
      </p:sp>
      <p:sp>
        <p:nvSpPr>
          <p:cNvPr id="97299" name="Rectangle 19"/>
          <p:cNvSpPr>
            <a:spLocks noChangeArrowheads="1"/>
          </p:cNvSpPr>
          <p:nvPr/>
        </p:nvSpPr>
        <p:spPr bwMode="auto">
          <a:xfrm>
            <a:off x="1190625" y="2851150"/>
            <a:ext cx="294957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宋体" panose="02010600030101010101" pitchFamily="2" charset="-122"/>
              </a:rPr>
              <a:t>例</a:t>
            </a:r>
          </a:p>
          <a:p>
            <a:pPr eaLnBrk="1" hangingPunct="1"/>
            <a:r>
              <a:rPr lang="en-US" altLang="zh-CN" sz="2000">
                <a:latin typeface="宋体" panose="02010600030101010101" pitchFamily="2" charset="-122"/>
              </a:rPr>
              <a:t>A)  b=1;</a:t>
            </a:r>
          </a:p>
          <a:p>
            <a:pPr eaLnBrk="1" hangingPunct="1"/>
            <a:r>
              <a:rPr lang="en-US" altLang="zh-CN" sz="2000">
                <a:latin typeface="宋体" panose="02010600030101010101" pitchFamily="2" charset="-122"/>
              </a:rPr>
              <a:t>    if (a&lt;=0)</a:t>
            </a:r>
          </a:p>
          <a:p>
            <a:pPr eaLnBrk="1" hangingPunct="1"/>
            <a:r>
              <a:rPr lang="en-US" altLang="zh-CN" sz="2000">
                <a:solidFill>
                  <a:schemeClr val="hlink"/>
                </a:solidFill>
                <a:latin typeface="宋体" panose="02010600030101010101" pitchFamily="2" charset="-122"/>
              </a:rPr>
              <a:t>       if(a= =0)          </a:t>
            </a:r>
          </a:p>
          <a:p>
            <a:pPr eaLnBrk="1" hangingPunct="1"/>
            <a:r>
              <a:rPr lang="en-US" altLang="zh-CN" sz="2000">
                <a:solidFill>
                  <a:schemeClr val="hlink"/>
                </a:solidFill>
                <a:latin typeface="宋体" panose="02010600030101010101" pitchFamily="2" charset="-122"/>
              </a:rPr>
              <a:t>         b=0</a:t>
            </a:r>
            <a:r>
              <a:rPr lang="zh-CN" altLang="en-US" sz="2000">
                <a:solidFill>
                  <a:schemeClr val="hlink"/>
                </a:solidFill>
                <a:latin typeface="宋体" panose="02010600030101010101" pitchFamily="2" charset="-122"/>
              </a:rPr>
              <a:t>；</a:t>
            </a:r>
          </a:p>
          <a:p>
            <a:pPr eaLnBrk="1" hangingPunct="1"/>
            <a:r>
              <a:rPr lang="zh-CN" altLang="en-US" sz="2000">
                <a:solidFill>
                  <a:schemeClr val="hlink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2000">
                <a:solidFill>
                  <a:schemeClr val="hlink"/>
                </a:solidFill>
                <a:latin typeface="宋体" panose="02010600030101010101" pitchFamily="2" charset="-122"/>
              </a:rPr>
              <a:t>else b=-1;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312988" y="5561013"/>
            <a:ext cx="1177925" cy="641350"/>
            <a:chOff x="1200" y="2400"/>
            <a:chExt cx="742" cy="404"/>
          </a:xfrm>
        </p:grpSpPr>
        <p:sp>
          <p:nvSpPr>
            <p:cNvPr id="15401" name="Text Box 21"/>
            <p:cNvSpPr txBox="1">
              <a:spLocks noChangeArrowheads="1"/>
            </p:cNvSpPr>
            <p:nvPr/>
          </p:nvSpPr>
          <p:spPr bwMode="auto">
            <a:xfrm>
              <a:off x="1200" y="2400"/>
              <a:ext cx="16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FF0000"/>
                  </a:solidFill>
                  <a:latin typeface="Times New Roman" panose="02020603050405020304" pitchFamily="18" charset="0"/>
                </a:rPr>
                <a:t>{</a:t>
              </a:r>
              <a:endParaRPr lang="en-US" altLang="zh-CN" sz="1600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402" name="Text Box 22"/>
            <p:cNvSpPr txBox="1">
              <a:spLocks noChangeArrowheads="1"/>
            </p:cNvSpPr>
            <p:nvPr/>
          </p:nvSpPr>
          <p:spPr bwMode="auto">
            <a:xfrm>
              <a:off x="1776" y="2592"/>
              <a:ext cx="16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FF0000"/>
                  </a:solidFill>
                  <a:latin typeface="Times New Roman" panose="02020603050405020304" pitchFamily="18" charset="0"/>
                </a:rPr>
                <a:t>}</a:t>
              </a:r>
              <a:endParaRPr lang="en-US" altLang="zh-CN" sz="1600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4656138" y="3179763"/>
            <a:ext cx="2281237" cy="1325562"/>
            <a:chOff x="2759" y="879"/>
            <a:chExt cx="1437" cy="835"/>
          </a:xfrm>
        </p:grpSpPr>
        <p:sp>
          <p:nvSpPr>
            <p:cNvPr id="15385" name="Rectangle 24"/>
            <p:cNvSpPr>
              <a:spLocks noChangeArrowheads="1"/>
            </p:cNvSpPr>
            <p:nvPr/>
          </p:nvSpPr>
          <p:spPr bwMode="auto">
            <a:xfrm>
              <a:off x="3786" y="1462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&lt;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6" name="Rectangle 25"/>
            <p:cNvSpPr>
              <a:spLocks noChangeArrowheads="1"/>
            </p:cNvSpPr>
            <p:nvPr/>
          </p:nvSpPr>
          <p:spPr bwMode="auto">
            <a:xfrm>
              <a:off x="3207" y="1462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-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7" name="Rectangle 26"/>
            <p:cNvSpPr>
              <a:spLocks noChangeArrowheads="1"/>
            </p:cNvSpPr>
            <p:nvPr/>
          </p:nvSpPr>
          <p:spPr bwMode="auto">
            <a:xfrm>
              <a:off x="3951" y="1171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=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8" name="Rectangle 27"/>
            <p:cNvSpPr>
              <a:spLocks noChangeArrowheads="1"/>
            </p:cNvSpPr>
            <p:nvPr/>
          </p:nvSpPr>
          <p:spPr bwMode="auto">
            <a:xfrm>
              <a:off x="3918" y="879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&gt;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9" name="Rectangle 28"/>
            <p:cNvSpPr>
              <a:spLocks noChangeArrowheads="1"/>
            </p:cNvSpPr>
            <p:nvPr/>
          </p:nvSpPr>
          <p:spPr bwMode="auto">
            <a:xfrm>
              <a:off x="2902" y="1171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=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90" name="Rectangle 29"/>
            <p:cNvSpPr>
              <a:spLocks noChangeArrowheads="1"/>
            </p:cNvSpPr>
            <p:nvPr/>
          </p:nvSpPr>
          <p:spPr bwMode="auto">
            <a:xfrm>
              <a:off x="3934" y="148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91" name="Rectangle 30"/>
            <p:cNvSpPr>
              <a:spLocks noChangeArrowheads="1"/>
            </p:cNvSpPr>
            <p:nvPr/>
          </p:nvSpPr>
          <p:spPr bwMode="auto">
            <a:xfrm>
              <a:off x="3269" y="148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92" name="Rectangle 31"/>
            <p:cNvSpPr>
              <a:spLocks noChangeArrowheads="1"/>
            </p:cNvSpPr>
            <p:nvPr/>
          </p:nvSpPr>
          <p:spPr bwMode="auto">
            <a:xfrm>
              <a:off x="4100" y="119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93" name="Rectangle 32"/>
            <p:cNvSpPr>
              <a:spLocks noChangeArrowheads="1"/>
            </p:cNvSpPr>
            <p:nvPr/>
          </p:nvSpPr>
          <p:spPr bwMode="auto">
            <a:xfrm>
              <a:off x="3216" y="119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94" name="Rectangle 33"/>
            <p:cNvSpPr>
              <a:spLocks noChangeArrowheads="1"/>
            </p:cNvSpPr>
            <p:nvPr/>
          </p:nvSpPr>
          <p:spPr bwMode="auto">
            <a:xfrm>
              <a:off x="4066" y="9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95" name="Rectangle 34"/>
            <p:cNvSpPr>
              <a:spLocks noChangeArrowheads="1"/>
            </p:cNvSpPr>
            <p:nvPr/>
          </p:nvSpPr>
          <p:spPr bwMode="auto">
            <a:xfrm>
              <a:off x="3216" y="9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96" name="Rectangle 35"/>
            <p:cNvSpPr>
              <a:spLocks noChangeArrowheads="1"/>
            </p:cNvSpPr>
            <p:nvPr/>
          </p:nvSpPr>
          <p:spPr bwMode="auto">
            <a:xfrm>
              <a:off x="3643" y="148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a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97" name="Rectangle 36"/>
            <p:cNvSpPr>
              <a:spLocks noChangeArrowheads="1"/>
            </p:cNvSpPr>
            <p:nvPr/>
          </p:nvSpPr>
          <p:spPr bwMode="auto">
            <a:xfrm>
              <a:off x="3806" y="119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a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98" name="Rectangle 37"/>
            <p:cNvSpPr>
              <a:spLocks noChangeArrowheads="1"/>
            </p:cNvSpPr>
            <p:nvPr/>
          </p:nvSpPr>
          <p:spPr bwMode="auto">
            <a:xfrm>
              <a:off x="3772" y="9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a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99" name="Rectangle 38"/>
            <p:cNvSpPr>
              <a:spLocks noChangeArrowheads="1"/>
            </p:cNvSpPr>
            <p:nvPr/>
          </p:nvSpPr>
          <p:spPr bwMode="auto">
            <a:xfrm>
              <a:off x="2759" y="119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b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400" name="AutoShape 39"/>
            <p:cNvSpPr>
              <a:spLocks/>
            </p:cNvSpPr>
            <p:nvPr/>
          </p:nvSpPr>
          <p:spPr bwMode="auto">
            <a:xfrm>
              <a:off x="3024" y="960"/>
              <a:ext cx="144" cy="672"/>
            </a:xfrm>
            <a:prstGeom prst="leftBrace">
              <a:avLst>
                <a:gd name="adj1" fmla="val 3888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4695825" y="5008563"/>
            <a:ext cx="2540000" cy="1306512"/>
            <a:chOff x="2928" y="2789"/>
            <a:chExt cx="1600" cy="823"/>
          </a:xfrm>
        </p:grpSpPr>
        <p:sp>
          <p:nvSpPr>
            <p:cNvPr id="15369" name="Rectangle 41"/>
            <p:cNvSpPr>
              <a:spLocks noChangeArrowheads="1"/>
            </p:cNvSpPr>
            <p:nvPr/>
          </p:nvSpPr>
          <p:spPr bwMode="auto">
            <a:xfrm>
              <a:off x="4250" y="3360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&lt;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70" name="Rectangle 42"/>
            <p:cNvSpPr>
              <a:spLocks noChangeArrowheads="1"/>
            </p:cNvSpPr>
            <p:nvPr/>
          </p:nvSpPr>
          <p:spPr bwMode="auto">
            <a:xfrm>
              <a:off x="4286" y="3075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=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71" name="Rectangle 43"/>
            <p:cNvSpPr>
              <a:spLocks noChangeArrowheads="1"/>
            </p:cNvSpPr>
            <p:nvPr/>
          </p:nvSpPr>
          <p:spPr bwMode="auto">
            <a:xfrm>
              <a:off x="4127" y="2789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&gt;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72" name="Rectangle 44"/>
            <p:cNvSpPr>
              <a:spLocks noChangeArrowheads="1"/>
            </p:cNvSpPr>
            <p:nvPr/>
          </p:nvSpPr>
          <p:spPr bwMode="auto">
            <a:xfrm>
              <a:off x="3382" y="2789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-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73" name="Rectangle 45"/>
            <p:cNvSpPr>
              <a:spLocks noChangeArrowheads="1"/>
            </p:cNvSpPr>
            <p:nvPr/>
          </p:nvSpPr>
          <p:spPr bwMode="auto">
            <a:xfrm>
              <a:off x="3072" y="3075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Symbol" panose="05050102010706020507" pitchFamily="18" charset="2"/>
                </a:rPr>
                <a:t>=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74" name="Rectangle 46"/>
            <p:cNvSpPr>
              <a:spLocks noChangeArrowheads="1"/>
            </p:cNvSpPr>
            <p:nvPr/>
          </p:nvSpPr>
          <p:spPr bwMode="auto">
            <a:xfrm>
              <a:off x="4396" y="338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5" name="Rectangle 47"/>
            <p:cNvSpPr>
              <a:spLocks noChangeArrowheads="1"/>
            </p:cNvSpPr>
            <p:nvPr/>
          </p:nvSpPr>
          <p:spPr bwMode="auto">
            <a:xfrm>
              <a:off x="3361" y="338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76" name="Rectangle 48"/>
            <p:cNvSpPr>
              <a:spLocks noChangeArrowheads="1"/>
            </p:cNvSpPr>
            <p:nvPr/>
          </p:nvSpPr>
          <p:spPr bwMode="auto">
            <a:xfrm>
              <a:off x="4432" y="309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7" name="Rectangle 49"/>
            <p:cNvSpPr>
              <a:spLocks noChangeArrowheads="1"/>
            </p:cNvSpPr>
            <p:nvPr/>
          </p:nvSpPr>
          <p:spPr bwMode="auto">
            <a:xfrm>
              <a:off x="3379" y="309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8" name="Rectangle 50"/>
            <p:cNvSpPr>
              <a:spLocks noChangeArrowheads="1"/>
            </p:cNvSpPr>
            <p:nvPr/>
          </p:nvSpPr>
          <p:spPr bwMode="auto">
            <a:xfrm>
              <a:off x="4273" y="281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9" name="Rectangle 51"/>
            <p:cNvSpPr>
              <a:spLocks noChangeArrowheads="1"/>
            </p:cNvSpPr>
            <p:nvPr/>
          </p:nvSpPr>
          <p:spPr bwMode="auto">
            <a:xfrm>
              <a:off x="3498" y="281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80" name="Rectangle 52"/>
            <p:cNvSpPr>
              <a:spLocks noChangeArrowheads="1"/>
            </p:cNvSpPr>
            <p:nvPr/>
          </p:nvSpPr>
          <p:spPr bwMode="auto">
            <a:xfrm>
              <a:off x="4111" y="338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a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1" name="Rectangle 53"/>
            <p:cNvSpPr>
              <a:spLocks noChangeArrowheads="1"/>
            </p:cNvSpPr>
            <p:nvPr/>
          </p:nvSpPr>
          <p:spPr bwMode="auto">
            <a:xfrm>
              <a:off x="4143" y="309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a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2" name="Rectangle 54"/>
            <p:cNvSpPr>
              <a:spLocks noChangeArrowheads="1"/>
            </p:cNvSpPr>
            <p:nvPr/>
          </p:nvSpPr>
          <p:spPr bwMode="auto">
            <a:xfrm>
              <a:off x="3984" y="281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a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3" name="Rectangle 55"/>
            <p:cNvSpPr>
              <a:spLocks noChangeArrowheads="1"/>
            </p:cNvSpPr>
            <p:nvPr/>
          </p:nvSpPr>
          <p:spPr bwMode="auto">
            <a:xfrm>
              <a:off x="2928" y="309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0" i="1">
                  <a:latin typeface="Times New Roman" panose="02020603050405020304" pitchFamily="18" charset="0"/>
                </a:rPr>
                <a:t>b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5384" name="AutoShape 56"/>
            <p:cNvSpPr>
              <a:spLocks/>
            </p:cNvSpPr>
            <p:nvPr/>
          </p:nvSpPr>
          <p:spPr bwMode="auto">
            <a:xfrm>
              <a:off x="3216" y="2928"/>
              <a:ext cx="144" cy="576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8" grpId="0" animBg="1" autoUpdateAnimBg="0"/>
      <p:bldP spid="9729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Text Box 47">
            <a:extLst>
              <a:ext uri="{FF2B5EF4-FFF2-40B4-BE49-F238E27FC236}">
                <a16:creationId xmlns="" xmlns:a16="http://schemas.microsoft.com/office/drawing/2014/main" id="{43D83B54-EBBD-574E-86AB-D98B2611D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57410"/>
            <a:ext cx="6583517" cy="954107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已知</a:t>
            </a:r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a=3  b=4  c=5  d=0,</a:t>
            </a:r>
            <a:r>
              <a:rPr kumimoji="1" lang="zh-CN" altLang="en-US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执行以下语句后，</a:t>
            </a:r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800" dirty="0">
                <a:solidFill>
                  <a:schemeClr val="hlink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d</a:t>
            </a:r>
            <a:r>
              <a:rPr kumimoji="1" lang="zh-CN" altLang="en-US" sz="2800" dirty="0">
                <a:solidFill>
                  <a:schemeClr val="hlink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的值为？</a:t>
            </a:r>
            <a:endParaRPr kumimoji="1" lang="en-US" altLang="zh-CN" sz="2800" dirty="0">
              <a:solidFill>
                <a:schemeClr val="hlink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  <p:sp>
        <p:nvSpPr>
          <p:cNvPr id="22" name="Text Box 51">
            <a:extLst>
              <a:ext uri="{FF2B5EF4-FFF2-40B4-BE49-F238E27FC236}">
                <a16:creationId xmlns="" xmlns:a16="http://schemas.microsoft.com/office/drawing/2014/main" id="{325B8C87-A1CC-2D40-BCB0-501E66EE2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068" y="3364706"/>
            <a:ext cx="3941480" cy="1384995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if(a&gt;b)</a:t>
            </a:r>
            <a:r>
              <a:rPr kumimoji="1" lang="zh-CN" altLang="en-US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　</a:t>
            </a:r>
          </a:p>
          <a:p>
            <a:pPr eaLnBrk="1" hangingPunct="1"/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if(c&gt;b) d=c;</a:t>
            </a:r>
          </a:p>
          <a:p>
            <a:pPr eaLnBrk="1" hangingPunct="1"/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else   d=b</a:t>
            </a:r>
            <a:r>
              <a:rPr kumimoji="1" lang="en-US" altLang="zh-CN" sz="2800" dirty="0" smtClean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;</a:t>
            </a:r>
            <a:endParaRPr kumimoji="1" lang="en-US" altLang="zh-CN" sz="2800" dirty="0"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15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Text Box 47">
            <a:extLst>
              <a:ext uri="{FF2B5EF4-FFF2-40B4-BE49-F238E27FC236}">
                <a16:creationId xmlns="" xmlns:a16="http://schemas.microsoft.com/office/drawing/2014/main" id="{43D83B54-EBBD-574E-86AB-D98B2611D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57410"/>
            <a:ext cx="6583517" cy="954107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已知</a:t>
            </a:r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a=3  b=4  c=5  d=0,</a:t>
            </a:r>
            <a:r>
              <a:rPr kumimoji="1" lang="zh-CN" altLang="en-US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执行以下语句后，</a:t>
            </a:r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800" dirty="0">
                <a:solidFill>
                  <a:schemeClr val="hlink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d</a:t>
            </a:r>
            <a:r>
              <a:rPr kumimoji="1" lang="zh-CN" altLang="en-US" sz="2800" dirty="0">
                <a:solidFill>
                  <a:schemeClr val="hlink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的值为？</a:t>
            </a:r>
            <a:endParaRPr kumimoji="1" lang="en-US" altLang="zh-CN" sz="2800" dirty="0">
              <a:solidFill>
                <a:schemeClr val="hlink"/>
              </a:solidFill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  <p:sp>
        <p:nvSpPr>
          <p:cNvPr id="22" name="Text Box 51">
            <a:extLst>
              <a:ext uri="{FF2B5EF4-FFF2-40B4-BE49-F238E27FC236}">
                <a16:creationId xmlns="" xmlns:a16="http://schemas.microsoft.com/office/drawing/2014/main" id="{325B8C87-A1CC-2D40-BCB0-501E66EE2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066" y="3272283"/>
            <a:ext cx="3941480" cy="1384995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if(a&gt;b)</a:t>
            </a:r>
            <a:r>
              <a:rPr kumimoji="1" lang="zh-CN" altLang="en-US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　</a:t>
            </a:r>
          </a:p>
          <a:p>
            <a:pPr eaLnBrk="1" hangingPunct="1"/>
            <a:r>
              <a:rPr kumimoji="1" lang="en-US" altLang="zh-CN" sz="2800" dirty="0" smtClean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{if(c&gt;b</a:t>
            </a:r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) d=c</a:t>
            </a:r>
            <a:r>
              <a:rPr kumimoji="1" lang="en-US" altLang="zh-CN" sz="2800" dirty="0" smtClean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;}</a:t>
            </a:r>
            <a:endParaRPr kumimoji="1" lang="en-US" altLang="zh-CN" sz="2800" dirty="0"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  <a:p>
            <a:pPr eaLnBrk="1" hangingPunct="1"/>
            <a:r>
              <a:rPr kumimoji="1" lang="en-US" altLang="zh-CN" sz="2800" dirty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else   d=b</a:t>
            </a:r>
            <a:r>
              <a:rPr kumimoji="1" lang="en-US" altLang="zh-CN" sz="2800" dirty="0" smtClean="0"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;</a:t>
            </a:r>
            <a:endParaRPr kumimoji="1" lang="en-US" altLang="zh-CN" sz="2800" dirty="0">
              <a:latin typeface="Courier New" panose="02070309020205020404" pitchFamily="49" charset="0"/>
              <a:ea typeface="楷体_GB2312" pitchFamily="49" charset="-122"/>
              <a:cs typeface="Courier New" panose="02070309020205020404" pitchFamily="49" charset="0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314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114183" y="1814442"/>
            <a:ext cx="4278114" cy="392523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有下面语句，变量</a:t>
            </a:r>
            <a:r>
              <a:rPr lang="en-US" altLang="zh-CN" sz="2800" dirty="0"/>
              <a:t>a </a:t>
            </a:r>
            <a:r>
              <a:rPr lang="zh-CN" altLang="en-US" sz="2800" dirty="0"/>
              <a:t>的值为</a:t>
            </a:r>
            <a:r>
              <a:rPr lang="en-US" altLang="zh-CN" sz="2800" dirty="0"/>
              <a:t>____</a:t>
            </a:r>
            <a:r>
              <a:rPr lang="zh-CN" altLang="en-US" sz="2800" dirty="0"/>
              <a:t>。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a = 4;</a:t>
            </a:r>
          </a:p>
          <a:p>
            <a:r>
              <a:rPr lang="en-US" altLang="zh-CN" sz="2800" dirty="0"/>
              <a:t>if (a % 2)</a:t>
            </a:r>
          </a:p>
          <a:p>
            <a:r>
              <a:rPr lang="en-US" altLang="zh-CN" sz="2800" dirty="0" smtClean="0"/>
              <a:t>    a-</a:t>
            </a:r>
            <a:r>
              <a:rPr lang="en-US" altLang="zh-CN" sz="2800" dirty="0"/>
              <a:t>=2; --a;</a:t>
            </a:r>
          </a:p>
          <a:p>
            <a:r>
              <a:rPr lang="en-US" altLang="zh-CN" sz="2800" dirty="0"/>
              <a:t>else</a:t>
            </a:r>
          </a:p>
          <a:p>
            <a:r>
              <a:rPr lang="en-US" altLang="zh-CN" sz="2800" dirty="0" smtClean="0"/>
              <a:t>    ++</a:t>
            </a:r>
            <a:r>
              <a:rPr lang="en-US" altLang="zh-CN" sz="2800" dirty="0"/>
              <a:t>a;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259632" y="227687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259632" y="313412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59632" y="399137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259632" y="484862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编译错误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545257" y="23411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45257" y="31984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45257" y="40556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45257" y="491291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594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114183" y="1814442"/>
            <a:ext cx="4278114" cy="392523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有下面语句，变量</a:t>
            </a:r>
            <a:r>
              <a:rPr lang="en-US" altLang="zh-CN" sz="2800" dirty="0"/>
              <a:t>a </a:t>
            </a:r>
            <a:r>
              <a:rPr lang="zh-CN" altLang="en-US" sz="2800" dirty="0"/>
              <a:t>的值为</a:t>
            </a:r>
            <a:r>
              <a:rPr lang="en-US" altLang="zh-CN" sz="2800" dirty="0"/>
              <a:t>____</a:t>
            </a:r>
            <a:r>
              <a:rPr lang="zh-CN" altLang="en-US" sz="2800" dirty="0"/>
              <a:t>。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a = 4;</a:t>
            </a:r>
          </a:p>
          <a:p>
            <a:r>
              <a:rPr lang="en-US" altLang="zh-CN" sz="2800" dirty="0"/>
              <a:t>if (a % </a:t>
            </a:r>
            <a:r>
              <a:rPr lang="en-US" altLang="zh-CN" sz="2800" dirty="0" smtClean="0"/>
              <a:t>2==0)</a:t>
            </a:r>
            <a:endParaRPr lang="en-US" altLang="zh-CN" sz="2800" dirty="0"/>
          </a:p>
          <a:p>
            <a:r>
              <a:rPr lang="en-US" altLang="zh-CN" sz="2800" dirty="0" smtClean="0"/>
              <a:t>    a-</a:t>
            </a:r>
            <a:r>
              <a:rPr lang="en-US" altLang="zh-CN" sz="2800" dirty="0"/>
              <a:t>=2; </a:t>
            </a:r>
          </a:p>
          <a:p>
            <a:r>
              <a:rPr lang="en-US" altLang="zh-CN" sz="2800" dirty="0"/>
              <a:t>else</a:t>
            </a:r>
          </a:p>
          <a:p>
            <a:r>
              <a:rPr lang="en-US" altLang="zh-CN" sz="2800" dirty="0" smtClean="0"/>
              <a:t>    ++</a:t>
            </a:r>
            <a:r>
              <a:rPr lang="en-US" altLang="zh-CN" sz="2800" dirty="0"/>
              <a:t>a</a:t>
            </a:r>
            <a:r>
              <a:rPr lang="en-US" altLang="zh-CN" sz="2800" dirty="0" smtClean="0"/>
              <a:t>;</a:t>
            </a:r>
            <a:endParaRPr lang="en-US" altLang="zh-CN" sz="2800" dirty="0"/>
          </a:p>
          <a:p>
            <a:r>
              <a:rPr lang="en-US" altLang="zh-CN" sz="28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</a:t>
            </a:r>
            <a:r>
              <a:rPr lang="en-US" altLang="zh-CN" sz="2800" dirty="0" smtClean="0"/>
              <a:t>++</a:t>
            </a:r>
            <a:r>
              <a:rPr lang="en-US" altLang="zh-CN" sz="2800" dirty="0"/>
              <a:t>a;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259632" y="227687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259632" y="313412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59632" y="399137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259632" y="484862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编译错误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545257" y="23411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45257" y="319841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45257" y="40556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45257" y="49129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161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55576" y="155920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编程实现</a:t>
            </a:r>
            <a:r>
              <a:rPr lang="en-US" altLang="zh-CN" sz="2800" dirty="0" err="1"/>
              <a:t>ax+b</a:t>
            </a:r>
            <a:r>
              <a:rPr lang="en-US" altLang="zh-CN" sz="2800" dirty="0"/>
              <a:t>=0</a:t>
            </a:r>
            <a:r>
              <a:rPr lang="zh-CN" altLang="en-US" sz="2800" dirty="0"/>
              <a:t>的求解。从键盘依次输入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的值，计算并输出方程</a:t>
            </a:r>
            <a:r>
              <a:rPr lang="en-US" altLang="zh-CN" sz="2800" dirty="0"/>
              <a:t>x</a:t>
            </a:r>
            <a:r>
              <a:rPr lang="zh-CN" altLang="en-US" sz="2800" dirty="0"/>
              <a:t>的解。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02741" y="378904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完成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02741" y="464629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未完成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088366" y="385333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088366" y="471058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04501" y="800384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r>
              <a:rPr lang="zh-CN" altLang="en-US" kern="0" smtClean="0"/>
              <a:t>编程练习</a:t>
            </a:r>
            <a:r>
              <a:rPr lang="en-US" altLang="zh-CN" kern="0" smtClean="0"/>
              <a:t>-</a:t>
            </a:r>
            <a:r>
              <a:rPr lang="zh-CN" altLang="en-US" kern="0" smtClean="0"/>
              <a:t>一元一次方程</a:t>
            </a:r>
            <a:endParaRPr lang="zh-CN" altLang="en-US" kern="0" dirty="0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296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55576" y="155920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编程实现</a:t>
            </a:r>
            <a:r>
              <a:rPr lang="en-US" altLang="zh-CN" sz="2800" dirty="0" err="1"/>
              <a:t>ax+b</a:t>
            </a:r>
            <a:r>
              <a:rPr lang="en-US" altLang="zh-CN" sz="2800" dirty="0"/>
              <a:t>=0</a:t>
            </a:r>
            <a:r>
              <a:rPr lang="zh-CN" altLang="en-US" sz="2800" dirty="0"/>
              <a:t>的求解。从键盘依次输入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的值</a:t>
            </a:r>
            <a:r>
              <a:rPr lang="zh-CN" altLang="en-US" sz="2800" dirty="0" smtClean="0"/>
              <a:t>，当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为</a:t>
            </a:r>
            <a:r>
              <a:rPr lang="en-US" altLang="zh-CN" sz="2800" dirty="0" smtClean="0"/>
              <a:t>0</a:t>
            </a:r>
            <a:r>
              <a:rPr lang="zh-CN" altLang="en-US" sz="2800" dirty="0"/>
              <a:t>时</a:t>
            </a:r>
            <a:r>
              <a:rPr lang="zh-CN" altLang="en-US" sz="2800" dirty="0" smtClean="0"/>
              <a:t>，输出“</a:t>
            </a:r>
            <a:r>
              <a:rPr lang="en-US" altLang="zh-CN" sz="2800" dirty="0" smtClean="0"/>
              <a:t>error</a:t>
            </a:r>
            <a:r>
              <a:rPr lang="zh-CN" altLang="en-US" sz="2800" dirty="0" smtClean="0"/>
              <a:t>”，否则计算</a:t>
            </a:r>
            <a:r>
              <a:rPr lang="zh-CN" altLang="en-US" sz="2800" dirty="0"/>
              <a:t>并输出方程</a:t>
            </a:r>
            <a:r>
              <a:rPr lang="en-US" altLang="zh-CN" sz="2800" dirty="0"/>
              <a:t>x</a:t>
            </a:r>
            <a:r>
              <a:rPr lang="zh-CN" altLang="en-US" sz="2800" dirty="0"/>
              <a:t>的解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02741" y="378904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完成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02741" y="464629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未完成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088366" y="385333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088366" y="471058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04501" y="800384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r>
              <a:rPr lang="zh-CN" altLang="en-US" kern="0" smtClean="0"/>
              <a:t>编程练习</a:t>
            </a:r>
            <a:r>
              <a:rPr lang="en-US" altLang="zh-CN" kern="0" smtClean="0"/>
              <a:t>-</a:t>
            </a:r>
            <a:r>
              <a:rPr lang="zh-CN" altLang="en-US" kern="0" smtClean="0"/>
              <a:t>一元一次方程</a:t>
            </a:r>
            <a:endParaRPr lang="zh-CN" altLang="en-US" kern="0" dirty="0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710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41097" y="1097473"/>
            <a:ext cx="8451383" cy="561497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题目内容：</a:t>
            </a:r>
            <a:endParaRPr lang="zh-CN" altLang="en-US" sz="2400" b="0" dirty="0"/>
          </a:p>
          <a:p>
            <a:r>
              <a:rPr lang="zh-CN" altLang="en-US" sz="2400" b="0" dirty="0" smtClean="0"/>
              <a:t>求</a:t>
            </a:r>
            <a:r>
              <a:rPr lang="zh-CN" altLang="en-US" sz="2400" b="0" dirty="0"/>
              <a:t>一元二次方程</a:t>
            </a:r>
            <a:r>
              <a:rPr lang="en-US" altLang="zh-CN" sz="2400" b="0" dirty="0" smtClean="0"/>
              <a:t>ax</a:t>
            </a:r>
            <a:r>
              <a:rPr lang="en-US" altLang="zh-CN" sz="2400" b="0" baseline="30000" dirty="0" smtClean="0"/>
              <a:t>2</a:t>
            </a:r>
            <a:r>
              <a:rPr lang="en-US" altLang="zh-CN" sz="2400" b="0" dirty="0" smtClean="0"/>
              <a:t>+bx+c</a:t>
            </a:r>
            <a:r>
              <a:rPr lang="zh-CN" altLang="en-US" sz="2400" b="0" dirty="0"/>
              <a:t>的根。任意输入系数</a:t>
            </a:r>
            <a:r>
              <a:rPr lang="en-US" altLang="zh-CN" sz="2400" b="0" dirty="0"/>
              <a:t>a</a:t>
            </a:r>
            <a:r>
              <a:rPr lang="zh-CN" altLang="en-US" sz="2400" b="0" dirty="0"/>
              <a:t>、</a:t>
            </a:r>
            <a:r>
              <a:rPr lang="en-US" altLang="zh-CN" sz="2400" b="0" dirty="0"/>
              <a:t>b</a:t>
            </a:r>
            <a:r>
              <a:rPr lang="zh-CN" altLang="en-US" sz="2400" b="0" dirty="0"/>
              <a:t>、</a:t>
            </a:r>
            <a:r>
              <a:rPr lang="en-US" altLang="zh-CN" sz="2400" b="0" dirty="0"/>
              <a:t>c</a:t>
            </a:r>
            <a:r>
              <a:rPr lang="zh-CN" altLang="en-US" sz="2400" b="0" dirty="0"/>
              <a:t>的值，显示方程的根</a:t>
            </a:r>
            <a:r>
              <a:rPr lang="zh-CN" altLang="en-US" sz="2400" b="0" dirty="0" smtClean="0"/>
              <a:t>。如果</a:t>
            </a:r>
            <a:r>
              <a:rPr lang="zh-CN" altLang="en-US" sz="2400" b="0" dirty="0"/>
              <a:t>系数</a:t>
            </a:r>
            <a:r>
              <a:rPr lang="en-US" altLang="zh-CN" sz="2400" b="0" dirty="0"/>
              <a:t>a</a:t>
            </a:r>
            <a:r>
              <a:rPr lang="zh-CN" altLang="en-US" sz="2400" b="0" dirty="0"/>
              <a:t>为</a:t>
            </a:r>
            <a:r>
              <a:rPr lang="en-US" altLang="zh-CN" sz="2400" b="0" dirty="0"/>
              <a:t>0</a:t>
            </a:r>
            <a:r>
              <a:rPr lang="zh-CN" altLang="en-US" sz="2400" b="0" dirty="0"/>
              <a:t>，则输出</a:t>
            </a:r>
            <a:r>
              <a:rPr lang="en-US" altLang="zh-CN" sz="2400" b="0" dirty="0"/>
              <a:t>"It's not a univariate quadratic equation",</a:t>
            </a:r>
            <a:r>
              <a:rPr lang="zh-CN" altLang="en-US" sz="2400" b="0" dirty="0"/>
              <a:t>否则，如果方程无根，输出</a:t>
            </a:r>
            <a:r>
              <a:rPr lang="en-US" altLang="zh-CN" sz="2400" b="0" dirty="0"/>
              <a:t>"no answer"</a:t>
            </a:r>
            <a:r>
              <a:rPr lang="zh-CN" altLang="en-US" sz="2400" b="0" dirty="0"/>
              <a:t>。如果方程有两个根，先输出大根，再输出小根，中间以空格分隔。如果方程只有一个根，则输出两个相同的根。（根为小数时，则小数点后保留两位小数</a:t>
            </a:r>
            <a:r>
              <a:rPr lang="zh-CN" altLang="en-US" sz="2400" b="0" dirty="0" smtClean="0"/>
              <a:t>）</a:t>
            </a:r>
            <a:endParaRPr lang="zh-CN" altLang="en-US" sz="2400" b="0" dirty="0"/>
          </a:p>
          <a:p>
            <a:r>
              <a:rPr lang="zh-CN" altLang="en-US" sz="2400" dirty="0"/>
              <a:t>输入样例</a:t>
            </a:r>
            <a:r>
              <a:rPr lang="en-US" altLang="zh-CN" sz="2400" dirty="0"/>
              <a:t>1</a:t>
            </a:r>
            <a:r>
              <a:rPr lang="zh-CN" altLang="en-US" sz="2400" dirty="0" smtClean="0"/>
              <a:t>：</a:t>
            </a:r>
            <a:endParaRPr lang="zh-CN" altLang="en-US" sz="2400" b="0" dirty="0"/>
          </a:p>
          <a:p>
            <a:r>
              <a:rPr lang="en-US" altLang="zh-CN" sz="2400" b="0" dirty="0"/>
              <a:t>1 4 </a:t>
            </a:r>
            <a:r>
              <a:rPr lang="en-US" altLang="zh-CN" sz="2400" b="0" dirty="0" smtClean="0"/>
              <a:t>4</a:t>
            </a:r>
            <a:endParaRPr lang="zh-CN" altLang="en-US" sz="2400" b="0" dirty="0"/>
          </a:p>
          <a:p>
            <a:r>
              <a:rPr lang="zh-CN" altLang="en-US" sz="2400" dirty="0"/>
              <a:t>输出样例</a:t>
            </a:r>
            <a:r>
              <a:rPr lang="en-US" altLang="zh-CN" sz="2400" dirty="0"/>
              <a:t>1</a:t>
            </a:r>
            <a:r>
              <a:rPr lang="zh-CN" altLang="en-US" sz="2400" dirty="0" smtClean="0"/>
              <a:t>：</a:t>
            </a:r>
            <a:endParaRPr lang="zh-CN" altLang="en-US" sz="2400" b="0" dirty="0"/>
          </a:p>
          <a:p>
            <a:r>
              <a:rPr lang="en-US" altLang="zh-CN" sz="2400" b="0" dirty="0"/>
              <a:t>-2 -</a:t>
            </a:r>
            <a:r>
              <a:rPr lang="en-US" altLang="zh-CN" sz="2400" b="0" dirty="0" smtClean="0"/>
              <a:t>2</a:t>
            </a:r>
            <a:endParaRPr lang="zh-CN" altLang="en-US" sz="2400" b="0" dirty="0"/>
          </a:p>
          <a:p>
            <a:r>
              <a:rPr lang="zh-CN" altLang="en-US" sz="2400" dirty="0"/>
              <a:t>输入样例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zh-CN" altLang="en-US" sz="2400" b="0" dirty="0"/>
              <a:t/>
            </a:r>
            <a:br>
              <a:rPr lang="zh-CN" altLang="en-US" sz="2400" b="0" dirty="0"/>
            </a:br>
            <a:r>
              <a:rPr lang="en-US" altLang="zh-CN" sz="2400" b="0" dirty="0" smtClean="0"/>
              <a:t>0</a:t>
            </a:r>
            <a:r>
              <a:rPr lang="en-US" altLang="zh-CN" sz="2400" b="0" dirty="0"/>
              <a:t> 4 </a:t>
            </a:r>
            <a:r>
              <a:rPr lang="en-US" altLang="zh-CN" sz="2400" b="0" dirty="0" smtClean="0"/>
              <a:t>4</a:t>
            </a:r>
            <a:endParaRPr lang="zh-CN" altLang="en-US" sz="2400" b="0" dirty="0"/>
          </a:p>
          <a:p>
            <a:r>
              <a:rPr lang="zh-CN" altLang="en-US" sz="2400" dirty="0"/>
              <a:t>输出样例</a:t>
            </a:r>
            <a:r>
              <a:rPr lang="en-US" altLang="zh-CN" sz="2400" dirty="0"/>
              <a:t>2</a:t>
            </a:r>
            <a:r>
              <a:rPr lang="zh-CN" altLang="en-US" sz="2400" dirty="0" smtClean="0"/>
              <a:t>：</a:t>
            </a:r>
            <a:endParaRPr lang="zh-CN" altLang="en-US" sz="2400" b="0" dirty="0"/>
          </a:p>
          <a:p>
            <a:r>
              <a:rPr lang="en-US" altLang="zh-CN" sz="2400" b="0" dirty="0"/>
              <a:t>It's not a univariate quadratic equation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886575" y="4464783"/>
            <a:ext cx="21304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测试通过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886575" y="5322033"/>
            <a:ext cx="21304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测试未通过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6172200" y="452907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6172200" y="538632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75783" y="589473"/>
            <a:ext cx="8229600" cy="60727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r>
              <a:rPr lang="zh-CN" altLang="en-US" sz="3200" kern="0" dirty="0" smtClean="0"/>
              <a:t>编程练习</a:t>
            </a:r>
            <a:r>
              <a:rPr lang="en-US" altLang="zh-CN" sz="3200" kern="0" dirty="0" smtClean="0"/>
              <a:t>-</a:t>
            </a:r>
            <a:r>
              <a:rPr lang="zh-CN" altLang="en-US" sz="3200" kern="0" dirty="0" smtClean="0"/>
              <a:t>一元</a:t>
            </a:r>
            <a:r>
              <a:rPr lang="zh-CN" altLang="en-US" sz="3200" kern="0" dirty="0"/>
              <a:t>二</a:t>
            </a:r>
            <a:r>
              <a:rPr lang="zh-CN" altLang="en-US" sz="3200" kern="0" dirty="0" smtClean="0"/>
              <a:t>次方程</a:t>
            </a:r>
            <a:endParaRPr lang="zh-CN" altLang="en-US" sz="3200" kern="0" dirty="0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619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在二元一次方程求解中考虑：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若可以计算并输出复数根，该如何修改你的程序？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</a:t>
            </a:r>
            <a:r>
              <a:rPr lang="en-US" altLang="zh-CN" dirty="0" smtClean="0"/>
              <a:t>a</a:t>
            </a:r>
            <a:r>
              <a:rPr lang="zh-CN" altLang="en-US" dirty="0" smtClean="0"/>
              <a:t>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时，转成一元一次方程求解，该如何修改你的程序？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573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844675"/>
            <a:ext cx="8074025" cy="2447925"/>
          </a:xfrm>
        </p:spPr>
        <p:txBody>
          <a:bodyPr/>
          <a:lstStyle/>
          <a:p>
            <a:pPr marL="609600" indent="-609600" eaLnBrk="1" hangingPunct="1">
              <a:lnSpc>
                <a:spcPct val="125000"/>
              </a:lnSpc>
              <a:buSzTx/>
              <a:buFont typeface="Wingdings" panose="05000000000000000000" pitchFamily="2" charset="2"/>
              <a:buAutoNum type="arabicPeriod" startAt="2"/>
              <a:defRPr/>
            </a:pPr>
            <a:r>
              <a:rPr lang="zh-CN" altLang="en-US" sz="2800" b="1" smtClean="0"/>
              <a:t>开关语句（</a:t>
            </a:r>
            <a:r>
              <a:rPr lang="en-US" altLang="zh-CN" sz="2800" b="1" smtClean="0"/>
              <a:t>switch</a:t>
            </a:r>
            <a:r>
              <a:rPr lang="zh-CN" altLang="en-US" sz="2800" b="1" smtClean="0"/>
              <a:t>语句）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smtClean="0">
                <a:effectLst/>
              </a:rPr>
              <a:t>   当需要进行一系列的判定时，</a:t>
            </a:r>
            <a:r>
              <a:rPr lang="en-US" altLang="zh-CN" sz="2400" b="1" smtClean="0">
                <a:effectLst/>
              </a:rPr>
              <a:t>if</a:t>
            </a:r>
            <a:r>
              <a:rPr lang="zh-CN" altLang="zh-CN" sz="2400" b="1" smtClean="0">
                <a:effectLst/>
              </a:rPr>
              <a:t>语句显得很臃肿。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smtClean="0">
                <a:effectLst/>
              </a:rPr>
              <a:t>   </a:t>
            </a:r>
            <a:r>
              <a:rPr lang="zh-CN" altLang="zh-CN" sz="2400" b="1" smtClean="0">
                <a:effectLst/>
              </a:rPr>
              <a:t>例：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400" b="1" smtClean="0">
                <a:effectLst/>
              </a:rPr>
              <a:t> </a:t>
            </a:r>
            <a:r>
              <a:rPr lang="zh-CN" altLang="en-US" sz="2400" b="1" smtClean="0">
                <a:effectLst/>
              </a:rPr>
              <a:t>      </a:t>
            </a:r>
            <a:r>
              <a:rPr lang="zh-CN" altLang="zh-CN" sz="2400" b="1" smtClean="0">
                <a:effectLst/>
              </a:rPr>
              <a:t>给出一个学生分数</a:t>
            </a:r>
            <a:r>
              <a:rPr lang="en-US" altLang="zh-CN" sz="2400" b="1" smtClean="0">
                <a:effectLst/>
              </a:rPr>
              <a:t>fen ,</a:t>
            </a:r>
            <a:r>
              <a:rPr lang="zh-CN" altLang="zh-CN" sz="2400" b="1" smtClean="0">
                <a:effectLst/>
              </a:rPr>
              <a:t>若在</a:t>
            </a:r>
            <a:r>
              <a:rPr lang="en-US" altLang="zh-CN" sz="2400" b="1" smtClean="0">
                <a:effectLst/>
              </a:rPr>
              <a:t>90</a:t>
            </a:r>
            <a:r>
              <a:rPr lang="zh-CN" altLang="zh-CN" sz="2400" b="1" smtClean="0">
                <a:effectLst/>
              </a:rPr>
              <a:t>分以上输出</a:t>
            </a:r>
            <a:r>
              <a:rPr lang="zh-CN" altLang="en-US" sz="2400" b="1" smtClean="0">
                <a:effectLst/>
                <a:latin typeface="Arial"/>
              </a:rPr>
              <a:t>‘</a:t>
            </a:r>
            <a:r>
              <a:rPr lang="en-US" altLang="zh-CN" sz="2400" b="1" smtClean="0">
                <a:effectLst/>
              </a:rPr>
              <a:t>A</a:t>
            </a:r>
            <a:r>
              <a:rPr lang="en-US" altLang="zh-CN" sz="2400" b="1" smtClean="0">
                <a:effectLst/>
                <a:latin typeface="Arial"/>
              </a:rPr>
              <a:t>’</a:t>
            </a:r>
            <a:r>
              <a:rPr lang="zh-CN" altLang="en-US" sz="2400" b="1" smtClean="0">
                <a:effectLst/>
              </a:rPr>
              <a:t>，</a:t>
            </a:r>
            <a:r>
              <a:rPr lang="en-US" altLang="zh-CN" sz="2400" b="1" smtClean="0">
                <a:effectLst/>
              </a:rPr>
              <a:t>80</a:t>
            </a:r>
            <a:r>
              <a:rPr lang="zh-CN" altLang="en-US" sz="2400" b="1" smtClean="0">
                <a:effectLst/>
              </a:rPr>
              <a:t>到</a:t>
            </a:r>
            <a:r>
              <a:rPr lang="en-US" altLang="zh-CN" sz="2400" b="1" smtClean="0">
                <a:effectLst/>
              </a:rPr>
              <a:t>89</a:t>
            </a:r>
            <a:r>
              <a:rPr lang="zh-CN" altLang="en-US" sz="2400" b="1" smtClean="0">
                <a:effectLst/>
              </a:rPr>
              <a:t>分输出</a:t>
            </a:r>
            <a:r>
              <a:rPr lang="zh-CN" altLang="en-US" sz="2400" b="1" smtClean="0">
                <a:effectLst/>
                <a:latin typeface="Arial"/>
              </a:rPr>
              <a:t>’</a:t>
            </a:r>
            <a:r>
              <a:rPr lang="en-US" altLang="zh-CN" sz="2400" b="1" smtClean="0">
                <a:effectLst/>
              </a:rPr>
              <a:t>B</a:t>
            </a:r>
            <a:r>
              <a:rPr lang="en-US" altLang="zh-CN" sz="2400" b="1" smtClean="0">
                <a:effectLst/>
                <a:latin typeface="Arial"/>
              </a:rPr>
              <a:t>’</a:t>
            </a:r>
            <a:r>
              <a:rPr lang="en-US" altLang="zh-CN" sz="2400" b="1" smtClean="0">
                <a:effectLst/>
              </a:rPr>
              <a:t> , 70</a:t>
            </a:r>
            <a:r>
              <a:rPr lang="zh-CN" altLang="en-US" sz="2400" b="1" smtClean="0">
                <a:effectLst/>
              </a:rPr>
              <a:t>到</a:t>
            </a:r>
            <a:r>
              <a:rPr lang="en-US" altLang="zh-CN" sz="2400" b="1" smtClean="0">
                <a:effectLst/>
              </a:rPr>
              <a:t>79</a:t>
            </a:r>
            <a:r>
              <a:rPr lang="zh-CN" altLang="en-US" sz="2400" b="1" smtClean="0">
                <a:effectLst/>
              </a:rPr>
              <a:t>分输出</a:t>
            </a:r>
            <a:r>
              <a:rPr lang="zh-CN" altLang="en-US" sz="2400" b="1" smtClean="0">
                <a:effectLst/>
                <a:latin typeface="Arial"/>
              </a:rPr>
              <a:t>‘</a:t>
            </a:r>
            <a:r>
              <a:rPr lang="en-US" altLang="zh-CN" sz="2400" b="1" smtClean="0">
                <a:effectLst/>
              </a:rPr>
              <a:t>C</a:t>
            </a:r>
            <a:r>
              <a:rPr lang="en-US" altLang="zh-CN" sz="2400" b="1" smtClean="0">
                <a:effectLst/>
                <a:latin typeface="Arial"/>
              </a:rPr>
              <a:t>’</a:t>
            </a:r>
            <a:r>
              <a:rPr lang="en-US" altLang="zh-CN" sz="2400" b="1" smtClean="0">
                <a:effectLst/>
              </a:rPr>
              <a:t>,  60</a:t>
            </a:r>
            <a:r>
              <a:rPr lang="zh-CN" altLang="en-US" sz="2400" b="1" smtClean="0">
                <a:effectLst/>
              </a:rPr>
              <a:t>到</a:t>
            </a:r>
            <a:r>
              <a:rPr lang="en-US" altLang="zh-CN" sz="2400" b="1" smtClean="0">
                <a:effectLst/>
              </a:rPr>
              <a:t>69</a:t>
            </a:r>
            <a:r>
              <a:rPr lang="zh-CN" altLang="en-US" sz="2400" b="1" smtClean="0">
                <a:effectLst/>
              </a:rPr>
              <a:t>分输出</a:t>
            </a:r>
            <a:r>
              <a:rPr lang="zh-CN" altLang="en-US" sz="2400" b="1" smtClean="0">
                <a:effectLst/>
                <a:latin typeface="Arial"/>
              </a:rPr>
              <a:t>‘</a:t>
            </a:r>
            <a:r>
              <a:rPr lang="en-US" altLang="zh-CN" sz="2400" b="1" smtClean="0">
                <a:effectLst/>
              </a:rPr>
              <a:t>D</a:t>
            </a:r>
            <a:r>
              <a:rPr lang="en-US" altLang="zh-CN" sz="2400" b="1" smtClean="0">
                <a:effectLst/>
                <a:latin typeface="Arial"/>
              </a:rPr>
              <a:t>’</a:t>
            </a:r>
            <a:r>
              <a:rPr lang="en-US" altLang="zh-CN" sz="2400" b="1" smtClean="0">
                <a:effectLst/>
              </a:rPr>
              <a:t> ,60</a:t>
            </a:r>
            <a:r>
              <a:rPr lang="zh-CN" altLang="en-US" sz="2400" b="1" smtClean="0">
                <a:effectLst/>
              </a:rPr>
              <a:t>分</a:t>
            </a:r>
            <a:r>
              <a:rPr lang="zh-CN" altLang="zh-CN" sz="2400" b="1" smtClean="0">
                <a:effectLst/>
              </a:rPr>
              <a:t>以下为‘</a:t>
            </a:r>
            <a:r>
              <a:rPr lang="en-US" altLang="zh-CN" sz="2400" b="1" smtClean="0">
                <a:effectLst/>
              </a:rPr>
              <a:t>E</a:t>
            </a:r>
            <a:r>
              <a:rPr lang="en-US" altLang="zh-CN" sz="2400" b="1" smtClean="0">
                <a:effectLst/>
                <a:latin typeface="Arial"/>
              </a:rPr>
              <a:t>’</a:t>
            </a:r>
            <a:endParaRPr lang="en-US" altLang="zh-CN" sz="2400" b="1" smtClean="0">
              <a:effectLst/>
            </a:endParaRPr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2057400" y="4310063"/>
            <a:ext cx="4875053" cy="1938992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if(fen&gt;=90)  </a:t>
            </a:r>
            <a:r>
              <a:rPr lang="en-US" altLang="zh-CN" sz="24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&lt;&lt;‘A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’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else if(fen&gt;=80)  </a:t>
            </a:r>
            <a:r>
              <a:rPr lang="en-US" altLang="zh-CN" sz="24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&lt;&lt;‘B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’;</a:t>
            </a:r>
            <a:endParaRPr lang="en-US" altLang="zh-CN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else if(fen&gt;=70)  </a:t>
            </a:r>
            <a:r>
              <a:rPr lang="en-US" altLang="zh-CN" sz="24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&lt;&lt;‘C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’;</a:t>
            </a:r>
            <a:endParaRPr lang="en-US" altLang="zh-CN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else if(fen&gt;=60)  </a:t>
            </a:r>
            <a:r>
              <a:rPr lang="en-US" altLang="zh-CN" sz="24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&lt;&lt;‘D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’;</a:t>
            </a:r>
            <a:endParaRPr lang="en-US" altLang="zh-CN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else  </a:t>
            </a:r>
            <a:r>
              <a:rPr lang="en-US" altLang="zh-CN" sz="24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&lt;&lt;‘E’;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557338"/>
            <a:ext cx="3600450" cy="5040312"/>
          </a:xfrm>
        </p:spPr>
        <p:txBody>
          <a:bodyPr/>
          <a:lstStyle/>
          <a:p>
            <a:pPr marL="609600" indent="-609600" eaLnBrk="1" hangingPunct="1">
              <a:lnSpc>
                <a:spcPct val="125000"/>
              </a:lnSpc>
              <a:buSzTx/>
              <a:buFont typeface="Wingdings" panose="05000000000000000000" pitchFamily="2" charset="2"/>
              <a:buNone/>
              <a:defRPr/>
            </a:pPr>
            <a:r>
              <a:rPr lang="en-US" altLang="zh-CN" sz="1800" b="1" dirty="0" smtClean="0">
                <a:effectLst/>
              </a:rPr>
              <a:t>switch</a:t>
            </a:r>
            <a:r>
              <a:rPr lang="zh-CN" altLang="en-US" sz="1800" b="1" dirty="0" smtClean="0">
                <a:effectLst/>
              </a:rPr>
              <a:t>语句的一般形式如下： </a:t>
            </a:r>
          </a:p>
          <a:p>
            <a:pPr marL="609600" indent="-609600" eaLnBrk="1" hangingPunct="1">
              <a:lnSpc>
                <a:spcPct val="125000"/>
              </a:lnSpc>
              <a:buSzTx/>
              <a:buFont typeface="Wingdings" panose="05000000000000000000" pitchFamily="2" charset="2"/>
              <a:buNone/>
              <a:defRPr/>
            </a:pPr>
            <a:r>
              <a:rPr lang="zh-CN" altLang="en-US" sz="1800" b="1" dirty="0" smtClean="0">
                <a:effectLst/>
              </a:rPr>
              <a:t>     </a:t>
            </a:r>
            <a:r>
              <a:rPr lang="en-US" altLang="zh-CN" sz="1800" b="1" dirty="0" smtClean="0">
                <a:effectLst/>
              </a:rPr>
              <a:t>switch (</a:t>
            </a:r>
            <a:r>
              <a:rPr lang="zh-CN" altLang="en-US" sz="1800" b="1" dirty="0" smtClean="0">
                <a:effectLst/>
              </a:rPr>
              <a:t>表达式</a:t>
            </a:r>
            <a:r>
              <a:rPr lang="en-US" altLang="zh-CN" sz="1800" b="1" dirty="0" smtClean="0">
                <a:effectLst/>
              </a:rPr>
              <a:t>) {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case</a:t>
            </a:r>
            <a:r>
              <a:rPr lang="zh-CN" altLang="en-US" sz="1800" b="1" dirty="0" smtClean="0">
                <a:effectLst/>
              </a:rPr>
              <a:t>常量表达式</a:t>
            </a:r>
            <a:r>
              <a:rPr lang="en-US" altLang="zh-CN" sz="1800" b="1" dirty="0" smtClean="0">
                <a:effectLst/>
              </a:rPr>
              <a:t>1: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    《</a:t>
            </a:r>
            <a:r>
              <a:rPr lang="zh-CN" altLang="en-US" sz="1800" b="1" dirty="0" smtClean="0">
                <a:effectLst/>
              </a:rPr>
              <a:t>语句</a:t>
            </a:r>
            <a:r>
              <a:rPr lang="en-US" altLang="zh-CN" sz="1800" b="1" dirty="0" smtClean="0">
                <a:effectLst/>
              </a:rPr>
              <a:t>1;》《break;》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...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case</a:t>
            </a:r>
            <a:r>
              <a:rPr lang="zh-CN" altLang="en-US" sz="1800" b="1" dirty="0" smtClean="0">
                <a:effectLst/>
              </a:rPr>
              <a:t>常量表达式</a:t>
            </a:r>
            <a:r>
              <a:rPr lang="en-US" altLang="zh-CN" sz="1800" b="1" dirty="0" smtClean="0">
                <a:effectLst/>
              </a:rPr>
              <a:t>n: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    《</a:t>
            </a:r>
            <a:r>
              <a:rPr lang="zh-CN" altLang="en-US" sz="1800" b="1" dirty="0" smtClean="0">
                <a:effectLst/>
              </a:rPr>
              <a:t>语句</a:t>
            </a:r>
            <a:r>
              <a:rPr lang="en-US" altLang="zh-CN" sz="1800" b="1" dirty="0" smtClean="0">
                <a:effectLst/>
              </a:rPr>
              <a:t>n;》《break;》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《default: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    </a:t>
            </a:r>
            <a:r>
              <a:rPr lang="zh-CN" altLang="en-US" sz="1800" b="1" dirty="0" smtClean="0">
                <a:effectLst/>
              </a:rPr>
              <a:t>语句</a:t>
            </a:r>
            <a:r>
              <a:rPr lang="en-US" altLang="zh-CN" sz="1800" b="1" dirty="0" smtClean="0">
                <a:effectLst/>
              </a:rPr>
              <a:t>n+1;》</a:t>
            </a:r>
            <a:br>
              <a:rPr lang="en-US" altLang="zh-CN" sz="1800" b="1" dirty="0" smtClean="0">
                <a:effectLst/>
              </a:rPr>
            </a:br>
            <a:r>
              <a:rPr lang="en-US" altLang="zh-CN" sz="1800" b="1" dirty="0" smtClean="0">
                <a:effectLst/>
              </a:rPr>
              <a:t>} </a:t>
            </a:r>
          </a:p>
          <a:p>
            <a:pPr marL="609600" indent="-609600"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1" dirty="0" smtClean="0">
                <a:solidFill>
                  <a:srgbClr val="FFFF66"/>
                </a:solidFill>
              </a:rPr>
              <a:t>注意：</a:t>
            </a:r>
            <a:r>
              <a:rPr lang="en-US" altLang="zh-CN" sz="1800" b="1" dirty="0" smtClean="0"/>
              <a:t>"</a:t>
            </a:r>
            <a:r>
              <a:rPr lang="zh-CN" altLang="en-US" sz="1800" b="1" dirty="0" smtClean="0"/>
              <a:t>表达式</a:t>
            </a:r>
            <a:r>
              <a:rPr lang="en-US" altLang="zh-CN" sz="1800" b="1" dirty="0" smtClean="0"/>
              <a:t>"</a:t>
            </a:r>
            <a:r>
              <a:rPr lang="zh-CN" altLang="en-US" sz="1800" b="1" dirty="0" smtClean="0"/>
              <a:t>的值的类型必须是</a:t>
            </a:r>
            <a:r>
              <a:rPr lang="zh-CN" altLang="en-US" sz="1800" b="1" dirty="0" smtClean="0">
                <a:solidFill>
                  <a:srgbClr val="FFC000"/>
                </a:solidFill>
              </a:rPr>
              <a:t>字符型或整型</a:t>
            </a:r>
            <a:r>
              <a:rPr lang="zh-CN" altLang="en-US" sz="1800" b="1" dirty="0" smtClean="0"/>
              <a:t>。 </a:t>
            </a:r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138613" y="1368425"/>
            <a:ext cx="4681537" cy="5373688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1800" b="1" smtClean="0">
                <a:solidFill>
                  <a:schemeClr val="hlink"/>
                </a:solidFill>
              </a:rPr>
              <a:t>switch</a:t>
            </a:r>
            <a:r>
              <a:rPr lang="zh-CN" altLang="en-US" sz="1800" b="1" smtClean="0">
                <a:solidFill>
                  <a:schemeClr val="hlink"/>
                </a:solidFill>
              </a:rPr>
              <a:t>语句的执行过程是这样的</a:t>
            </a:r>
            <a:r>
              <a:rPr lang="zh-CN" altLang="en-US" sz="1800" b="1" smtClean="0"/>
              <a:t>：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1800" b="1" smtClean="0"/>
              <a:t>首先</a:t>
            </a:r>
            <a:r>
              <a:rPr lang="zh-CN" altLang="en-US" sz="1800" b="1" smtClean="0">
                <a:solidFill>
                  <a:srgbClr val="FFFF66"/>
                </a:solidFill>
              </a:rPr>
              <a:t>计算</a:t>
            </a:r>
            <a:r>
              <a:rPr lang="zh-CN" altLang="en-US" sz="1800" b="1" smtClean="0">
                <a:solidFill>
                  <a:srgbClr val="FFFF66"/>
                </a:solidFill>
                <a:latin typeface="Arial"/>
              </a:rPr>
              <a:t>“</a:t>
            </a:r>
            <a:r>
              <a:rPr lang="zh-CN" altLang="en-US" sz="1800" b="1" smtClean="0">
                <a:solidFill>
                  <a:srgbClr val="FFFF66"/>
                </a:solidFill>
              </a:rPr>
              <a:t>表达式</a:t>
            </a:r>
            <a:r>
              <a:rPr lang="zh-CN" altLang="en-US" sz="1800" b="1" smtClean="0">
                <a:solidFill>
                  <a:srgbClr val="FFFF66"/>
                </a:solidFill>
                <a:latin typeface="Arial"/>
              </a:rPr>
              <a:t>”</a:t>
            </a:r>
            <a:r>
              <a:rPr lang="zh-CN" altLang="en-US" sz="1800" b="1" smtClean="0"/>
              <a:t>的值，然后，其结果值依次与每一个常量表达式的值进行</a:t>
            </a:r>
            <a:r>
              <a:rPr lang="zh-CN" altLang="en-US" sz="1800" b="1" smtClean="0">
                <a:solidFill>
                  <a:srgbClr val="FFFF66"/>
                </a:solidFill>
              </a:rPr>
              <a:t>匹配</a:t>
            </a:r>
            <a:r>
              <a:rPr lang="zh-CN" altLang="en-US" sz="1800" b="1" smtClean="0"/>
              <a:t>（常量表达式的值的类型必须与</a:t>
            </a:r>
            <a:r>
              <a:rPr lang="zh-CN" altLang="en-US" sz="1800" b="1" smtClean="0">
                <a:latin typeface="Arial"/>
              </a:rPr>
              <a:t>“</a:t>
            </a:r>
            <a:r>
              <a:rPr lang="zh-CN" altLang="en-US" sz="1800" b="1" smtClean="0"/>
              <a:t>表达式</a:t>
            </a:r>
            <a:r>
              <a:rPr lang="zh-CN" altLang="en-US" sz="1800" b="1" smtClean="0">
                <a:latin typeface="Arial"/>
              </a:rPr>
              <a:t>”</a:t>
            </a:r>
            <a:r>
              <a:rPr lang="zh-CN" altLang="en-US" sz="1800" b="1" smtClean="0"/>
              <a:t>的值的类型相同）。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1800" b="1" smtClean="0"/>
              <a:t>如果匹配成功，则执行该常量表达式后的语句系列。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1800" b="1" smtClean="0"/>
              <a:t>当</a:t>
            </a:r>
            <a:r>
              <a:rPr lang="zh-CN" altLang="en-US" sz="1800" b="1" smtClean="0">
                <a:solidFill>
                  <a:srgbClr val="FFFF66"/>
                </a:solidFill>
              </a:rPr>
              <a:t>遇到</a:t>
            </a:r>
            <a:r>
              <a:rPr lang="en-US" altLang="zh-CN" sz="1800" b="1" smtClean="0">
                <a:solidFill>
                  <a:srgbClr val="FFFF66"/>
                </a:solidFill>
              </a:rPr>
              <a:t>break</a:t>
            </a:r>
            <a:r>
              <a:rPr lang="zh-CN" altLang="en-US" sz="1800" b="1" smtClean="0"/>
              <a:t>时，则立即</a:t>
            </a:r>
            <a:r>
              <a:rPr lang="zh-CN" altLang="en-US" sz="1800" b="1" smtClean="0">
                <a:solidFill>
                  <a:srgbClr val="FFFF66"/>
                </a:solidFill>
              </a:rPr>
              <a:t>结束</a:t>
            </a:r>
            <a:r>
              <a:rPr lang="en-US" altLang="zh-CN" sz="1800" b="1" smtClean="0"/>
              <a:t>switch</a:t>
            </a:r>
            <a:r>
              <a:rPr lang="zh-CN" altLang="en-US" sz="1800" b="1" smtClean="0"/>
              <a:t>语句的执行，否则，顺序执行到花括号中的最后一条语句。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sz="1800" b="1" smtClean="0"/>
              <a:t>default</a:t>
            </a:r>
            <a:r>
              <a:rPr lang="zh-CN" altLang="en-US" sz="1800" b="1" smtClean="0"/>
              <a:t>情形是可选的，如果没有常量表达式的值与</a:t>
            </a:r>
            <a:r>
              <a:rPr lang="en-US" altLang="zh-CN" sz="1800" b="1" smtClean="0"/>
              <a:t>"</a:t>
            </a:r>
            <a:r>
              <a:rPr lang="zh-CN" altLang="en-US" sz="1800" b="1" smtClean="0"/>
              <a:t>表达式</a:t>
            </a:r>
            <a:r>
              <a:rPr lang="en-US" altLang="zh-CN" sz="1800" b="1" smtClean="0"/>
              <a:t>"</a:t>
            </a:r>
            <a:r>
              <a:rPr lang="zh-CN" altLang="en-US" sz="1800" b="1" smtClean="0"/>
              <a:t>的值匹配，则执行</a:t>
            </a:r>
            <a:r>
              <a:rPr lang="en-US" altLang="zh-CN" sz="1800" b="1" smtClean="0"/>
              <a:t>default</a:t>
            </a:r>
            <a:r>
              <a:rPr lang="zh-CN" altLang="en-US" sz="1800" b="1" smtClean="0"/>
              <a:t>后的语句系列。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43"/>
          <p:cNvGrpSpPr>
            <a:grpSpLocks/>
          </p:cNvGrpSpPr>
          <p:nvPr/>
        </p:nvGrpSpPr>
        <p:grpSpPr bwMode="auto">
          <a:xfrm>
            <a:off x="1403350" y="439738"/>
            <a:ext cx="6048375" cy="6084887"/>
            <a:chOff x="703" y="206"/>
            <a:chExt cx="4490" cy="3833"/>
          </a:xfrm>
        </p:grpSpPr>
        <p:sp>
          <p:nvSpPr>
            <p:cNvPr id="20483" name="Line 6"/>
            <p:cNvSpPr>
              <a:spLocks noChangeShapeType="1"/>
            </p:cNvSpPr>
            <p:nvPr/>
          </p:nvSpPr>
          <p:spPr bwMode="auto">
            <a:xfrm>
              <a:off x="2140" y="743"/>
              <a:ext cx="0" cy="2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" name="AutoShape 7"/>
            <p:cNvSpPr>
              <a:spLocks noChangeArrowheads="1"/>
            </p:cNvSpPr>
            <p:nvPr/>
          </p:nvSpPr>
          <p:spPr bwMode="auto">
            <a:xfrm>
              <a:off x="703" y="993"/>
              <a:ext cx="2907" cy="404"/>
            </a:xfrm>
            <a:prstGeom prst="flowChartDecision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常量表达式</a:t>
              </a:r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485" name="Line 8"/>
            <p:cNvSpPr>
              <a:spLocks noChangeShapeType="1"/>
            </p:cNvSpPr>
            <p:nvPr/>
          </p:nvSpPr>
          <p:spPr bwMode="auto">
            <a:xfrm>
              <a:off x="4570" y="1195"/>
              <a:ext cx="0" cy="1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" name="Text Box 9"/>
            <p:cNvSpPr txBox="1">
              <a:spLocks noChangeArrowheads="1"/>
            </p:cNvSpPr>
            <p:nvPr/>
          </p:nvSpPr>
          <p:spPr bwMode="auto">
            <a:xfrm>
              <a:off x="3968" y="1364"/>
              <a:ext cx="1205" cy="31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语句</a:t>
              </a:r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487" name="Line 10"/>
            <p:cNvSpPr>
              <a:spLocks noChangeShapeType="1"/>
            </p:cNvSpPr>
            <p:nvPr/>
          </p:nvSpPr>
          <p:spPr bwMode="auto">
            <a:xfrm>
              <a:off x="2162" y="1397"/>
              <a:ext cx="0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Rectangle 12"/>
            <p:cNvSpPr>
              <a:spLocks noChangeArrowheads="1"/>
            </p:cNvSpPr>
            <p:nvPr/>
          </p:nvSpPr>
          <p:spPr bwMode="auto">
            <a:xfrm>
              <a:off x="1311" y="464"/>
              <a:ext cx="1754" cy="281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switch</a:t>
              </a:r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（表达式）</a:t>
              </a:r>
              <a:endParaRPr lang="zh-CN" altLang="en-US" sz="2000">
                <a:solidFill>
                  <a:srgbClr val="FFFF66"/>
                </a:solidFill>
              </a:endParaRPr>
            </a:p>
          </p:txBody>
        </p:sp>
        <p:sp>
          <p:nvSpPr>
            <p:cNvPr id="20489" name="Line 13"/>
            <p:cNvSpPr>
              <a:spLocks noChangeShapeType="1"/>
            </p:cNvSpPr>
            <p:nvPr/>
          </p:nvSpPr>
          <p:spPr bwMode="auto">
            <a:xfrm>
              <a:off x="2146" y="206"/>
              <a:ext cx="0" cy="2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Line 14"/>
            <p:cNvSpPr>
              <a:spLocks noChangeShapeType="1"/>
            </p:cNvSpPr>
            <p:nvPr/>
          </p:nvSpPr>
          <p:spPr bwMode="auto">
            <a:xfrm>
              <a:off x="3555" y="1193"/>
              <a:ext cx="10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Line 15"/>
            <p:cNvSpPr>
              <a:spLocks noChangeShapeType="1"/>
            </p:cNvSpPr>
            <p:nvPr/>
          </p:nvSpPr>
          <p:spPr bwMode="auto">
            <a:xfrm>
              <a:off x="4594" y="1676"/>
              <a:ext cx="0" cy="2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AutoShape 16"/>
            <p:cNvSpPr>
              <a:spLocks noChangeArrowheads="1"/>
            </p:cNvSpPr>
            <p:nvPr/>
          </p:nvSpPr>
          <p:spPr bwMode="auto">
            <a:xfrm>
              <a:off x="718" y="1618"/>
              <a:ext cx="2907" cy="404"/>
            </a:xfrm>
            <a:prstGeom prst="flowChartDecision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常量表达式</a:t>
              </a:r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493" name="Text Box 17"/>
            <p:cNvSpPr txBox="1">
              <a:spLocks noChangeArrowheads="1"/>
            </p:cNvSpPr>
            <p:nvPr/>
          </p:nvSpPr>
          <p:spPr bwMode="auto">
            <a:xfrm>
              <a:off x="3984" y="1953"/>
              <a:ext cx="1205" cy="31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语句</a:t>
              </a:r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494" name="Line 18"/>
            <p:cNvSpPr>
              <a:spLocks noChangeShapeType="1"/>
            </p:cNvSpPr>
            <p:nvPr/>
          </p:nvSpPr>
          <p:spPr bwMode="auto">
            <a:xfrm>
              <a:off x="2177" y="2022"/>
              <a:ext cx="0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Line 19"/>
            <p:cNvSpPr>
              <a:spLocks noChangeShapeType="1"/>
            </p:cNvSpPr>
            <p:nvPr/>
          </p:nvSpPr>
          <p:spPr bwMode="auto">
            <a:xfrm>
              <a:off x="3570" y="1819"/>
              <a:ext cx="10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Line 20"/>
            <p:cNvSpPr>
              <a:spLocks noChangeShapeType="1"/>
            </p:cNvSpPr>
            <p:nvPr/>
          </p:nvSpPr>
          <p:spPr bwMode="auto">
            <a:xfrm>
              <a:off x="4580" y="2284"/>
              <a:ext cx="0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Line 21"/>
            <p:cNvSpPr>
              <a:spLocks noChangeShapeType="1"/>
            </p:cNvSpPr>
            <p:nvPr/>
          </p:nvSpPr>
          <p:spPr bwMode="auto">
            <a:xfrm>
              <a:off x="2195" y="2609"/>
              <a:ext cx="0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Line 22"/>
            <p:cNvSpPr>
              <a:spLocks noChangeShapeType="1"/>
            </p:cNvSpPr>
            <p:nvPr/>
          </p:nvSpPr>
          <p:spPr bwMode="auto">
            <a:xfrm>
              <a:off x="4598" y="2869"/>
              <a:ext cx="0" cy="3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AutoShape 23"/>
            <p:cNvSpPr>
              <a:spLocks noChangeArrowheads="1"/>
            </p:cNvSpPr>
            <p:nvPr/>
          </p:nvSpPr>
          <p:spPr bwMode="auto">
            <a:xfrm>
              <a:off x="705" y="2844"/>
              <a:ext cx="2907" cy="404"/>
            </a:xfrm>
            <a:prstGeom prst="flowChartDecision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常量表达式</a:t>
              </a:r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00" name="Text Box 24"/>
            <p:cNvSpPr txBox="1">
              <a:spLocks noChangeArrowheads="1"/>
            </p:cNvSpPr>
            <p:nvPr/>
          </p:nvSpPr>
          <p:spPr bwMode="auto">
            <a:xfrm>
              <a:off x="3988" y="3187"/>
              <a:ext cx="1205" cy="317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语句</a:t>
              </a:r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01" name="Line 25"/>
            <p:cNvSpPr>
              <a:spLocks noChangeShapeType="1"/>
            </p:cNvSpPr>
            <p:nvPr/>
          </p:nvSpPr>
          <p:spPr bwMode="auto">
            <a:xfrm>
              <a:off x="2184" y="3250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Line 26"/>
            <p:cNvSpPr>
              <a:spLocks noChangeShapeType="1"/>
            </p:cNvSpPr>
            <p:nvPr/>
          </p:nvSpPr>
          <p:spPr bwMode="auto">
            <a:xfrm>
              <a:off x="3572" y="3038"/>
              <a:ext cx="10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27"/>
            <p:cNvSpPr>
              <a:spLocks noChangeShapeType="1"/>
            </p:cNvSpPr>
            <p:nvPr/>
          </p:nvSpPr>
          <p:spPr bwMode="auto">
            <a:xfrm>
              <a:off x="4598" y="3508"/>
              <a:ext cx="0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Rectangle 28"/>
            <p:cNvSpPr>
              <a:spLocks noChangeArrowheads="1"/>
            </p:cNvSpPr>
            <p:nvPr/>
          </p:nvSpPr>
          <p:spPr bwMode="auto">
            <a:xfrm>
              <a:off x="1444" y="3416"/>
              <a:ext cx="1509" cy="23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" bIns="360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语句</a:t>
              </a:r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n+1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05" name="Line 29"/>
            <p:cNvSpPr>
              <a:spLocks noChangeShapeType="1"/>
            </p:cNvSpPr>
            <p:nvPr/>
          </p:nvSpPr>
          <p:spPr bwMode="auto">
            <a:xfrm>
              <a:off x="2173" y="3654"/>
              <a:ext cx="0" cy="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30"/>
            <p:cNvSpPr>
              <a:spLocks noChangeShapeType="1"/>
            </p:cNvSpPr>
            <p:nvPr/>
          </p:nvSpPr>
          <p:spPr bwMode="auto">
            <a:xfrm>
              <a:off x="2163" y="3845"/>
              <a:ext cx="24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31"/>
            <p:cNvSpPr>
              <a:spLocks noChangeShapeType="1"/>
            </p:cNvSpPr>
            <p:nvPr/>
          </p:nvSpPr>
          <p:spPr bwMode="auto">
            <a:xfrm flipH="1">
              <a:off x="3384" y="3854"/>
              <a:ext cx="0" cy="1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Text Box 32"/>
            <p:cNvSpPr txBox="1">
              <a:spLocks noChangeArrowheads="1"/>
            </p:cNvSpPr>
            <p:nvPr/>
          </p:nvSpPr>
          <p:spPr bwMode="auto">
            <a:xfrm>
              <a:off x="3555" y="1028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09" name="Text Box 33"/>
            <p:cNvSpPr txBox="1">
              <a:spLocks noChangeArrowheads="1"/>
            </p:cNvSpPr>
            <p:nvPr/>
          </p:nvSpPr>
          <p:spPr bwMode="auto">
            <a:xfrm>
              <a:off x="3522" y="1653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0" name="Text Box 34"/>
            <p:cNvSpPr txBox="1">
              <a:spLocks noChangeArrowheads="1"/>
            </p:cNvSpPr>
            <p:nvPr/>
          </p:nvSpPr>
          <p:spPr bwMode="auto">
            <a:xfrm>
              <a:off x="3524" y="2840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1" name="Text Box 35"/>
            <p:cNvSpPr txBox="1">
              <a:spLocks noChangeArrowheads="1"/>
            </p:cNvSpPr>
            <p:nvPr/>
          </p:nvSpPr>
          <p:spPr bwMode="auto">
            <a:xfrm>
              <a:off x="2168" y="1420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2" name="Text Box 36"/>
            <p:cNvSpPr txBox="1">
              <a:spLocks noChangeArrowheads="1"/>
            </p:cNvSpPr>
            <p:nvPr/>
          </p:nvSpPr>
          <p:spPr bwMode="auto">
            <a:xfrm>
              <a:off x="2216" y="2063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3" name="Text Box 37"/>
            <p:cNvSpPr txBox="1">
              <a:spLocks noChangeArrowheads="1"/>
            </p:cNvSpPr>
            <p:nvPr/>
          </p:nvSpPr>
          <p:spPr bwMode="auto">
            <a:xfrm>
              <a:off x="2232" y="2654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4" name="Text Box 38"/>
            <p:cNvSpPr txBox="1">
              <a:spLocks noChangeArrowheads="1"/>
            </p:cNvSpPr>
            <p:nvPr/>
          </p:nvSpPr>
          <p:spPr bwMode="auto">
            <a:xfrm>
              <a:off x="2245" y="3203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5" name="AutoShape 39"/>
            <p:cNvSpPr>
              <a:spLocks noChangeArrowheads="1"/>
            </p:cNvSpPr>
            <p:nvPr/>
          </p:nvSpPr>
          <p:spPr bwMode="auto">
            <a:xfrm>
              <a:off x="863" y="2234"/>
              <a:ext cx="2668" cy="370"/>
            </a:xfrm>
            <a:prstGeom prst="flowChartDecision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6" name="Text Box 40"/>
            <p:cNvSpPr txBox="1">
              <a:spLocks noChangeArrowheads="1"/>
            </p:cNvSpPr>
            <p:nvPr/>
          </p:nvSpPr>
          <p:spPr bwMode="auto">
            <a:xfrm>
              <a:off x="3984" y="2542"/>
              <a:ext cx="1205" cy="31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  <p:sp>
          <p:nvSpPr>
            <p:cNvPr id="20517" name="Line 41"/>
            <p:cNvSpPr>
              <a:spLocks noChangeShapeType="1"/>
            </p:cNvSpPr>
            <p:nvPr/>
          </p:nvSpPr>
          <p:spPr bwMode="auto">
            <a:xfrm>
              <a:off x="3520" y="2407"/>
              <a:ext cx="10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Text Box 42"/>
            <p:cNvSpPr txBox="1">
              <a:spLocks noChangeArrowheads="1"/>
            </p:cNvSpPr>
            <p:nvPr/>
          </p:nvSpPr>
          <p:spPr bwMode="auto">
            <a:xfrm>
              <a:off x="3537" y="2205"/>
              <a:ext cx="47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solidFill>
                    <a:srgbClr val="FFFF66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000">
                <a:solidFill>
                  <a:srgbClr val="FFFF66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4.3 </a:t>
            </a:r>
            <a:r>
              <a:rPr lang="zh-CN" altLang="en-US" smtClean="0"/>
              <a:t>选择语句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1916113"/>
            <a:ext cx="4546600" cy="43211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rgbClr val="FF0000"/>
                </a:solidFill>
                <a:effectLst/>
              </a:rPr>
              <a:t>注意：</a:t>
            </a:r>
          </a:p>
          <a:p>
            <a:pPr marL="609600" indent="-6096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</a:pPr>
            <a:r>
              <a:rPr lang="en-US" altLang="zh-CN" sz="2400" b="1" smtClean="0">
                <a:effectLst/>
              </a:rPr>
              <a:t>default</a:t>
            </a:r>
            <a:r>
              <a:rPr lang="zh-CN" altLang="en-US" sz="2400" b="1" smtClean="0">
                <a:effectLst/>
              </a:rPr>
              <a:t>的位置可在任何地方，但按惯例都放在后面</a:t>
            </a:r>
          </a:p>
          <a:p>
            <a:pPr marL="609600" indent="-6096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</a:pPr>
            <a:r>
              <a:rPr lang="zh-CN" altLang="en-US" sz="2400" b="1" smtClean="0">
                <a:effectLst/>
              </a:rPr>
              <a:t>若干个入口可共用一段代码</a:t>
            </a:r>
          </a:p>
          <a:p>
            <a:pPr marL="609600" indent="-6096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</a:pPr>
            <a:r>
              <a:rPr lang="zh-CN" altLang="en-US" sz="2400" b="1" smtClean="0">
                <a:effectLst/>
              </a:rPr>
              <a:t>匹配某个常量后，执行相应的语句，直到</a:t>
            </a:r>
            <a:r>
              <a:rPr lang="en-US" altLang="zh-CN" sz="2400" b="1" smtClean="0">
                <a:effectLst/>
              </a:rPr>
              <a:t>switch</a:t>
            </a:r>
            <a:r>
              <a:rPr lang="zh-CN" altLang="zh-CN" sz="2400" b="1" smtClean="0">
                <a:effectLst/>
              </a:rPr>
              <a:t>语句的结束或遇到</a:t>
            </a:r>
            <a:r>
              <a:rPr lang="en-US" altLang="zh-CN" sz="2400" b="1" smtClean="0">
                <a:effectLst/>
              </a:rPr>
              <a:t>break</a:t>
            </a:r>
            <a:r>
              <a:rPr lang="zh-CN" altLang="zh-CN" sz="2400" b="1" smtClean="0">
                <a:effectLst/>
              </a:rPr>
              <a:t>语句</a:t>
            </a:r>
          </a:p>
          <a:p>
            <a:pPr marL="609600" indent="-6096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</a:pPr>
            <a:r>
              <a:rPr lang="en-US" altLang="zh-CN" sz="2400" b="1" smtClean="0">
                <a:solidFill>
                  <a:srgbClr val="FFFF66"/>
                </a:solidFill>
                <a:effectLst/>
              </a:rPr>
              <a:t>break</a:t>
            </a:r>
            <a:r>
              <a:rPr lang="zh-CN" altLang="en-US" sz="2400" b="1" smtClean="0">
                <a:solidFill>
                  <a:srgbClr val="FFFF66"/>
                </a:solidFill>
                <a:effectLst/>
              </a:rPr>
              <a:t>语句：在</a:t>
            </a:r>
            <a:r>
              <a:rPr lang="en-US" altLang="zh-CN" sz="2400" b="1" smtClean="0">
                <a:solidFill>
                  <a:srgbClr val="FFFF66"/>
                </a:solidFill>
                <a:effectLst/>
              </a:rPr>
              <a:t>switch</a:t>
            </a:r>
            <a:r>
              <a:rPr lang="zh-CN" altLang="en-US" sz="2400" b="1" smtClean="0">
                <a:solidFill>
                  <a:srgbClr val="FFFF66"/>
                </a:solidFill>
                <a:effectLst/>
              </a:rPr>
              <a:t>中的作用是结束</a:t>
            </a:r>
            <a:r>
              <a:rPr lang="en-US" altLang="zh-CN" sz="2400" b="1" smtClean="0">
                <a:solidFill>
                  <a:srgbClr val="FFFF66"/>
                </a:solidFill>
                <a:effectLst/>
              </a:rPr>
              <a:t>switch</a:t>
            </a:r>
          </a:p>
          <a:p>
            <a:pPr marL="609600" indent="-6096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</a:pPr>
            <a:r>
              <a:rPr lang="zh-CN" altLang="en-US" sz="2400" b="1" smtClean="0">
                <a:effectLst/>
              </a:rPr>
              <a:t>按编程序惯例，在最后一个分支后也加上</a:t>
            </a:r>
            <a:r>
              <a:rPr lang="en-US" altLang="zh-CN" sz="2400" b="1" smtClean="0">
                <a:effectLst/>
              </a:rPr>
              <a:t>break;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5543550" y="1916113"/>
            <a:ext cx="2773363" cy="436880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switch(fn/10)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case 10: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case  9: cout&lt;&lt;‘A’;  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break;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case  8: cout&lt;&lt;‘B’;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break;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case  7: cout&lt;&lt;‘C’;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break;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case  6: cout&lt;&lt;‘D’; 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break;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default:</a:t>
            </a:r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cout&lt;&lt;‘E’;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break;</a:t>
            </a:r>
          </a:p>
          <a:p>
            <a:pPr eaLnBrk="1" hangingPunct="1"/>
            <a:r>
              <a:rPr lang="en-US" altLang="zh-CN" sz="200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139952" y="1681114"/>
            <a:ext cx="4589648" cy="431963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有下面语句，输出结果为</a:t>
            </a:r>
            <a:r>
              <a:rPr lang="en-US" altLang="zh-CN" sz="2800" dirty="0"/>
              <a:t>_____</a:t>
            </a:r>
            <a:r>
              <a:rPr lang="zh-CN" altLang="en-US" sz="2800" dirty="0"/>
              <a:t>。</a:t>
            </a:r>
          </a:p>
          <a:p>
            <a:r>
              <a:rPr lang="en-US" altLang="zh-CN" sz="2800" dirty="0"/>
              <a:t>char c = 'B';</a:t>
            </a:r>
          </a:p>
          <a:p>
            <a:r>
              <a:rPr lang="en-US" altLang="zh-CN" sz="2800" dirty="0"/>
              <a:t>switch (c) {</a:t>
            </a:r>
          </a:p>
          <a:p>
            <a:r>
              <a:rPr lang="en-US" altLang="zh-CN" sz="2800" dirty="0" smtClean="0"/>
              <a:t>  case </a:t>
            </a:r>
            <a:r>
              <a:rPr lang="en-US" altLang="zh-CN" sz="2800" dirty="0"/>
              <a:t>'A':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"1";</a:t>
            </a:r>
          </a:p>
          <a:p>
            <a:r>
              <a:rPr lang="en-US" altLang="zh-CN" sz="2800" dirty="0" smtClean="0"/>
              <a:t>  case </a:t>
            </a:r>
            <a:r>
              <a:rPr lang="en-US" altLang="zh-CN" sz="2800" dirty="0"/>
              <a:t>'B':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"2";</a:t>
            </a:r>
          </a:p>
          <a:p>
            <a:r>
              <a:rPr lang="en-US" altLang="zh-CN" sz="2800" dirty="0" smtClean="0"/>
              <a:t>  case </a:t>
            </a:r>
            <a:r>
              <a:rPr lang="en-US" altLang="zh-CN" sz="2800" dirty="0"/>
              <a:t>'C':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"3";</a:t>
            </a:r>
          </a:p>
          <a:p>
            <a:r>
              <a:rPr lang="en-US" altLang="zh-CN" sz="2800" dirty="0" smtClean="0"/>
              <a:t>  default</a:t>
            </a:r>
            <a:r>
              <a:rPr lang="en-US" altLang="zh-CN" sz="2800" dirty="0"/>
              <a:t>: 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"4";</a:t>
            </a:r>
          </a:p>
          <a:p>
            <a:r>
              <a:rPr lang="en-US" altLang="zh-CN" sz="2800" dirty="0"/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618613" y="2204864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618613" y="3062114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23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618613" y="3919364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234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618613" y="4776614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编译出错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904238" y="226915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904238" y="312640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904238" y="398365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904238" y="484090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161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29465" y="1916832"/>
            <a:ext cx="8451383" cy="441975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题目内容：</a:t>
            </a:r>
            <a:endParaRPr lang="zh-CN" altLang="en-US" sz="2400" b="0" dirty="0"/>
          </a:p>
          <a:p>
            <a:r>
              <a:rPr lang="zh-CN" altLang="en-US" sz="2400" b="0" dirty="0"/>
              <a:t>计算某年某月某日是该年中的第几天</a:t>
            </a:r>
            <a:r>
              <a:rPr lang="zh-CN" altLang="en-US" sz="2400" b="0" dirty="0" smtClean="0"/>
              <a:t>。依次</a:t>
            </a:r>
            <a:r>
              <a:rPr lang="zh-CN" altLang="en-US" sz="2400" b="0" dirty="0"/>
              <a:t>输入年、月和</a:t>
            </a:r>
            <a:r>
              <a:rPr lang="zh-CN" altLang="en-US" sz="2400" b="0" dirty="0" smtClean="0"/>
              <a:t>日，计算并输出</a:t>
            </a:r>
            <a:r>
              <a:rPr lang="zh-CN" altLang="en-US" sz="2400" b="0" dirty="0"/>
              <a:t>这一天是该年中的第几天。</a:t>
            </a:r>
            <a:r>
              <a:rPr lang="zh-CN" altLang="en-US" sz="2400" b="0" u="sng" dirty="0"/>
              <a:t>注意年月日合法性的判定和闰年的</a:t>
            </a:r>
            <a:r>
              <a:rPr lang="zh-CN" altLang="en-US" sz="2400" b="0" u="sng" dirty="0" smtClean="0"/>
              <a:t>计算</a:t>
            </a:r>
            <a:r>
              <a:rPr lang="zh-CN" altLang="en-US" sz="2400" b="0" dirty="0"/>
              <a:t/>
            </a:r>
            <a:br>
              <a:rPr lang="zh-CN" altLang="en-US" sz="2400" b="0" dirty="0"/>
            </a:br>
            <a:r>
              <a:rPr lang="zh-CN" altLang="en-US" sz="2400" dirty="0" smtClean="0"/>
              <a:t>输入</a:t>
            </a:r>
            <a:r>
              <a:rPr lang="zh-CN" altLang="en-US" sz="2400" dirty="0"/>
              <a:t>样例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b="0" dirty="0"/>
              <a:t/>
            </a:r>
            <a:br>
              <a:rPr lang="zh-CN" altLang="en-US" sz="2400" b="0" dirty="0"/>
            </a:br>
            <a:r>
              <a:rPr lang="en-US" altLang="zh-CN" sz="2400" b="0" dirty="0" smtClean="0"/>
              <a:t>2009 </a:t>
            </a:r>
            <a:r>
              <a:rPr lang="en-US" altLang="zh-CN" sz="2400" b="0" dirty="0"/>
              <a:t>3 </a:t>
            </a:r>
            <a:r>
              <a:rPr lang="en-US" altLang="zh-CN" sz="2400" b="0" dirty="0" smtClean="0"/>
              <a:t>2</a:t>
            </a:r>
            <a:endParaRPr lang="en-US" altLang="zh-CN" sz="2400" b="0" dirty="0"/>
          </a:p>
          <a:p>
            <a:r>
              <a:rPr lang="zh-CN" altLang="en-US" sz="2400" dirty="0"/>
              <a:t>输出样例</a:t>
            </a:r>
            <a:r>
              <a:rPr lang="en-US" altLang="zh-CN" sz="2400" dirty="0"/>
              <a:t>1</a:t>
            </a:r>
            <a:r>
              <a:rPr lang="zh-CN" altLang="en-US" sz="2400" dirty="0" smtClean="0"/>
              <a:t>：</a:t>
            </a:r>
            <a:endParaRPr lang="zh-CN" altLang="en-US" sz="2400" b="0" dirty="0"/>
          </a:p>
          <a:p>
            <a:r>
              <a:rPr lang="zh-CN" altLang="en-US" sz="2400" b="0" dirty="0"/>
              <a:t>这是</a:t>
            </a:r>
            <a:r>
              <a:rPr lang="en-US" altLang="zh-CN" sz="2400" b="0" dirty="0"/>
              <a:t>2009</a:t>
            </a:r>
            <a:r>
              <a:rPr lang="zh-CN" altLang="en-US" sz="2400" b="0" dirty="0"/>
              <a:t>年的第</a:t>
            </a:r>
            <a:r>
              <a:rPr lang="en-US" altLang="zh-CN" sz="2400" b="0" dirty="0"/>
              <a:t>61</a:t>
            </a:r>
            <a:r>
              <a:rPr lang="zh-CN" altLang="en-US" sz="2400" b="0" dirty="0" smtClean="0"/>
              <a:t>天</a:t>
            </a:r>
            <a:endParaRPr lang="zh-CN" altLang="en-US" sz="2400" b="0" dirty="0"/>
          </a:p>
          <a:p>
            <a:r>
              <a:rPr lang="zh-CN" altLang="en-US" sz="2400" dirty="0"/>
              <a:t>输入样例</a:t>
            </a:r>
            <a:r>
              <a:rPr lang="en-US" altLang="zh-CN" sz="2400" dirty="0"/>
              <a:t>2</a:t>
            </a:r>
            <a:r>
              <a:rPr lang="zh-CN" altLang="en-US" sz="2400" dirty="0" smtClean="0"/>
              <a:t>：</a:t>
            </a:r>
            <a:endParaRPr lang="zh-CN" altLang="en-US" sz="2400" b="0" dirty="0"/>
          </a:p>
          <a:p>
            <a:r>
              <a:rPr lang="en-US" altLang="zh-CN" sz="2400" b="0" dirty="0"/>
              <a:t>2009 3 </a:t>
            </a:r>
            <a:r>
              <a:rPr lang="en-US" altLang="zh-CN" sz="2400" b="0" dirty="0" smtClean="0"/>
              <a:t>32</a:t>
            </a:r>
            <a:endParaRPr lang="en-US" altLang="zh-CN" sz="2400" b="0" dirty="0"/>
          </a:p>
          <a:p>
            <a:r>
              <a:rPr lang="zh-CN" altLang="en-US" sz="2400" dirty="0"/>
              <a:t>输出样例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zh-CN" altLang="en-US" sz="2400" b="0" dirty="0"/>
              <a:t/>
            </a:r>
            <a:br>
              <a:rPr lang="zh-CN" altLang="en-US" sz="2400" b="0" dirty="0"/>
            </a:br>
            <a:r>
              <a:rPr lang="zh-CN" altLang="en-US" sz="2400" b="0" dirty="0" smtClean="0"/>
              <a:t>日期</a:t>
            </a:r>
            <a:r>
              <a:rPr lang="zh-CN" altLang="en-US" sz="2400" b="0" dirty="0"/>
              <a:t>有误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300192" y="4437112"/>
            <a:ext cx="21304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测试通过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300192" y="5294362"/>
            <a:ext cx="21304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测试未通过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5585817" y="450140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5585817" y="53586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29465" y="898758"/>
            <a:ext cx="8229600" cy="60727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r>
              <a:rPr lang="zh-CN" altLang="en-US" sz="3200" kern="0" dirty="0" smtClean="0"/>
              <a:t>编程练习</a:t>
            </a:r>
            <a:r>
              <a:rPr lang="en-US" altLang="zh-CN" sz="3200" kern="0" dirty="0" smtClean="0"/>
              <a:t>-</a:t>
            </a:r>
            <a:r>
              <a:rPr lang="zh-CN" altLang="en-US" sz="3200" kern="0" dirty="0" smtClean="0"/>
              <a:t>第几天</a:t>
            </a:r>
            <a:endParaRPr lang="zh-CN" altLang="en-US" sz="3200" kern="0" dirty="0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843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3088"/>
            <a:ext cx="3382962" cy="36734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effectLst/>
              </a:rPr>
              <a:t>例：求</a:t>
            </a:r>
            <a:r>
              <a:rPr lang="en-US" altLang="zh-CN" sz="2400" b="1" smtClean="0">
                <a:effectLst/>
              </a:rPr>
              <a:t>1</a:t>
            </a:r>
            <a:r>
              <a:rPr lang="zh-CN" altLang="en-US" sz="2400" b="1" smtClean="0">
                <a:effectLst/>
              </a:rPr>
              <a:t>到</a:t>
            </a:r>
            <a:r>
              <a:rPr lang="en-US" altLang="zh-CN" sz="2400" b="1" smtClean="0">
                <a:effectLst/>
              </a:rPr>
              <a:t>5</a:t>
            </a:r>
            <a:r>
              <a:rPr lang="zh-CN" altLang="en-US" sz="2400" b="1" smtClean="0">
                <a:effectLst/>
              </a:rPr>
              <a:t>的累加：</a:t>
            </a:r>
            <a:r>
              <a:rPr lang="en-US" altLang="zh-CN" sz="2400" b="1" smtClean="0">
                <a:effectLst/>
              </a:rPr>
              <a:t>sum=1+2+3+4+5;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 smtClean="0">
              <a:effectLst/>
            </a:endParaRP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</a:t>
            </a:r>
            <a:r>
              <a:rPr lang="zh-CN" altLang="en-US" sz="2400" b="1" smtClean="0">
                <a:effectLst/>
              </a:rPr>
              <a:t>求</a:t>
            </a:r>
            <a:r>
              <a:rPr lang="en-US" altLang="zh-CN" sz="2400" b="1" smtClean="0">
                <a:effectLst/>
              </a:rPr>
              <a:t>1</a:t>
            </a:r>
            <a:r>
              <a:rPr lang="zh-CN" altLang="en-US" sz="2400" b="1" smtClean="0">
                <a:effectLst/>
              </a:rPr>
              <a:t>到</a:t>
            </a:r>
            <a:r>
              <a:rPr lang="en-US" altLang="zh-CN" sz="2400" b="1" smtClean="0">
                <a:effectLst/>
              </a:rPr>
              <a:t>100</a:t>
            </a:r>
            <a:r>
              <a:rPr lang="zh-CN" altLang="en-US" sz="2400" b="1" smtClean="0">
                <a:effectLst/>
              </a:rPr>
              <a:t>的累加：</a:t>
            </a:r>
            <a:r>
              <a:rPr lang="en-US" altLang="zh-CN" sz="2400" b="1" smtClean="0">
                <a:effectLst/>
              </a:rPr>
              <a:t>sum=1+2+3+4+5+6+7+8+9+10+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……</a:t>
            </a:r>
            <a:r>
              <a:rPr lang="en-US" altLang="zh-CN" sz="2400" b="1" smtClean="0">
                <a:effectLst/>
              </a:rPr>
              <a:t>+97+98+99+100;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716463" y="1557338"/>
            <a:ext cx="3887787" cy="4967287"/>
            <a:chOff x="2971" y="981"/>
            <a:chExt cx="2449" cy="3129"/>
          </a:xfrm>
        </p:grpSpPr>
        <p:grpSp>
          <p:nvGrpSpPr>
            <p:cNvPr id="24581" name="Group 46"/>
            <p:cNvGrpSpPr>
              <a:grpSpLocks/>
            </p:cNvGrpSpPr>
            <p:nvPr/>
          </p:nvGrpSpPr>
          <p:grpSpPr bwMode="auto">
            <a:xfrm>
              <a:off x="2971" y="981"/>
              <a:ext cx="2449" cy="3129"/>
              <a:chOff x="3016" y="981"/>
              <a:chExt cx="2330" cy="3129"/>
            </a:xfrm>
          </p:grpSpPr>
          <p:sp>
            <p:nvSpPr>
              <p:cNvPr id="24585" name="AutoShape 28"/>
              <p:cNvSpPr>
                <a:spLocks noChangeArrowheads="1"/>
              </p:cNvSpPr>
              <p:nvPr/>
            </p:nvSpPr>
            <p:spPr bwMode="auto">
              <a:xfrm>
                <a:off x="3628" y="981"/>
                <a:ext cx="1115" cy="231"/>
              </a:xfrm>
              <a:prstGeom prst="flowChartAlternateProcess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开始</a:t>
                </a:r>
                <a:endParaRPr lang="zh-CN" altLang="en-US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24586" name="Text Box 29"/>
              <p:cNvSpPr txBox="1">
                <a:spLocks noChangeArrowheads="1"/>
              </p:cNvSpPr>
              <p:nvPr/>
            </p:nvSpPr>
            <p:spPr bwMode="auto">
              <a:xfrm>
                <a:off x="3400" y="1378"/>
                <a:ext cx="1654" cy="31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sum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清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i=1</a:t>
                </a:r>
                <a:endParaRPr lang="en-US" altLang="zh-CN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24587" name="Line 30"/>
              <p:cNvSpPr>
                <a:spLocks noChangeShapeType="1"/>
              </p:cNvSpPr>
              <p:nvPr/>
            </p:nvSpPr>
            <p:spPr bwMode="auto">
              <a:xfrm>
                <a:off x="4176" y="1226"/>
                <a:ext cx="0" cy="1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88" name="AutoShape 31"/>
              <p:cNvSpPr>
                <a:spLocks noChangeArrowheads="1"/>
              </p:cNvSpPr>
              <p:nvPr/>
            </p:nvSpPr>
            <p:spPr bwMode="auto">
              <a:xfrm>
                <a:off x="3519" y="1948"/>
                <a:ext cx="1297" cy="404"/>
              </a:xfrm>
              <a:prstGeom prst="flowChartDecision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i&lt;= 100?</a:t>
                </a:r>
              </a:p>
            </p:txBody>
          </p:sp>
          <p:sp>
            <p:nvSpPr>
              <p:cNvPr id="24589" name="Line 32"/>
              <p:cNvSpPr>
                <a:spLocks noChangeShapeType="1"/>
              </p:cNvSpPr>
              <p:nvPr/>
            </p:nvSpPr>
            <p:spPr bwMode="auto">
              <a:xfrm>
                <a:off x="4158" y="1688"/>
                <a:ext cx="0" cy="27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0" name="Line 33"/>
              <p:cNvSpPr>
                <a:spLocks noChangeShapeType="1"/>
              </p:cNvSpPr>
              <p:nvPr/>
            </p:nvSpPr>
            <p:spPr bwMode="auto">
              <a:xfrm>
                <a:off x="4177" y="2341"/>
                <a:ext cx="0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1" name="Text Box 34"/>
              <p:cNvSpPr txBox="1">
                <a:spLocks noChangeArrowheads="1"/>
              </p:cNvSpPr>
              <p:nvPr/>
            </p:nvSpPr>
            <p:spPr bwMode="auto">
              <a:xfrm>
                <a:off x="3696" y="2568"/>
                <a:ext cx="907" cy="41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加到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sum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中</a:t>
                </a:r>
              </a:p>
              <a:p>
                <a:pPr algn="just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i=i+1</a:t>
                </a:r>
                <a:endParaRPr lang="en-US" altLang="zh-CN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24592" name="Line 35"/>
              <p:cNvSpPr>
                <a:spLocks noChangeShapeType="1"/>
              </p:cNvSpPr>
              <p:nvPr/>
            </p:nvSpPr>
            <p:spPr bwMode="auto">
              <a:xfrm>
                <a:off x="4140" y="2994"/>
                <a:ext cx="0" cy="1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3" name="Line 36"/>
              <p:cNvSpPr>
                <a:spLocks noChangeShapeType="1"/>
              </p:cNvSpPr>
              <p:nvPr/>
            </p:nvSpPr>
            <p:spPr bwMode="auto">
              <a:xfrm>
                <a:off x="3016" y="3160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4" name="Line 37"/>
              <p:cNvSpPr>
                <a:spLocks noChangeShapeType="1"/>
              </p:cNvSpPr>
              <p:nvPr/>
            </p:nvSpPr>
            <p:spPr bwMode="auto">
              <a:xfrm flipV="1">
                <a:off x="3016" y="1842"/>
                <a:ext cx="0" cy="131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5" name="Line 38"/>
              <p:cNvSpPr>
                <a:spLocks noChangeShapeType="1"/>
              </p:cNvSpPr>
              <p:nvPr/>
            </p:nvSpPr>
            <p:spPr bwMode="auto">
              <a:xfrm>
                <a:off x="3016" y="1842"/>
                <a:ext cx="109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6" name="Line 39"/>
              <p:cNvSpPr>
                <a:spLocks noChangeShapeType="1"/>
              </p:cNvSpPr>
              <p:nvPr/>
            </p:nvSpPr>
            <p:spPr bwMode="auto">
              <a:xfrm>
                <a:off x="4816" y="2150"/>
                <a:ext cx="5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7" name="Line 40"/>
              <p:cNvSpPr>
                <a:spLocks noChangeShapeType="1"/>
              </p:cNvSpPr>
              <p:nvPr/>
            </p:nvSpPr>
            <p:spPr bwMode="auto">
              <a:xfrm flipH="1">
                <a:off x="5329" y="2157"/>
                <a:ext cx="8" cy="10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8" name="Line 41"/>
              <p:cNvSpPr>
                <a:spLocks noChangeShapeType="1"/>
              </p:cNvSpPr>
              <p:nvPr/>
            </p:nvSpPr>
            <p:spPr bwMode="auto">
              <a:xfrm flipH="1">
                <a:off x="3994" y="3249"/>
                <a:ext cx="13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9" name="Text Box 42"/>
              <p:cNvSpPr txBox="1">
                <a:spLocks noChangeArrowheads="1"/>
              </p:cNvSpPr>
              <p:nvPr/>
            </p:nvSpPr>
            <p:spPr bwMode="auto">
              <a:xfrm>
                <a:off x="3546" y="3394"/>
                <a:ext cx="923" cy="21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输出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sum</a:t>
                </a:r>
                <a:endParaRPr lang="en-US" altLang="zh-CN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24600" name="Line 43"/>
              <p:cNvSpPr>
                <a:spLocks noChangeShapeType="1"/>
              </p:cNvSpPr>
              <p:nvPr/>
            </p:nvSpPr>
            <p:spPr bwMode="auto">
              <a:xfrm>
                <a:off x="4003" y="3249"/>
                <a:ext cx="0" cy="1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1" name="AutoShape 44"/>
              <p:cNvSpPr>
                <a:spLocks noChangeArrowheads="1"/>
              </p:cNvSpPr>
              <p:nvPr/>
            </p:nvSpPr>
            <p:spPr bwMode="auto">
              <a:xfrm>
                <a:off x="3692" y="3841"/>
                <a:ext cx="640" cy="269"/>
              </a:xfrm>
              <a:prstGeom prst="flowChartAlternateProcess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结束</a:t>
                </a:r>
                <a:endParaRPr lang="zh-CN" altLang="en-US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24602" name="Line 45"/>
              <p:cNvSpPr>
                <a:spLocks noChangeShapeType="1"/>
              </p:cNvSpPr>
              <p:nvPr/>
            </p:nvSpPr>
            <p:spPr bwMode="auto">
              <a:xfrm>
                <a:off x="4003" y="3632"/>
                <a:ext cx="0" cy="2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582" name="Group 49"/>
            <p:cNvGrpSpPr>
              <a:grpSpLocks/>
            </p:cNvGrpSpPr>
            <p:nvPr/>
          </p:nvGrpSpPr>
          <p:grpSpPr bwMode="auto">
            <a:xfrm>
              <a:off x="3878" y="1933"/>
              <a:ext cx="1074" cy="639"/>
              <a:chOff x="3878" y="1933"/>
              <a:chExt cx="1074" cy="639"/>
            </a:xfrm>
          </p:grpSpPr>
          <p:sp>
            <p:nvSpPr>
              <p:cNvPr id="24583" name="Text Box 47"/>
              <p:cNvSpPr txBox="1">
                <a:spLocks noChangeArrowheads="1"/>
              </p:cNvSpPr>
              <p:nvPr/>
            </p:nvSpPr>
            <p:spPr bwMode="auto">
              <a:xfrm>
                <a:off x="3878" y="2341"/>
                <a:ext cx="20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/>
                  <a:t>F</a:t>
                </a:r>
              </a:p>
            </p:txBody>
          </p:sp>
          <p:sp>
            <p:nvSpPr>
              <p:cNvPr id="24584" name="Text Box 48"/>
              <p:cNvSpPr txBox="1">
                <a:spLocks noChangeArrowheads="1"/>
              </p:cNvSpPr>
              <p:nvPr/>
            </p:nvSpPr>
            <p:spPr bwMode="auto">
              <a:xfrm>
                <a:off x="4740" y="1933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/>
                  <a:t>T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268413"/>
            <a:ext cx="8686800" cy="1512887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smtClean="0">
                <a:effectLst/>
              </a:rPr>
              <a:t>例：求</a:t>
            </a:r>
            <a:r>
              <a:rPr lang="en-US" altLang="zh-CN" sz="2400" b="1" smtClean="0">
                <a:effectLst/>
              </a:rPr>
              <a:t>1</a:t>
            </a:r>
            <a:r>
              <a:rPr lang="zh-CN" altLang="en-US" sz="2400" b="1" smtClean="0">
                <a:effectLst/>
              </a:rPr>
              <a:t>到</a:t>
            </a:r>
            <a:r>
              <a:rPr lang="en-US" altLang="zh-CN" sz="2400" b="1" smtClean="0">
                <a:effectLst/>
              </a:rPr>
              <a:t>5</a:t>
            </a:r>
            <a:r>
              <a:rPr lang="zh-CN" altLang="en-US" sz="2400" b="1" smtClean="0">
                <a:effectLst/>
              </a:rPr>
              <a:t>的累加：</a:t>
            </a:r>
            <a:r>
              <a:rPr lang="en-US" altLang="zh-CN" sz="2400" b="1" smtClean="0">
                <a:effectLst/>
              </a:rPr>
              <a:t>sum=1+2+3+4+5;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smtClean="0">
                <a:effectLst/>
              </a:rPr>
              <a:t>求</a:t>
            </a:r>
            <a:r>
              <a:rPr lang="en-US" altLang="zh-CN" sz="2400" b="1" smtClean="0">
                <a:effectLst/>
              </a:rPr>
              <a:t>1</a:t>
            </a:r>
            <a:r>
              <a:rPr lang="zh-CN" altLang="en-US" sz="2400" b="1" smtClean="0">
                <a:effectLst/>
              </a:rPr>
              <a:t>到</a:t>
            </a:r>
            <a:r>
              <a:rPr lang="en-US" altLang="zh-CN" sz="2400" b="1" smtClean="0">
                <a:effectLst/>
              </a:rPr>
              <a:t>20</a:t>
            </a:r>
            <a:r>
              <a:rPr lang="zh-CN" altLang="en-US" sz="2400" b="1" smtClean="0">
                <a:effectLst/>
              </a:rPr>
              <a:t>的累加：</a:t>
            </a:r>
            <a:r>
              <a:rPr lang="en-US" altLang="zh-CN" sz="2400" b="1" smtClean="0">
                <a:effectLst/>
              </a:rPr>
              <a:t>sum=1+2+3+4+5+6+7+8+9+10+11+12+13+14+15+16+17+18+19+20;</a:t>
            </a:r>
            <a:endParaRPr lang="en-US" altLang="zh-CN" sz="2400" smtClean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2781300"/>
            <a:ext cx="2952750" cy="1512888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</a:pPr>
            <a:r>
              <a:rPr lang="en-US" altLang="zh-CN" sz="2400" b="1" smtClean="0">
                <a:effectLst/>
              </a:rPr>
              <a:t>while </a:t>
            </a:r>
            <a:r>
              <a:rPr lang="zh-CN" altLang="en-US" sz="2400" b="1" smtClean="0">
                <a:effectLst/>
              </a:rPr>
              <a:t>循环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effectLst/>
              </a:rPr>
              <a:t>　格式： </a:t>
            </a:r>
            <a:br>
              <a:rPr lang="zh-CN" altLang="en-US" sz="2400" b="1" smtClean="0">
                <a:effectLst/>
              </a:rPr>
            </a:br>
            <a:r>
              <a:rPr lang="en-US" altLang="zh-CN" sz="2400" b="1" smtClean="0">
                <a:effectLst/>
              </a:rPr>
              <a:t>while (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)</a:t>
            </a:r>
            <a:br>
              <a:rPr lang="en-US" altLang="zh-CN" sz="2400" b="1" smtClean="0">
                <a:effectLst/>
              </a:rPr>
            </a:br>
            <a:r>
              <a:rPr lang="zh-CN" altLang="en-US" sz="2400" b="1" smtClean="0">
                <a:effectLst/>
              </a:rPr>
              <a:t>　循环体语句</a:t>
            </a:r>
            <a:r>
              <a:rPr lang="en-US" altLang="zh-CN" sz="2400" b="1" smtClean="0">
                <a:effectLst/>
              </a:rPr>
              <a:t>;</a:t>
            </a:r>
            <a:br>
              <a:rPr lang="en-US" altLang="zh-CN" sz="2400" b="1" smtClean="0">
                <a:effectLst/>
              </a:rPr>
            </a:br>
            <a:endParaRPr lang="en-US" altLang="zh-CN" sz="2400" b="1" smtClean="0">
              <a:effectLst/>
            </a:endParaRPr>
          </a:p>
        </p:txBody>
      </p:sp>
      <p:sp>
        <p:nvSpPr>
          <p:cNvPr id="161797" name="Line 5"/>
          <p:cNvSpPr>
            <a:spLocks noChangeShapeType="1"/>
          </p:cNvSpPr>
          <p:nvPr/>
        </p:nvSpPr>
        <p:spPr bwMode="auto">
          <a:xfrm>
            <a:off x="6084888" y="31416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798" name="AutoShape 6"/>
          <p:cNvSpPr>
            <a:spLocks noChangeArrowheads="1"/>
          </p:cNvSpPr>
          <p:nvPr/>
        </p:nvSpPr>
        <p:spPr bwMode="auto">
          <a:xfrm>
            <a:off x="5292725" y="3789363"/>
            <a:ext cx="1584325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</a:p>
        </p:txBody>
      </p:sp>
      <p:sp>
        <p:nvSpPr>
          <p:cNvPr id="161799" name="AutoShape 7"/>
          <p:cNvSpPr>
            <a:spLocks noChangeArrowheads="1"/>
          </p:cNvSpPr>
          <p:nvPr/>
        </p:nvSpPr>
        <p:spPr bwMode="auto">
          <a:xfrm>
            <a:off x="5219700" y="4724400"/>
            <a:ext cx="1728788" cy="50482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循环体语句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084888" y="4221163"/>
            <a:ext cx="503237" cy="503237"/>
            <a:chOff x="3878" y="1706"/>
            <a:chExt cx="317" cy="317"/>
          </a:xfrm>
        </p:grpSpPr>
        <p:sp>
          <p:nvSpPr>
            <p:cNvPr id="25621" name="Line 9"/>
            <p:cNvSpPr>
              <a:spLocks noChangeShapeType="1"/>
            </p:cNvSpPr>
            <p:nvPr/>
          </p:nvSpPr>
          <p:spPr bwMode="auto">
            <a:xfrm>
              <a:off x="3878" y="1706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Text Box 10"/>
            <p:cNvSpPr txBox="1">
              <a:spLocks noChangeArrowheads="1"/>
            </p:cNvSpPr>
            <p:nvPr/>
          </p:nvSpPr>
          <p:spPr bwMode="auto">
            <a:xfrm>
              <a:off x="3980" y="1747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084888" y="3638550"/>
            <a:ext cx="1584325" cy="2743200"/>
            <a:chOff x="3833" y="2201"/>
            <a:chExt cx="998" cy="1728"/>
          </a:xfrm>
        </p:grpSpPr>
        <p:sp>
          <p:nvSpPr>
            <p:cNvPr id="25616" name="Line 12"/>
            <p:cNvSpPr>
              <a:spLocks noChangeShapeType="1"/>
            </p:cNvSpPr>
            <p:nvPr/>
          </p:nvSpPr>
          <p:spPr bwMode="auto">
            <a:xfrm>
              <a:off x="3833" y="3657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13"/>
            <p:cNvSpPr>
              <a:spLocks noChangeShapeType="1"/>
            </p:cNvSpPr>
            <p:nvPr/>
          </p:nvSpPr>
          <p:spPr bwMode="auto">
            <a:xfrm>
              <a:off x="4287" y="243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14"/>
            <p:cNvSpPr>
              <a:spLocks noChangeShapeType="1"/>
            </p:cNvSpPr>
            <p:nvPr/>
          </p:nvSpPr>
          <p:spPr bwMode="auto">
            <a:xfrm flipH="1">
              <a:off x="4830" y="2432"/>
              <a:ext cx="1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15"/>
            <p:cNvSpPr>
              <a:spLocks noChangeShapeType="1"/>
            </p:cNvSpPr>
            <p:nvPr/>
          </p:nvSpPr>
          <p:spPr bwMode="auto">
            <a:xfrm flipH="1">
              <a:off x="3833" y="3657"/>
              <a:ext cx="9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Text Box 16"/>
            <p:cNvSpPr txBox="1">
              <a:spLocks noChangeArrowheads="1"/>
            </p:cNvSpPr>
            <p:nvPr/>
          </p:nvSpPr>
          <p:spPr bwMode="auto">
            <a:xfrm>
              <a:off x="4389" y="2201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003800" y="3502025"/>
            <a:ext cx="1081088" cy="2087563"/>
            <a:chOff x="3152" y="2115"/>
            <a:chExt cx="681" cy="1315"/>
          </a:xfrm>
        </p:grpSpPr>
        <p:sp>
          <p:nvSpPr>
            <p:cNvPr id="25612" name="Line 18"/>
            <p:cNvSpPr>
              <a:spLocks noChangeShapeType="1"/>
            </p:cNvSpPr>
            <p:nvPr/>
          </p:nvSpPr>
          <p:spPr bwMode="auto">
            <a:xfrm>
              <a:off x="3833" y="320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Line 19"/>
            <p:cNvSpPr>
              <a:spLocks noChangeShapeType="1"/>
            </p:cNvSpPr>
            <p:nvPr/>
          </p:nvSpPr>
          <p:spPr bwMode="auto">
            <a:xfrm flipH="1">
              <a:off x="3152" y="3430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Line 20"/>
            <p:cNvSpPr>
              <a:spLocks noChangeShapeType="1"/>
            </p:cNvSpPr>
            <p:nvPr/>
          </p:nvSpPr>
          <p:spPr bwMode="auto">
            <a:xfrm flipV="1">
              <a:off x="3152" y="2115"/>
              <a:ext cx="0" cy="13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Line 21"/>
            <p:cNvSpPr>
              <a:spLocks noChangeShapeType="1"/>
            </p:cNvSpPr>
            <p:nvPr/>
          </p:nvSpPr>
          <p:spPr bwMode="auto">
            <a:xfrm>
              <a:off x="3152" y="2115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1814" name="Text Box 22"/>
          <p:cNvSpPr txBox="1">
            <a:spLocks noChangeArrowheads="1"/>
          </p:cNvSpPr>
          <p:nvPr/>
        </p:nvSpPr>
        <p:spPr bwMode="auto">
          <a:xfrm>
            <a:off x="1298575" y="4525963"/>
            <a:ext cx="1978025" cy="1927225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int sum=0;     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int i=1;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while(i&lt;=100)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{  sum+=i;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 i++; 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animBg="1"/>
      <p:bldP spid="161798" grpId="0" animBg="1"/>
      <p:bldP spid="161799" grpId="0" animBg="1"/>
      <p:bldP spid="1618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644008" y="1412776"/>
            <a:ext cx="3441576" cy="380319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有下面语句，输出结果为</a:t>
            </a:r>
            <a:r>
              <a:rPr lang="en-US" altLang="zh-CN" sz="2800" dirty="0"/>
              <a:t>_____</a:t>
            </a:r>
            <a:r>
              <a:rPr lang="zh-CN" altLang="en-US" sz="2800" dirty="0"/>
              <a:t>。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d = 3,c = 0;</a:t>
            </a:r>
          </a:p>
          <a:p>
            <a:r>
              <a:rPr lang="en-US" altLang="zh-CN" sz="2800" dirty="0"/>
              <a:t>while (d &lt; 7</a:t>
            </a:r>
            <a:r>
              <a:rPr lang="en-US" altLang="zh-CN" sz="2800" dirty="0" smtClean="0"/>
              <a:t>)</a:t>
            </a:r>
          </a:p>
          <a:p>
            <a:r>
              <a:rPr lang="en-US" altLang="zh-CN" sz="2800" dirty="0" smtClean="0"/>
              <a:t>    d</a:t>
            </a:r>
            <a:r>
              <a:rPr lang="en-US" altLang="zh-CN" sz="2800" dirty="0"/>
              <a:t>++; </a:t>
            </a:r>
            <a:r>
              <a:rPr lang="en-US" altLang="zh-CN" sz="2800" dirty="0" err="1"/>
              <a:t>c++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 err="1"/>
              <a:t>cout</a:t>
            </a:r>
            <a:r>
              <a:rPr lang="en-US" altLang="zh-CN" sz="2800" dirty="0"/>
              <a:t> &lt;&lt; c &lt;&lt; 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331640" y="227687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331640" y="313412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331640" y="399137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331640" y="484862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以上选项均不对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17265" y="23411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17265" y="31984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17265" y="40556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17265" y="491291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1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2625" y="1773238"/>
            <a:ext cx="3168650" cy="2016125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 startAt="2"/>
            </a:pPr>
            <a:r>
              <a:rPr lang="en-US" altLang="zh-CN" sz="2400" b="1" smtClean="0">
                <a:effectLst/>
              </a:rPr>
              <a:t>do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while </a:t>
            </a:r>
            <a:r>
              <a:rPr lang="zh-CN" altLang="en-US" sz="2400" b="1" smtClean="0">
                <a:effectLst/>
              </a:rPr>
              <a:t>循环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effectLst/>
              </a:rPr>
              <a:t>　格式： </a:t>
            </a:r>
            <a:br>
              <a:rPr lang="zh-CN" altLang="en-US" sz="2400" b="1" smtClean="0">
                <a:effectLst/>
              </a:rPr>
            </a:br>
            <a:r>
              <a:rPr lang="en-US" altLang="zh-CN" sz="2400" b="1" smtClean="0">
                <a:effectLst/>
              </a:rPr>
              <a:t>do </a:t>
            </a:r>
            <a:r>
              <a:rPr lang="zh-CN" altLang="en-US" sz="2400" b="1" smtClean="0">
                <a:effectLst/>
              </a:rPr>
              <a:t>　</a:t>
            </a:r>
            <a:br>
              <a:rPr lang="zh-CN" altLang="en-US" sz="2400" b="1" smtClean="0">
                <a:effectLst/>
              </a:rPr>
            </a:br>
            <a:r>
              <a:rPr lang="zh-CN" altLang="en-US" sz="2400" b="1" smtClean="0">
                <a:effectLst/>
              </a:rPr>
              <a:t>　循环体语句</a:t>
            </a:r>
            <a:r>
              <a:rPr lang="en-US" altLang="zh-CN" sz="2400" b="1" smtClean="0">
                <a:effectLst/>
              </a:rPr>
              <a:t>;</a:t>
            </a:r>
            <a:br>
              <a:rPr lang="en-US" altLang="zh-CN" sz="2400" b="1" smtClean="0">
                <a:effectLst/>
              </a:rPr>
            </a:br>
            <a:r>
              <a:rPr lang="en-US" altLang="zh-CN" sz="2400" b="1" smtClean="0">
                <a:effectLst/>
              </a:rPr>
              <a:t>while (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);</a:t>
            </a:r>
          </a:p>
        </p:txBody>
      </p:sp>
      <p:sp>
        <p:nvSpPr>
          <p:cNvPr id="124933" name="Line 5"/>
          <p:cNvSpPr>
            <a:spLocks noChangeShapeType="1"/>
          </p:cNvSpPr>
          <p:nvPr/>
        </p:nvSpPr>
        <p:spPr bwMode="auto">
          <a:xfrm>
            <a:off x="6156325" y="2271713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4" name="AutoShape 6"/>
          <p:cNvSpPr>
            <a:spLocks noChangeArrowheads="1"/>
          </p:cNvSpPr>
          <p:nvPr/>
        </p:nvSpPr>
        <p:spPr bwMode="auto">
          <a:xfrm>
            <a:off x="5364163" y="3998913"/>
            <a:ext cx="1584325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</a:p>
        </p:txBody>
      </p:sp>
      <p:sp>
        <p:nvSpPr>
          <p:cNvPr id="124935" name="AutoShape 7"/>
          <p:cNvSpPr>
            <a:spLocks noChangeArrowheads="1"/>
          </p:cNvSpPr>
          <p:nvPr/>
        </p:nvSpPr>
        <p:spPr bwMode="auto">
          <a:xfrm>
            <a:off x="5364163" y="2990850"/>
            <a:ext cx="1800225" cy="50482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循环体语句</a:t>
            </a:r>
          </a:p>
        </p:txBody>
      </p:sp>
      <p:sp>
        <p:nvSpPr>
          <p:cNvPr id="124937" name="Line 9"/>
          <p:cNvSpPr>
            <a:spLocks noChangeShapeType="1"/>
          </p:cNvSpPr>
          <p:nvPr/>
        </p:nvSpPr>
        <p:spPr bwMode="auto">
          <a:xfrm>
            <a:off x="6156325" y="3495675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372225" y="3856038"/>
            <a:ext cx="1152525" cy="1733550"/>
            <a:chOff x="3969" y="2251"/>
            <a:chExt cx="726" cy="1092"/>
          </a:xfrm>
        </p:grpSpPr>
        <p:sp>
          <p:nvSpPr>
            <p:cNvPr id="26641" name="Line 12"/>
            <p:cNvSpPr>
              <a:spLocks noChangeShapeType="1"/>
            </p:cNvSpPr>
            <p:nvPr/>
          </p:nvSpPr>
          <p:spPr bwMode="auto">
            <a:xfrm>
              <a:off x="3969" y="307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Line 13"/>
            <p:cNvSpPr>
              <a:spLocks noChangeShapeType="1"/>
            </p:cNvSpPr>
            <p:nvPr/>
          </p:nvSpPr>
          <p:spPr bwMode="auto">
            <a:xfrm flipV="1">
              <a:off x="4332" y="2478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Line 14"/>
            <p:cNvSpPr>
              <a:spLocks noChangeShapeType="1"/>
            </p:cNvSpPr>
            <p:nvPr/>
          </p:nvSpPr>
          <p:spPr bwMode="auto">
            <a:xfrm flipH="1">
              <a:off x="4694" y="2477"/>
              <a:ext cx="1" cy="5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Line 15"/>
            <p:cNvSpPr>
              <a:spLocks noChangeShapeType="1"/>
            </p:cNvSpPr>
            <p:nvPr/>
          </p:nvSpPr>
          <p:spPr bwMode="auto">
            <a:xfrm flipH="1">
              <a:off x="3969" y="3067"/>
              <a:ext cx="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Text Box 16"/>
            <p:cNvSpPr txBox="1">
              <a:spLocks noChangeArrowheads="1"/>
            </p:cNvSpPr>
            <p:nvPr/>
          </p:nvSpPr>
          <p:spPr bwMode="auto">
            <a:xfrm>
              <a:off x="4377" y="2251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5075238" y="2632075"/>
            <a:ext cx="1081087" cy="2238375"/>
            <a:chOff x="3152" y="1480"/>
            <a:chExt cx="681" cy="1410"/>
          </a:xfrm>
        </p:grpSpPr>
        <p:sp>
          <p:nvSpPr>
            <p:cNvPr id="26635" name="Text Box 10"/>
            <p:cNvSpPr txBox="1">
              <a:spLocks noChangeArrowheads="1"/>
            </p:cNvSpPr>
            <p:nvPr/>
          </p:nvSpPr>
          <p:spPr bwMode="auto">
            <a:xfrm>
              <a:off x="3606" y="2659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  <p:grpSp>
          <p:nvGrpSpPr>
            <p:cNvPr id="26636" name="Group 17"/>
            <p:cNvGrpSpPr>
              <a:grpSpLocks/>
            </p:cNvGrpSpPr>
            <p:nvPr/>
          </p:nvGrpSpPr>
          <p:grpSpPr bwMode="auto">
            <a:xfrm>
              <a:off x="3152" y="1480"/>
              <a:ext cx="681" cy="1406"/>
              <a:chOff x="3152" y="2115"/>
              <a:chExt cx="681" cy="1315"/>
            </a:xfrm>
          </p:grpSpPr>
          <p:sp>
            <p:nvSpPr>
              <p:cNvPr id="26637" name="Line 18"/>
              <p:cNvSpPr>
                <a:spLocks noChangeShapeType="1"/>
              </p:cNvSpPr>
              <p:nvPr/>
            </p:nvSpPr>
            <p:spPr bwMode="auto">
              <a:xfrm>
                <a:off x="3833" y="320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38" name="Line 19"/>
              <p:cNvSpPr>
                <a:spLocks noChangeShapeType="1"/>
              </p:cNvSpPr>
              <p:nvPr/>
            </p:nvSpPr>
            <p:spPr bwMode="auto">
              <a:xfrm flipH="1">
                <a:off x="3152" y="3430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39" name="Line 20"/>
              <p:cNvSpPr>
                <a:spLocks noChangeShapeType="1"/>
              </p:cNvSpPr>
              <p:nvPr/>
            </p:nvSpPr>
            <p:spPr bwMode="auto">
              <a:xfrm flipV="1">
                <a:off x="3152" y="2115"/>
                <a:ext cx="0" cy="13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0" name="Line 21"/>
              <p:cNvSpPr>
                <a:spLocks noChangeShapeType="1"/>
              </p:cNvSpPr>
              <p:nvPr/>
            </p:nvSpPr>
            <p:spPr bwMode="auto">
              <a:xfrm>
                <a:off x="3152" y="2115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4950" name="Text Box 22"/>
          <p:cNvSpPr txBox="1">
            <a:spLocks noChangeArrowheads="1"/>
          </p:cNvSpPr>
          <p:nvPr/>
        </p:nvSpPr>
        <p:spPr bwMode="auto">
          <a:xfrm>
            <a:off x="1282700" y="3860800"/>
            <a:ext cx="2352675" cy="229235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int sum=0;     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int i=1;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do{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sum+=i;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i++;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} while(i&lt;=100);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3" grpId="0" animBg="1"/>
      <p:bldP spid="124934" grpId="0" animBg="1"/>
      <p:bldP spid="124935" grpId="0" animBg="1"/>
      <p:bldP spid="124937" grpId="0" animBg="1"/>
      <p:bldP spid="1249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644008" y="1940856"/>
            <a:ext cx="4089648" cy="367240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有下面语句，输出结果为</a:t>
            </a:r>
            <a:r>
              <a:rPr lang="en-US" altLang="zh-CN" sz="2800" dirty="0"/>
              <a:t>_____</a:t>
            </a:r>
            <a:r>
              <a:rPr lang="zh-CN" altLang="en-US" sz="2800" dirty="0"/>
              <a:t>。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x = 3;</a:t>
            </a:r>
          </a:p>
          <a:p>
            <a:r>
              <a:rPr lang="en-US" altLang="zh-CN" sz="2800" dirty="0"/>
              <a:t>do{</a:t>
            </a:r>
          </a:p>
          <a:p>
            <a:r>
              <a:rPr lang="en-US" altLang="zh-CN" sz="2800" dirty="0" smtClean="0"/>
              <a:t>    </a:t>
            </a:r>
            <a:r>
              <a:rPr lang="en-US" altLang="zh-CN" sz="2800" dirty="0" err="1" smtClean="0"/>
              <a:t>cout</a:t>
            </a:r>
            <a:r>
              <a:rPr lang="en-US" altLang="zh-CN" sz="2800" dirty="0"/>
              <a:t>&lt;&lt;(x-=2)&lt;&lt;" ";</a:t>
            </a:r>
          </a:p>
          <a:p>
            <a:r>
              <a:rPr lang="en-US" altLang="zh-CN" sz="2800" dirty="0"/>
              <a:t>}while (!(--x));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331640" y="2276872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331640" y="3134122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3 0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331640" y="3991372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1 -2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331640" y="4848622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死循环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17265" y="23411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17265" y="31984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17265" y="405566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17265" y="49129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902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82625" y="1773238"/>
            <a:ext cx="5257800" cy="17272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 startAt="3"/>
            </a:pPr>
            <a:r>
              <a:rPr lang="en-US" altLang="zh-CN" sz="2400" b="1" smtClean="0">
                <a:effectLst/>
              </a:rPr>
              <a:t>for </a:t>
            </a:r>
            <a:r>
              <a:rPr lang="zh-CN" altLang="en-US" sz="2400" b="1" smtClean="0">
                <a:effectLst/>
              </a:rPr>
              <a:t>循环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effectLst/>
              </a:rPr>
              <a:t>　格式： 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effectLst/>
              </a:rPr>
              <a:t>     </a:t>
            </a:r>
            <a:r>
              <a:rPr lang="en-US" altLang="zh-CN" sz="2400" b="1" smtClean="0">
                <a:effectLst/>
              </a:rPr>
              <a:t>for (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1; 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2; </a:t>
            </a:r>
            <a:r>
              <a:rPr lang="zh-CN" altLang="en-US" sz="2400" b="1" smtClean="0">
                <a:effectLst/>
              </a:rPr>
              <a:t>表达式</a:t>
            </a:r>
            <a:r>
              <a:rPr lang="en-US" altLang="zh-CN" sz="2400" b="1" smtClean="0">
                <a:effectLst/>
              </a:rPr>
              <a:t>3) </a:t>
            </a:r>
            <a:br>
              <a:rPr lang="en-US" altLang="zh-CN" sz="2400" b="1" smtClean="0">
                <a:effectLst/>
              </a:rPr>
            </a:br>
            <a:r>
              <a:rPr lang="en-US" altLang="zh-CN" sz="2400" b="1" smtClean="0">
                <a:effectLst/>
              </a:rPr>
              <a:t>  </a:t>
            </a:r>
            <a:r>
              <a:rPr lang="zh-CN" altLang="en-US" sz="2400" b="1" smtClean="0">
                <a:effectLst/>
              </a:rPr>
              <a:t>语句</a:t>
            </a:r>
            <a:r>
              <a:rPr lang="en-US" altLang="zh-CN" sz="2400" b="1" smtClean="0">
                <a:effectLst/>
              </a:rPr>
              <a:t>;</a:t>
            </a:r>
          </a:p>
        </p:txBody>
      </p:sp>
      <p:sp>
        <p:nvSpPr>
          <p:cNvPr id="125973" name="Text Box 21"/>
          <p:cNvSpPr txBox="1">
            <a:spLocks noChangeArrowheads="1"/>
          </p:cNvSpPr>
          <p:nvPr/>
        </p:nvSpPr>
        <p:spPr bwMode="auto">
          <a:xfrm>
            <a:off x="1258888" y="3644900"/>
            <a:ext cx="2239962" cy="229235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bg2"/>
                </a:solidFill>
              </a:rPr>
              <a:t>表达式</a:t>
            </a:r>
            <a:r>
              <a:rPr lang="en-US" altLang="zh-CN" sz="2400">
                <a:solidFill>
                  <a:schemeClr val="bg2"/>
                </a:solidFill>
              </a:rPr>
              <a:t>1; </a:t>
            </a:r>
            <a:br>
              <a:rPr lang="en-US" altLang="zh-CN" sz="2400">
                <a:solidFill>
                  <a:schemeClr val="bg2"/>
                </a:solidFill>
              </a:rPr>
            </a:br>
            <a:r>
              <a:rPr lang="en-US" altLang="zh-CN" sz="2400">
                <a:solidFill>
                  <a:schemeClr val="bg2"/>
                </a:solidFill>
              </a:rPr>
              <a:t>while (</a:t>
            </a:r>
            <a:r>
              <a:rPr lang="zh-CN" altLang="en-US" sz="2400">
                <a:solidFill>
                  <a:schemeClr val="bg2"/>
                </a:solidFill>
              </a:rPr>
              <a:t>表达式</a:t>
            </a:r>
            <a:r>
              <a:rPr lang="en-US" altLang="zh-CN" sz="2400">
                <a:solidFill>
                  <a:schemeClr val="bg2"/>
                </a:solidFill>
              </a:rPr>
              <a:t>2)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</a:rPr>
              <a:t> {</a:t>
            </a:r>
            <a:br>
              <a:rPr lang="en-US" altLang="zh-CN" sz="2400">
                <a:solidFill>
                  <a:schemeClr val="bg2"/>
                </a:solidFill>
              </a:rPr>
            </a:br>
            <a:r>
              <a:rPr lang="zh-CN" altLang="en-US" sz="2400">
                <a:solidFill>
                  <a:schemeClr val="bg2"/>
                </a:solidFill>
              </a:rPr>
              <a:t>　语句</a:t>
            </a:r>
            <a:r>
              <a:rPr lang="en-US" altLang="zh-CN" sz="2400">
                <a:solidFill>
                  <a:schemeClr val="bg2"/>
                </a:solidFill>
              </a:rPr>
              <a:t>;</a:t>
            </a:r>
            <a:br>
              <a:rPr lang="en-US" altLang="zh-CN" sz="2400">
                <a:solidFill>
                  <a:schemeClr val="bg2"/>
                </a:solidFill>
              </a:rPr>
            </a:br>
            <a:r>
              <a:rPr lang="zh-CN" altLang="en-US" sz="2400">
                <a:solidFill>
                  <a:schemeClr val="bg2"/>
                </a:solidFill>
              </a:rPr>
              <a:t>　表达式</a:t>
            </a:r>
            <a:r>
              <a:rPr lang="en-US" altLang="zh-CN" sz="2400">
                <a:solidFill>
                  <a:schemeClr val="bg2"/>
                </a:solidFill>
              </a:rPr>
              <a:t>3;</a:t>
            </a:r>
            <a:br>
              <a:rPr lang="en-US" altLang="zh-CN" sz="2400">
                <a:solidFill>
                  <a:schemeClr val="bg2"/>
                </a:solidFill>
              </a:rPr>
            </a:br>
            <a:r>
              <a:rPr lang="en-US" altLang="zh-CN" sz="2400">
                <a:solidFill>
                  <a:schemeClr val="bg2"/>
                </a:solidFill>
              </a:rPr>
              <a:t>  } </a:t>
            </a:r>
          </a:p>
        </p:txBody>
      </p:sp>
      <p:sp>
        <p:nvSpPr>
          <p:cNvPr id="125974" name="Line 22"/>
          <p:cNvSpPr>
            <a:spLocks noChangeShapeType="1"/>
          </p:cNvSpPr>
          <p:nvPr/>
        </p:nvSpPr>
        <p:spPr bwMode="auto">
          <a:xfrm flipH="1">
            <a:off x="6877050" y="26368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75" name="AutoShape 23"/>
          <p:cNvSpPr>
            <a:spLocks noChangeArrowheads="1"/>
          </p:cNvSpPr>
          <p:nvPr/>
        </p:nvSpPr>
        <p:spPr bwMode="auto">
          <a:xfrm>
            <a:off x="6083300" y="3355975"/>
            <a:ext cx="1584325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  <a:r>
              <a:rPr lang="en-US" altLang="zh-CN">
                <a:solidFill>
                  <a:srgbClr val="FFFF66"/>
                </a:solidFill>
              </a:rPr>
              <a:t>2</a:t>
            </a:r>
          </a:p>
        </p:txBody>
      </p:sp>
      <p:sp>
        <p:nvSpPr>
          <p:cNvPr id="125976" name="AutoShape 24"/>
          <p:cNvSpPr>
            <a:spLocks noChangeArrowheads="1"/>
          </p:cNvSpPr>
          <p:nvPr/>
        </p:nvSpPr>
        <p:spPr bwMode="auto">
          <a:xfrm>
            <a:off x="6227763" y="4292600"/>
            <a:ext cx="13684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语句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877050" y="3789363"/>
            <a:ext cx="503238" cy="503237"/>
            <a:chOff x="3878" y="1706"/>
            <a:chExt cx="317" cy="317"/>
          </a:xfrm>
        </p:grpSpPr>
        <p:sp>
          <p:nvSpPr>
            <p:cNvPr id="27672" name="Line 26"/>
            <p:cNvSpPr>
              <a:spLocks noChangeShapeType="1"/>
            </p:cNvSpPr>
            <p:nvPr/>
          </p:nvSpPr>
          <p:spPr bwMode="auto">
            <a:xfrm>
              <a:off x="3878" y="1706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Text Box 27"/>
            <p:cNvSpPr txBox="1">
              <a:spLocks noChangeArrowheads="1"/>
            </p:cNvSpPr>
            <p:nvPr/>
          </p:nvSpPr>
          <p:spPr bwMode="auto">
            <a:xfrm>
              <a:off x="3980" y="1747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T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6875463" y="3111500"/>
            <a:ext cx="1657350" cy="3527425"/>
            <a:chOff x="3833" y="2201"/>
            <a:chExt cx="998" cy="1728"/>
          </a:xfrm>
        </p:grpSpPr>
        <p:sp>
          <p:nvSpPr>
            <p:cNvPr id="27667" name="Line 29"/>
            <p:cNvSpPr>
              <a:spLocks noChangeShapeType="1"/>
            </p:cNvSpPr>
            <p:nvPr/>
          </p:nvSpPr>
          <p:spPr bwMode="auto">
            <a:xfrm>
              <a:off x="3833" y="3657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8" name="Line 30"/>
            <p:cNvSpPr>
              <a:spLocks noChangeShapeType="1"/>
            </p:cNvSpPr>
            <p:nvPr/>
          </p:nvSpPr>
          <p:spPr bwMode="auto">
            <a:xfrm>
              <a:off x="4287" y="243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9" name="Line 31"/>
            <p:cNvSpPr>
              <a:spLocks noChangeShapeType="1"/>
            </p:cNvSpPr>
            <p:nvPr/>
          </p:nvSpPr>
          <p:spPr bwMode="auto">
            <a:xfrm flipH="1">
              <a:off x="4830" y="2432"/>
              <a:ext cx="1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Line 32"/>
            <p:cNvSpPr>
              <a:spLocks noChangeShapeType="1"/>
            </p:cNvSpPr>
            <p:nvPr/>
          </p:nvSpPr>
          <p:spPr bwMode="auto">
            <a:xfrm flipH="1">
              <a:off x="3833" y="3657"/>
              <a:ext cx="9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Text Box 33"/>
            <p:cNvSpPr txBox="1">
              <a:spLocks noChangeArrowheads="1"/>
            </p:cNvSpPr>
            <p:nvPr/>
          </p:nvSpPr>
          <p:spPr bwMode="auto">
            <a:xfrm>
              <a:off x="4389" y="2201"/>
              <a:ext cx="196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F</a:t>
              </a:r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5795963" y="2997200"/>
            <a:ext cx="1081087" cy="2879725"/>
            <a:chOff x="3152" y="2115"/>
            <a:chExt cx="681" cy="1315"/>
          </a:xfrm>
        </p:grpSpPr>
        <p:sp>
          <p:nvSpPr>
            <p:cNvPr id="27663" name="Line 35"/>
            <p:cNvSpPr>
              <a:spLocks noChangeShapeType="1"/>
            </p:cNvSpPr>
            <p:nvPr/>
          </p:nvSpPr>
          <p:spPr bwMode="auto">
            <a:xfrm>
              <a:off x="3833" y="320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Line 36"/>
            <p:cNvSpPr>
              <a:spLocks noChangeShapeType="1"/>
            </p:cNvSpPr>
            <p:nvPr/>
          </p:nvSpPr>
          <p:spPr bwMode="auto">
            <a:xfrm flipH="1">
              <a:off x="3152" y="3430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Line 37"/>
            <p:cNvSpPr>
              <a:spLocks noChangeShapeType="1"/>
            </p:cNvSpPr>
            <p:nvPr/>
          </p:nvSpPr>
          <p:spPr bwMode="auto">
            <a:xfrm flipV="1">
              <a:off x="3152" y="2115"/>
              <a:ext cx="0" cy="13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Line 38"/>
            <p:cNvSpPr>
              <a:spLocks noChangeShapeType="1"/>
            </p:cNvSpPr>
            <p:nvPr/>
          </p:nvSpPr>
          <p:spPr bwMode="auto">
            <a:xfrm>
              <a:off x="3152" y="2115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5991" name="Line 39"/>
          <p:cNvSpPr>
            <a:spLocks noChangeShapeType="1"/>
          </p:cNvSpPr>
          <p:nvPr/>
        </p:nvSpPr>
        <p:spPr bwMode="auto">
          <a:xfrm>
            <a:off x="6877050" y="170021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92" name="AutoShape 40"/>
          <p:cNvSpPr>
            <a:spLocks noChangeArrowheads="1"/>
          </p:cNvSpPr>
          <p:nvPr/>
        </p:nvSpPr>
        <p:spPr bwMode="auto">
          <a:xfrm>
            <a:off x="6227763" y="2205038"/>
            <a:ext cx="13684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  <a:r>
              <a:rPr lang="en-US" altLang="zh-CN">
                <a:solidFill>
                  <a:srgbClr val="FFFF66"/>
                </a:solidFill>
              </a:rPr>
              <a:t>1</a:t>
            </a:r>
          </a:p>
        </p:txBody>
      </p:sp>
      <p:sp>
        <p:nvSpPr>
          <p:cNvPr id="125993" name="AutoShape 41"/>
          <p:cNvSpPr>
            <a:spLocks noChangeArrowheads="1"/>
          </p:cNvSpPr>
          <p:nvPr/>
        </p:nvSpPr>
        <p:spPr bwMode="auto">
          <a:xfrm>
            <a:off x="6227763" y="5157788"/>
            <a:ext cx="1296987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66"/>
                </a:solidFill>
              </a:rPr>
              <a:t>表达式</a:t>
            </a:r>
            <a:r>
              <a:rPr lang="en-US" altLang="zh-CN">
                <a:solidFill>
                  <a:srgbClr val="FFFF66"/>
                </a:solidFill>
              </a:rPr>
              <a:t>3</a:t>
            </a:r>
          </a:p>
        </p:txBody>
      </p:sp>
      <p:sp>
        <p:nvSpPr>
          <p:cNvPr id="125994" name="Line 42"/>
          <p:cNvSpPr>
            <a:spLocks noChangeShapeType="1"/>
          </p:cNvSpPr>
          <p:nvPr/>
        </p:nvSpPr>
        <p:spPr bwMode="auto">
          <a:xfrm>
            <a:off x="6877050" y="4724400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2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73" grpId="0" animBg="1"/>
      <p:bldP spid="125974" grpId="0" animBg="1"/>
      <p:bldP spid="125975" grpId="0" animBg="1"/>
      <p:bldP spid="125976" grpId="0" animBg="1"/>
      <p:bldP spid="125991" grpId="0" animBg="1"/>
      <p:bldP spid="125992" grpId="0" animBg="1"/>
      <p:bldP spid="125993" grpId="0" animBg="1"/>
      <p:bldP spid="12599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127005" name="Text Box 29"/>
          <p:cNvSpPr txBox="1">
            <a:spLocks noChangeArrowheads="1"/>
          </p:cNvSpPr>
          <p:nvPr/>
        </p:nvSpPr>
        <p:spPr bwMode="auto">
          <a:xfrm>
            <a:off x="1981200" y="1360488"/>
            <a:ext cx="4800600" cy="376237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   (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1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；表达式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2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；表达式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3)    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语句 </a:t>
            </a:r>
          </a:p>
        </p:txBody>
      </p:sp>
      <p:sp>
        <p:nvSpPr>
          <p:cNvPr id="127006" name="Text Box 30"/>
          <p:cNvSpPr txBox="1">
            <a:spLocks noChangeArrowheads="1"/>
          </p:cNvSpPr>
          <p:nvPr/>
        </p:nvSpPr>
        <p:spPr bwMode="auto">
          <a:xfrm>
            <a:off x="685800" y="1355725"/>
            <a:ext cx="838200" cy="457200"/>
          </a:xfrm>
          <a:prstGeom prst="rect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</a:p>
        </p:txBody>
      </p:sp>
      <p:sp>
        <p:nvSpPr>
          <p:cNvPr id="127007" name="AutoShape 31"/>
          <p:cNvSpPr>
            <a:spLocks noChangeArrowheads="1"/>
          </p:cNvSpPr>
          <p:nvPr/>
        </p:nvSpPr>
        <p:spPr bwMode="auto">
          <a:xfrm>
            <a:off x="6781800" y="669925"/>
            <a:ext cx="1905000" cy="6096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三个表达式都可以省略。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914400" y="2451100"/>
            <a:ext cx="2243138" cy="3857625"/>
            <a:chOff x="576" y="1458"/>
            <a:chExt cx="1413" cy="2430"/>
          </a:xfrm>
        </p:grpSpPr>
        <p:sp>
          <p:nvSpPr>
            <p:cNvPr id="28707" name="AutoShape 33"/>
            <p:cNvSpPr>
              <a:spLocks noChangeArrowheads="1"/>
            </p:cNvSpPr>
            <p:nvPr/>
          </p:nvSpPr>
          <p:spPr bwMode="auto">
            <a:xfrm>
              <a:off x="750" y="1698"/>
              <a:ext cx="960" cy="432"/>
            </a:xfrm>
            <a:prstGeom prst="diamond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28708" name="Line 34"/>
            <p:cNvSpPr>
              <a:spLocks noChangeShapeType="1"/>
            </p:cNvSpPr>
            <p:nvPr/>
          </p:nvSpPr>
          <p:spPr bwMode="auto">
            <a:xfrm>
              <a:off x="1221" y="145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9" name="Line 35"/>
            <p:cNvSpPr>
              <a:spLocks noChangeShapeType="1"/>
            </p:cNvSpPr>
            <p:nvPr/>
          </p:nvSpPr>
          <p:spPr bwMode="auto">
            <a:xfrm>
              <a:off x="1230" y="213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0" name="Rectangle 36"/>
            <p:cNvSpPr>
              <a:spLocks noChangeArrowheads="1"/>
            </p:cNvSpPr>
            <p:nvPr/>
          </p:nvSpPr>
          <p:spPr bwMode="auto">
            <a:xfrm>
              <a:off x="807" y="2370"/>
              <a:ext cx="846" cy="240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循环体语句</a:t>
              </a:r>
            </a:p>
          </p:txBody>
        </p:sp>
        <p:sp>
          <p:nvSpPr>
            <p:cNvPr id="28711" name="Line 37"/>
            <p:cNvSpPr>
              <a:spLocks noChangeShapeType="1"/>
            </p:cNvSpPr>
            <p:nvPr/>
          </p:nvSpPr>
          <p:spPr bwMode="auto">
            <a:xfrm flipH="1">
              <a:off x="588" y="3207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2" name="Line 38"/>
            <p:cNvSpPr>
              <a:spLocks noChangeShapeType="1"/>
            </p:cNvSpPr>
            <p:nvPr/>
          </p:nvSpPr>
          <p:spPr bwMode="auto">
            <a:xfrm>
              <a:off x="579" y="1527"/>
              <a:ext cx="6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3" name="Line 39"/>
            <p:cNvSpPr>
              <a:spLocks noChangeShapeType="1"/>
            </p:cNvSpPr>
            <p:nvPr/>
          </p:nvSpPr>
          <p:spPr bwMode="auto">
            <a:xfrm>
              <a:off x="1701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4" name="Line 40"/>
            <p:cNvSpPr>
              <a:spLocks noChangeShapeType="1"/>
            </p:cNvSpPr>
            <p:nvPr/>
          </p:nvSpPr>
          <p:spPr bwMode="auto">
            <a:xfrm>
              <a:off x="1989" y="192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5" name="Line 41"/>
            <p:cNvSpPr>
              <a:spLocks noChangeShapeType="1"/>
            </p:cNvSpPr>
            <p:nvPr/>
          </p:nvSpPr>
          <p:spPr bwMode="auto">
            <a:xfrm flipH="1">
              <a:off x="1269" y="336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6" name="Line 42"/>
            <p:cNvSpPr>
              <a:spLocks noChangeShapeType="1"/>
            </p:cNvSpPr>
            <p:nvPr/>
          </p:nvSpPr>
          <p:spPr bwMode="auto">
            <a:xfrm>
              <a:off x="1269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7" name="Text Box 43"/>
            <p:cNvSpPr txBox="1">
              <a:spLocks noChangeArrowheads="1"/>
            </p:cNvSpPr>
            <p:nvPr/>
          </p:nvSpPr>
          <p:spPr bwMode="auto">
            <a:xfrm>
              <a:off x="1662" y="169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假</a:t>
              </a:r>
            </a:p>
          </p:txBody>
        </p:sp>
        <p:sp>
          <p:nvSpPr>
            <p:cNvPr id="28718" name="Text Box 44"/>
            <p:cNvSpPr txBox="1">
              <a:spLocks noChangeArrowheads="1"/>
            </p:cNvSpPr>
            <p:nvPr/>
          </p:nvSpPr>
          <p:spPr bwMode="auto">
            <a:xfrm>
              <a:off x="1173" y="2130"/>
              <a:ext cx="4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真</a:t>
              </a:r>
            </a:p>
          </p:txBody>
        </p:sp>
        <p:sp>
          <p:nvSpPr>
            <p:cNvPr id="28719" name="Rectangle 45"/>
            <p:cNvSpPr>
              <a:spLocks noChangeArrowheads="1"/>
            </p:cNvSpPr>
            <p:nvPr/>
          </p:nvSpPr>
          <p:spPr bwMode="auto">
            <a:xfrm>
              <a:off x="801" y="2832"/>
              <a:ext cx="846" cy="240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28720" name="Line 46"/>
            <p:cNvSpPr>
              <a:spLocks noChangeShapeType="1"/>
            </p:cNvSpPr>
            <p:nvPr/>
          </p:nvSpPr>
          <p:spPr bwMode="auto">
            <a:xfrm>
              <a:off x="1269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1" name="Line 47"/>
            <p:cNvSpPr>
              <a:spLocks noChangeShapeType="1"/>
            </p:cNvSpPr>
            <p:nvPr/>
          </p:nvSpPr>
          <p:spPr bwMode="auto">
            <a:xfrm>
              <a:off x="576" y="1527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2" name="Line 48"/>
            <p:cNvSpPr>
              <a:spLocks noChangeShapeType="1"/>
            </p:cNvSpPr>
            <p:nvPr/>
          </p:nvSpPr>
          <p:spPr bwMode="auto">
            <a:xfrm>
              <a:off x="1218" y="262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3" name="Text Box 49"/>
            <p:cNvSpPr txBox="1">
              <a:spLocks noChangeArrowheads="1"/>
            </p:cNvSpPr>
            <p:nvPr/>
          </p:nvSpPr>
          <p:spPr bwMode="auto">
            <a:xfrm>
              <a:off x="624" y="3657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省略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3776663" y="2041525"/>
            <a:ext cx="1862137" cy="4267200"/>
            <a:chOff x="2379" y="1200"/>
            <a:chExt cx="1173" cy="2688"/>
          </a:xfrm>
        </p:grpSpPr>
        <p:sp>
          <p:nvSpPr>
            <p:cNvPr id="28697" name="Line 51"/>
            <p:cNvSpPr>
              <a:spLocks noChangeShapeType="1"/>
            </p:cNvSpPr>
            <p:nvPr/>
          </p:nvSpPr>
          <p:spPr bwMode="auto">
            <a:xfrm>
              <a:off x="3024" y="1458"/>
              <a:ext cx="0" cy="8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Rectangle 52"/>
            <p:cNvSpPr>
              <a:spLocks noChangeArrowheads="1"/>
            </p:cNvSpPr>
            <p:nvPr/>
          </p:nvSpPr>
          <p:spPr bwMode="auto">
            <a:xfrm>
              <a:off x="2610" y="2370"/>
              <a:ext cx="846" cy="240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循环体语句</a:t>
              </a:r>
            </a:p>
          </p:txBody>
        </p:sp>
        <p:sp>
          <p:nvSpPr>
            <p:cNvPr id="28699" name="Line 53"/>
            <p:cNvSpPr>
              <a:spLocks noChangeShapeType="1"/>
            </p:cNvSpPr>
            <p:nvPr/>
          </p:nvSpPr>
          <p:spPr bwMode="auto">
            <a:xfrm flipH="1">
              <a:off x="2391" y="3207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54"/>
            <p:cNvSpPr>
              <a:spLocks noChangeShapeType="1"/>
            </p:cNvSpPr>
            <p:nvPr/>
          </p:nvSpPr>
          <p:spPr bwMode="auto">
            <a:xfrm>
              <a:off x="2382" y="1527"/>
              <a:ext cx="6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Rectangle 55"/>
            <p:cNvSpPr>
              <a:spLocks noChangeArrowheads="1"/>
            </p:cNvSpPr>
            <p:nvPr/>
          </p:nvSpPr>
          <p:spPr bwMode="auto">
            <a:xfrm>
              <a:off x="2610" y="1200"/>
              <a:ext cx="846" cy="240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求解表达式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8702" name="Rectangle 56"/>
            <p:cNvSpPr>
              <a:spLocks noChangeArrowheads="1"/>
            </p:cNvSpPr>
            <p:nvPr/>
          </p:nvSpPr>
          <p:spPr bwMode="auto">
            <a:xfrm>
              <a:off x="2613" y="2832"/>
              <a:ext cx="846" cy="240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28703" name="Line 57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4" name="Line 58"/>
            <p:cNvSpPr>
              <a:spLocks noChangeShapeType="1"/>
            </p:cNvSpPr>
            <p:nvPr/>
          </p:nvSpPr>
          <p:spPr bwMode="auto">
            <a:xfrm>
              <a:off x="2379" y="1527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5" name="Line 59"/>
            <p:cNvSpPr>
              <a:spLocks noChangeShapeType="1"/>
            </p:cNvSpPr>
            <p:nvPr/>
          </p:nvSpPr>
          <p:spPr bwMode="auto">
            <a:xfrm>
              <a:off x="3024" y="2613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6" name="Text Box 60"/>
            <p:cNvSpPr txBox="1">
              <a:spLocks noChangeArrowheads="1"/>
            </p:cNvSpPr>
            <p:nvPr/>
          </p:nvSpPr>
          <p:spPr bwMode="auto">
            <a:xfrm>
              <a:off x="2400" y="3657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省略</a:t>
              </a:r>
            </a:p>
          </p:txBody>
        </p:sp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443663" y="2041525"/>
            <a:ext cx="2243137" cy="4267200"/>
            <a:chOff x="4059" y="1200"/>
            <a:chExt cx="1413" cy="2688"/>
          </a:xfrm>
        </p:grpSpPr>
        <p:sp>
          <p:nvSpPr>
            <p:cNvPr id="28681" name="AutoShape 62"/>
            <p:cNvSpPr>
              <a:spLocks noChangeArrowheads="1"/>
            </p:cNvSpPr>
            <p:nvPr/>
          </p:nvSpPr>
          <p:spPr bwMode="auto">
            <a:xfrm>
              <a:off x="4233" y="1698"/>
              <a:ext cx="960" cy="432"/>
            </a:xfrm>
            <a:prstGeom prst="diamond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28682" name="Line 63"/>
            <p:cNvSpPr>
              <a:spLocks noChangeShapeType="1"/>
            </p:cNvSpPr>
            <p:nvPr/>
          </p:nvSpPr>
          <p:spPr bwMode="auto">
            <a:xfrm>
              <a:off x="4704" y="145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3" name="Line 64"/>
            <p:cNvSpPr>
              <a:spLocks noChangeShapeType="1"/>
            </p:cNvSpPr>
            <p:nvPr/>
          </p:nvSpPr>
          <p:spPr bwMode="auto">
            <a:xfrm>
              <a:off x="4713" y="213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4" name="Rectangle 65"/>
            <p:cNvSpPr>
              <a:spLocks noChangeArrowheads="1"/>
            </p:cNvSpPr>
            <p:nvPr/>
          </p:nvSpPr>
          <p:spPr bwMode="auto">
            <a:xfrm>
              <a:off x="4290" y="2370"/>
              <a:ext cx="846" cy="240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循环体语句</a:t>
              </a:r>
            </a:p>
          </p:txBody>
        </p:sp>
        <p:sp>
          <p:nvSpPr>
            <p:cNvPr id="28685" name="Line 66"/>
            <p:cNvSpPr>
              <a:spLocks noChangeShapeType="1"/>
            </p:cNvSpPr>
            <p:nvPr/>
          </p:nvSpPr>
          <p:spPr bwMode="auto">
            <a:xfrm flipH="1">
              <a:off x="4071" y="3207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6" name="Line 67"/>
            <p:cNvSpPr>
              <a:spLocks noChangeShapeType="1"/>
            </p:cNvSpPr>
            <p:nvPr/>
          </p:nvSpPr>
          <p:spPr bwMode="auto">
            <a:xfrm>
              <a:off x="4062" y="1527"/>
              <a:ext cx="6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7" name="Line 68"/>
            <p:cNvSpPr>
              <a:spLocks noChangeShapeType="1"/>
            </p:cNvSpPr>
            <p:nvPr/>
          </p:nvSpPr>
          <p:spPr bwMode="auto">
            <a:xfrm>
              <a:off x="5184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8" name="Line 69"/>
            <p:cNvSpPr>
              <a:spLocks noChangeShapeType="1"/>
            </p:cNvSpPr>
            <p:nvPr/>
          </p:nvSpPr>
          <p:spPr bwMode="auto">
            <a:xfrm>
              <a:off x="5472" y="192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9" name="Line 70"/>
            <p:cNvSpPr>
              <a:spLocks noChangeShapeType="1"/>
            </p:cNvSpPr>
            <p:nvPr/>
          </p:nvSpPr>
          <p:spPr bwMode="auto">
            <a:xfrm flipH="1">
              <a:off x="4752" y="336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Line 71"/>
            <p:cNvSpPr>
              <a:spLocks noChangeShapeType="1"/>
            </p:cNvSpPr>
            <p:nvPr/>
          </p:nvSpPr>
          <p:spPr bwMode="auto">
            <a:xfrm>
              <a:off x="4752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1" name="Text Box 72"/>
            <p:cNvSpPr txBox="1">
              <a:spLocks noChangeArrowheads="1"/>
            </p:cNvSpPr>
            <p:nvPr/>
          </p:nvSpPr>
          <p:spPr bwMode="auto">
            <a:xfrm>
              <a:off x="5145" y="169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假</a:t>
              </a:r>
            </a:p>
          </p:txBody>
        </p:sp>
        <p:sp>
          <p:nvSpPr>
            <p:cNvPr id="28692" name="Text Box 73"/>
            <p:cNvSpPr txBox="1">
              <a:spLocks noChangeArrowheads="1"/>
            </p:cNvSpPr>
            <p:nvPr/>
          </p:nvSpPr>
          <p:spPr bwMode="auto">
            <a:xfrm>
              <a:off x="4656" y="2130"/>
              <a:ext cx="4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真</a:t>
              </a:r>
            </a:p>
          </p:txBody>
        </p:sp>
        <p:sp>
          <p:nvSpPr>
            <p:cNvPr id="28693" name="Rectangle 74"/>
            <p:cNvSpPr>
              <a:spLocks noChangeArrowheads="1"/>
            </p:cNvSpPr>
            <p:nvPr/>
          </p:nvSpPr>
          <p:spPr bwMode="auto">
            <a:xfrm>
              <a:off x="4290" y="1200"/>
              <a:ext cx="846" cy="240"/>
            </a:xfrm>
            <a:prstGeom prst="rect">
              <a:avLst/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求解表达式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8694" name="Line 75"/>
            <p:cNvSpPr>
              <a:spLocks noChangeShapeType="1"/>
            </p:cNvSpPr>
            <p:nvPr/>
          </p:nvSpPr>
          <p:spPr bwMode="auto">
            <a:xfrm>
              <a:off x="4752" y="264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Line 76"/>
            <p:cNvSpPr>
              <a:spLocks noChangeShapeType="1"/>
            </p:cNvSpPr>
            <p:nvPr/>
          </p:nvSpPr>
          <p:spPr bwMode="auto">
            <a:xfrm>
              <a:off x="4059" y="1527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Text Box 77"/>
            <p:cNvSpPr txBox="1">
              <a:spLocks noChangeArrowheads="1"/>
            </p:cNvSpPr>
            <p:nvPr/>
          </p:nvSpPr>
          <p:spPr bwMode="auto">
            <a:xfrm>
              <a:off x="4176" y="3657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表达式</a:t>
              </a: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省略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7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7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05" grpId="0" animBg="1" autoUpdateAnimBg="0"/>
      <p:bldP spid="127006" grpId="0" animBg="1" autoUpdateAnimBg="0"/>
      <p:bldP spid="127007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178182" name="AutoShape 6"/>
          <p:cNvSpPr>
            <a:spLocks noChangeArrowheads="1"/>
          </p:cNvSpPr>
          <p:nvPr/>
        </p:nvSpPr>
        <p:spPr bwMode="auto">
          <a:xfrm>
            <a:off x="976313" y="238760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178183" name="Text Box 7"/>
          <p:cNvSpPr txBox="1">
            <a:spLocks noChangeArrowheads="1"/>
          </p:cNvSpPr>
          <p:nvPr/>
        </p:nvSpPr>
        <p:spPr bwMode="auto">
          <a:xfrm>
            <a:off x="1966913" y="2311400"/>
            <a:ext cx="2743200" cy="925513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i=1;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for(</a:t>
            </a:r>
            <a:r>
              <a:rPr kumimoji="1" lang="en-US" altLang="zh-CN">
                <a:solidFill>
                  <a:srgbClr val="FF6600"/>
                </a:solidFill>
                <a:latin typeface="Tahoma" panose="020B0604030504040204" pitchFamily="34" charset="0"/>
                <a:ea typeface="楷体_GB2312" pitchFamily="49" charset="-122"/>
              </a:rPr>
              <a:t>;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i&lt;=10</a:t>
            </a:r>
            <a:r>
              <a:rPr kumimoji="1" lang="en-US" altLang="zh-CN">
                <a:solidFill>
                  <a:srgbClr val="FF6600"/>
                </a:solidFill>
                <a:latin typeface="Tahoma" panose="020B0604030504040204" pitchFamily="34" charset="0"/>
                <a:ea typeface="楷体_GB2312" pitchFamily="49" charset="-122"/>
              </a:rPr>
              <a:t>;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i++)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sum=sum+i; </a:t>
            </a:r>
          </a:p>
        </p:txBody>
      </p:sp>
      <p:sp>
        <p:nvSpPr>
          <p:cNvPr id="178184" name="AutoShape 8"/>
          <p:cNvSpPr>
            <a:spLocks noChangeArrowheads="1"/>
          </p:cNvSpPr>
          <p:nvPr/>
        </p:nvSpPr>
        <p:spPr bwMode="auto">
          <a:xfrm>
            <a:off x="976313" y="368300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1966913" y="3683000"/>
            <a:ext cx="2743200" cy="650875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   (i=1</a:t>
            </a:r>
            <a:r>
              <a:rPr kumimoji="1" lang="en-US" altLang="zh-CN">
                <a:solidFill>
                  <a:srgbClr val="FF6600"/>
                </a:solidFill>
                <a:latin typeface="Tahoma" panose="020B0604030504040204" pitchFamily="34" charset="0"/>
                <a:ea typeface="楷体_GB2312" pitchFamily="49" charset="-122"/>
              </a:rPr>
              <a:t>; ;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i++)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sum=sum+i; </a:t>
            </a:r>
          </a:p>
        </p:txBody>
      </p:sp>
      <p:sp>
        <p:nvSpPr>
          <p:cNvPr id="178186" name="AutoShape 10"/>
          <p:cNvSpPr>
            <a:spLocks noChangeArrowheads="1"/>
          </p:cNvSpPr>
          <p:nvPr/>
        </p:nvSpPr>
        <p:spPr bwMode="auto">
          <a:xfrm>
            <a:off x="5624513" y="3606800"/>
            <a:ext cx="914400" cy="762000"/>
          </a:xfrm>
          <a:prstGeom prst="cloudCallout">
            <a:avLst>
              <a:gd name="adj1" fmla="val -144968"/>
              <a:gd name="adj2" fmla="val 19375"/>
            </a:avLst>
          </a:prstGeom>
          <a:solidFill>
            <a:srgbClr val="CC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latin typeface="Tahoma" panose="020B0604030504040204" pitchFamily="34" charset="0"/>
                <a:ea typeface="楷体_GB2312" pitchFamily="49" charset="-122"/>
              </a:rPr>
              <a:t>?</a:t>
            </a:r>
          </a:p>
        </p:txBody>
      </p:sp>
      <p:sp>
        <p:nvSpPr>
          <p:cNvPr id="178187" name="AutoShape 11"/>
          <p:cNvSpPr>
            <a:spLocks noChangeArrowheads="1"/>
          </p:cNvSpPr>
          <p:nvPr/>
        </p:nvSpPr>
        <p:spPr bwMode="auto">
          <a:xfrm>
            <a:off x="976313" y="490220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3</a:t>
            </a:r>
          </a:p>
        </p:txBody>
      </p:sp>
      <p:sp>
        <p:nvSpPr>
          <p:cNvPr id="178188" name="Text Box 12"/>
          <p:cNvSpPr txBox="1">
            <a:spLocks noChangeArrowheads="1"/>
          </p:cNvSpPr>
          <p:nvPr/>
        </p:nvSpPr>
        <p:spPr bwMode="auto">
          <a:xfrm>
            <a:off x="1966913" y="4978400"/>
            <a:ext cx="2743200" cy="1474788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   (i=1</a:t>
            </a:r>
            <a:r>
              <a:rPr kumimoji="1" lang="en-US" altLang="zh-CN">
                <a:solidFill>
                  <a:srgbClr val="FF6600"/>
                </a:solidFill>
                <a:latin typeface="Tahoma" panose="020B0604030504040204" pitchFamily="34" charset="0"/>
                <a:ea typeface="楷体_GB2312" pitchFamily="49" charset="-122"/>
              </a:rPr>
              <a:t>;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i&lt;=10 </a:t>
            </a:r>
            <a:r>
              <a:rPr kumimoji="1" lang="en-US" altLang="zh-CN">
                <a:solidFill>
                  <a:srgbClr val="FF6600"/>
                </a:solidFill>
                <a:latin typeface="Tahoma" panose="020B0604030504040204" pitchFamily="34" charset="0"/>
                <a:ea typeface="楷体_GB2312" pitchFamily="49" charset="-122"/>
              </a:rPr>
              <a:t>;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{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sum=sum+i;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i++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；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} </a:t>
            </a:r>
          </a:p>
        </p:txBody>
      </p:sp>
      <p:sp>
        <p:nvSpPr>
          <p:cNvPr id="178189" name="Text Box 13"/>
          <p:cNvSpPr txBox="1">
            <a:spLocks noChangeArrowheads="1"/>
          </p:cNvSpPr>
          <p:nvPr/>
        </p:nvSpPr>
        <p:spPr bwMode="auto">
          <a:xfrm>
            <a:off x="5548313" y="2311400"/>
            <a:ext cx="2743200" cy="925513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en-US" altLang="zh-CN">
              <a:latin typeface="Tahoma" panose="020B0604030504040204" pitchFamily="34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for(i=1; i&lt;=10;i++)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sum=sum+i; </a:t>
            </a:r>
          </a:p>
        </p:txBody>
      </p:sp>
      <p:sp>
        <p:nvSpPr>
          <p:cNvPr id="178190" name="AutoShape 14"/>
          <p:cNvSpPr>
            <a:spLocks noChangeArrowheads="1"/>
          </p:cNvSpPr>
          <p:nvPr/>
        </p:nvSpPr>
        <p:spPr bwMode="auto">
          <a:xfrm>
            <a:off x="4710113" y="2692400"/>
            <a:ext cx="838200" cy="228600"/>
          </a:xfrm>
          <a:prstGeom prst="leftRightArrow">
            <a:avLst>
              <a:gd name="adj1" fmla="val 50000"/>
              <a:gd name="adj2" fmla="val 73333"/>
            </a:avLst>
          </a:prstGeom>
          <a:solidFill>
            <a:srgbClr val="CC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8191" name="AutoShape 15"/>
          <p:cNvSpPr>
            <a:spLocks noChangeArrowheads="1"/>
          </p:cNvSpPr>
          <p:nvPr/>
        </p:nvSpPr>
        <p:spPr bwMode="auto">
          <a:xfrm>
            <a:off x="5776913" y="939800"/>
            <a:ext cx="2971800" cy="1066800"/>
          </a:xfrm>
          <a:prstGeom prst="cloudCallout">
            <a:avLst>
              <a:gd name="adj1" fmla="val -102028"/>
              <a:gd name="adj2" fmla="val 91815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1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可以省略，但其后的分号不可以省略。</a:t>
            </a:r>
          </a:p>
        </p:txBody>
      </p:sp>
      <p:sp>
        <p:nvSpPr>
          <p:cNvPr id="178192" name="AutoShape 16"/>
          <p:cNvSpPr>
            <a:spLocks noChangeArrowheads="1"/>
          </p:cNvSpPr>
          <p:nvPr/>
        </p:nvSpPr>
        <p:spPr bwMode="auto">
          <a:xfrm>
            <a:off x="6691313" y="3302000"/>
            <a:ext cx="2133600" cy="1143000"/>
          </a:xfrm>
          <a:prstGeom prst="cloudCallout">
            <a:avLst>
              <a:gd name="adj1" fmla="val -65181"/>
              <a:gd name="adj2" fmla="val 26389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没有循环结束条件，构成了死循环</a:t>
            </a:r>
          </a:p>
        </p:txBody>
      </p:sp>
      <p:sp>
        <p:nvSpPr>
          <p:cNvPr id="178193" name="Text Box 17"/>
          <p:cNvSpPr txBox="1">
            <a:spLocks noChangeArrowheads="1"/>
          </p:cNvSpPr>
          <p:nvPr/>
        </p:nvSpPr>
        <p:spPr bwMode="auto">
          <a:xfrm>
            <a:off x="5548313" y="5195888"/>
            <a:ext cx="2743200" cy="925512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en-US" altLang="zh-CN">
              <a:latin typeface="Tahoma" panose="020B0604030504040204" pitchFamily="34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for(i=1; i&lt;=10;i++)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sum=sum+i; </a:t>
            </a:r>
          </a:p>
        </p:txBody>
      </p:sp>
      <p:sp>
        <p:nvSpPr>
          <p:cNvPr id="178194" name="AutoShape 18"/>
          <p:cNvSpPr>
            <a:spLocks noChangeArrowheads="1"/>
          </p:cNvSpPr>
          <p:nvPr/>
        </p:nvSpPr>
        <p:spPr bwMode="auto">
          <a:xfrm>
            <a:off x="4710113" y="5576888"/>
            <a:ext cx="838200" cy="228600"/>
          </a:xfrm>
          <a:prstGeom prst="leftRightArrow">
            <a:avLst>
              <a:gd name="adj1" fmla="val 50000"/>
              <a:gd name="adj2" fmla="val 73333"/>
            </a:avLst>
          </a:prstGeom>
          <a:solidFill>
            <a:srgbClr val="CC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8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8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7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2" grpId="0" animBg="1" autoUpdateAnimBg="0"/>
      <p:bldP spid="178183" grpId="0" animBg="1" autoUpdateAnimBg="0"/>
      <p:bldP spid="178184" grpId="0" animBg="1" autoUpdateAnimBg="0"/>
      <p:bldP spid="178185" grpId="0" animBg="1" autoUpdateAnimBg="0"/>
      <p:bldP spid="178186" grpId="0" animBg="1" autoUpdateAnimBg="0"/>
      <p:bldP spid="178187" grpId="0" animBg="1" autoUpdateAnimBg="0"/>
      <p:bldP spid="178188" grpId="0" animBg="1" autoUpdateAnimBg="0"/>
      <p:bldP spid="178189" grpId="0" animBg="1" autoUpdateAnimBg="0"/>
      <p:bldP spid="178190" grpId="0" animBg="1"/>
      <p:bldP spid="178191" grpId="0" animBg="1" autoUpdateAnimBg="0"/>
      <p:bldP spid="178192" grpId="0" animBg="1" autoUpdateAnimBg="0"/>
      <p:bldP spid="178193" grpId="0" animBg="1" autoUpdateAnimBg="0"/>
      <p:bldP spid="17819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179216" name="AutoShape 16"/>
          <p:cNvSpPr>
            <a:spLocks noChangeArrowheads="1"/>
          </p:cNvSpPr>
          <p:nvPr/>
        </p:nvSpPr>
        <p:spPr bwMode="auto">
          <a:xfrm>
            <a:off x="762000" y="180975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4</a:t>
            </a:r>
          </a:p>
        </p:txBody>
      </p:sp>
      <p:sp>
        <p:nvSpPr>
          <p:cNvPr id="179217" name="AutoShape 17"/>
          <p:cNvSpPr>
            <a:spLocks noChangeArrowheads="1"/>
          </p:cNvSpPr>
          <p:nvPr/>
        </p:nvSpPr>
        <p:spPr bwMode="auto">
          <a:xfrm>
            <a:off x="762000" y="348615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5</a:t>
            </a:r>
          </a:p>
        </p:txBody>
      </p:sp>
      <p:sp>
        <p:nvSpPr>
          <p:cNvPr id="179218" name="Text Box 18"/>
          <p:cNvSpPr txBox="1">
            <a:spLocks noChangeArrowheads="1"/>
          </p:cNvSpPr>
          <p:nvPr/>
        </p:nvSpPr>
        <p:spPr bwMode="auto">
          <a:xfrm>
            <a:off x="1752600" y="3486150"/>
            <a:ext cx="2819400" cy="650875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for( ; ; 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sum=sum+i; </a:t>
            </a:r>
          </a:p>
        </p:txBody>
      </p:sp>
      <p:sp>
        <p:nvSpPr>
          <p:cNvPr id="179219" name="AutoShape 19"/>
          <p:cNvSpPr>
            <a:spLocks noChangeArrowheads="1"/>
          </p:cNvSpPr>
          <p:nvPr/>
        </p:nvSpPr>
        <p:spPr bwMode="auto">
          <a:xfrm>
            <a:off x="755650" y="4405313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6</a:t>
            </a:r>
          </a:p>
        </p:txBody>
      </p:sp>
      <p:sp>
        <p:nvSpPr>
          <p:cNvPr id="179220" name="Text Box 20"/>
          <p:cNvSpPr txBox="1">
            <a:spLocks noChangeArrowheads="1"/>
          </p:cNvSpPr>
          <p:nvPr/>
        </p:nvSpPr>
        <p:spPr bwMode="auto">
          <a:xfrm>
            <a:off x="1763713" y="4333875"/>
            <a:ext cx="2819400" cy="925513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1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和表达式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3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可以是与循环变量无关的表达式。</a:t>
            </a:r>
          </a:p>
        </p:txBody>
      </p:sp>
      <p:sp>
        <p:nvSpPr>
          <p:cNvPr id="179221" name="Text Box 21"/>
          <p:cNvSpPr txBox="1">
            <a:spLocks noChangeArrowheads="1"/>
          </p:cNvSpPr>
          <p:nvPr/>
        </p:nvSpPr>
        <p:spPr bwMode="auto">
          <a:xfrm>
            <a:off x="1752600" y="1657350"/>
            <a:ext cx="2819400" cy="1474788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for( ;i&lt;=10 ; 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{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sum=sum+i;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i++;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} </a:t>
            </a:r>
          </a:p>
        </p:txBody>
      </p:sp>
      <p:sp>
        <p:nvSpPr>
          <p:cNvPr id="179222" name="AutoShape 22"/>
          <p:cNvSpPr>
            <a:spLocks noChangeArrowheads="1"/>
          </p:cNvSpPr>
          <p:nvPr/>
        </p:nvSpPr>
        <p:spPr bwMode="auto">
          <a:xfrm>
            <a:off x="755650" y="548640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7</a:t>
            </a:r>
          </a:p>
        </p:txBody>
      </p:sp>
      <p:sp>
        <p:nvSpPr>
          <p:cNvPr id="179223" name="Text Box 23"/>
          <p:cNvSpPr txBox="1">
            <a:spLocks noChangeArrowheads="1"/>
          </p:cNvSpPr>
          <p:nvPr/>
        </p:nvSpPr>
        <p:spPr bwMode="auto">
          <a:xfrm>
            <a:off x="1763713" y="5557838"/>
            <a:ext cx="3429000" cy="650875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表达式</a:t>
            </a:r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2</a:t>
            </a:r>
            <a:r>
              <a:rPr kumimoji="1" lang="zh-CN" altLang="en-US">
                <a:latin typeface="Tahoma" panose="020B0604030504040204" pitchFamily="34" charset="0"/>
                <a:ea typeface="楷体_GB2312" pitchFamily="49" charset="-122"/>
              </a:rPr>
              <a:t>一般是关系表达式，也可以是数值或字符表达式。</a:t>
            </a:r>
          </a:p>
        </p:txBody>
      </p:sp>
      <p:sp>
        <p:nvSpPr>
          <p:cNvPr id="179224" name="AutoShape 24"/>
          <p:cNvSpPr>
            <a:spLocks noChangeArrowheads="1"/>
          </p:cNvSpPr>
          <p:nvPr/>
        </p:nvSpPr>
        <p:spPr bwMode="auto">
          <a:xfrm>
            <a:off x="4572000" y="2114550"/>
            <a:ext cx="457200" cy="228600"/>
          </a:xfrm>
          <a:prstGeom prst="leftRightArrow">
            <a:avLst>
              <a:gd name="adj1" fmla="val 50000"/>
              <a:gd name="adj2" fmla="val 40000"/>
            </a:avLst>
          </a:prstGeom>
          <a:solidFill>
            <a:srgbClr val="CC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9225" name="Text Box 25"/>
          <p:cNvSpPr txBox="1">
            <a:spLocks noChangeArrowheads="1"/>
          </p:cNvSpPr>
          <p:nvPr/>
        </p:nvSpPr>
        <p:spPr bwMode="auto">
          <a:xfrm>
            <a:off x="5029200" y="1657350"/>
            <a:ext cx="2819400" cy="1474788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while(i&lt;=10)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{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sum=sum+i;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i++ ;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} </a:t>
            </a:r>
          </a:p>
        </p:txBody>
      </p:sp>
      <p:sp>
        <p:nvSpPr>
          <p:cNvPr id="179226" name="Text Box 26"/>
          <p:cNvSpPr txBox="1">
            <a:spLocks noChangeArrowheads="1"/>
          </p:cNvSpPr>
          <p:nvPr/>
        </p:nvSpPr>
        <p:spPr bwMode="auto">
          <a:xfrm>
            <a:off x="5029200" y="3486150"/>
            <a:ext cx="2819400" cy="650875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while (1)  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sum=sum+i; </a:t>
            </a:r>
          </a:p>
        </p:txBody>
      </p:sp>
      <p:sp>
        <p:nvSpPr>
          <p:cNvPr id="179227" name="AutoShape 27"/>
          <p:cNvSpPr>
            <a:spLocks noChangeArrowheads="1"/>
          </p:cNvSpPr>
          <p:nvPr/>
        </p:nvSpPr>
        <p:spPr bwMode="auto">
          <a:xfrm>
            <a:off x="5364163" y="404813"/>
            <a:ext cx="3779837" cy="1143000"/>
          </a:xfrm>
          <a:prstGeom prst="cloudCallout">
            <a:avLst>
              <a:gd name="adj1" fmla="val -66255"/>
              <a:gd name="adj2" fmla="val 7222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r>
              <a:rPr kumimoji="1" lang="en-US" altLang="zh-CN" sz="2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000">
                <a:latin typeface="Times New Roman" panose="02020603050405020304" pitchFamily="18" charset="0"/>
                <a:ea typeface="楷体_GB2312" pitchFamily="49" charset="-122"/>
              </a:rPr>
              <a:t>和表达式</a:t>
            </a:r>
            <a:r>
              <a:rPr kumimoji="1" lang="en-US" altLang="zh-CN" sz="2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2000">
                <a:latin typeface="Times New Roman" panose="02020603050405020304" pitchFamily="18" charset="0"/>
                <a:ea typeface="楷体_GB2312" pitchFamily="49" charset="-122"/>
              </a:rPr>
              <a:t>可以同时省略，此时等同于</a:t>
            </a:r>
            <a:r>
              <a:rPr kumimoji="1" lang="en-US" altLang="zh-CN" sz="2000">
                <a:latin typeface="Times New Roman" panose="02020603050405020304" pitchFamily="18" charset="0"/>
                <a:ea typeface="楷体_GB2312" pitchFamily="49" charset="-122"/>
              </a:rPr>
              <a:t>while</a:t>
            </a:r>
            <a:r>
              <a:rPr kumimoji="1" lang="zh-CN" altLang="en-US" sz="2000">
                <a:latin typeface="Times New Roman" panose="02020603050405020304" pitchFamily="18" charset="0"/>
                <a:ea typeface="楷体_GB2312" pitchFamily="49" charset="-122"/>
              </a:rPr>
              <a:t>语句。</a:t>
            </a:r>
          </a:p>
        </p:txBody>
      </p:sp>
      <p:sp>
        <p:nvSpPr>
          <p:cNvPr id="179228" name="Text Box 28"/>
          <p:cNvSpPr txBox="1">
            <a:spLocks noChangeArrowheads="1"/>
          </p:cNvSpPr>
          <p:nvPr/>
        </p:nvSpPr>
        <p:spPr bwMode="auto">
          <a:xfrm>
            <a:off x="5105400" y="4324350"/>
            <a:ext cx="3657600" cy="650875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for(sum=0,i=1;i&lt;=100,i++)  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 sum=sum+i; 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572000" y="4324350"/>
            <a:ext cx="533400" cy="533400"/>
            <a:chOff x="2880" y="2880"/>
            <a:chExt cx="336" cy="336"/>
          </a:xfrm>
        </p:grpSpPr>
        <p:sp>
          <p:nvSpPr>
            <p:cNvPr id="30739" name="AutoShape 30"/>
            <p:cNvSpPr>
              <a:spLocks noChangeArrowheads="1"/>
            </p:cNvSpPr>
            <p:nvPr/>
          </p:nvSpPr>
          <p:spPr bwMode="auto">
            <a:xfrm>
              <a:off x="2880" y="3072"/>
              <a:ext cx="336" cy="144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CC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740" name="Text Box 31"/>
            <p:cNvSpPr txBox="1">
              <a:spLocks noChangeArrowheads="1"/>
            </p:cNvSpPr>
            <p:nvPr/>
          </p:nvSpPr>
          <p:spPr bwMode="auto">
            <a:xfrm>
              <a:off x="2880" y="288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</a:p>
          </p:txBody>
        </p:sp>
      </p:grpSp>
      <p:sp>
        <p:nvSpPr>
          <p:cNvPr id="179232" name="AutoShape 32"/>
          <p:cNvSpPr>
            <a:spLocks noChangeArrowheads="1"/>
          </p:cNvSpPr>
          <p:nvPr/>
        </p:nvSpPr>
        <p:spPr bwMode="auto">
          <a:xfrm>
            <a:off x="4572000" y="3638550"/>
            <a:ext cx="457200" cy="228600"/>
          </a:xfrm>
          <a:prstGeom prst="leftRightArrow">
            <a:avLst>
              <a:gd name="adj1" fmla="val 50000"/>
              <a:gd name="adj2" fmla="val 40000"/>
            </a:avLst>
          </a:prstGeom>
          <a:solidFill>
            <a:srgbClr val="CC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9233" name="AutoShape 33"/>
          <p:cNvSpPr>
            <a:spLocks noChangeArrowheads="1"/>
          </p:cNvSpPr>
          <p:nvPr/>
        </p:nvSpPr>
        <p:spPr bwMode="auto">
          <a:xfrm>
            <a:off x="5181600" y="4868863"/>
            <a:ext cx="3962400" cy="1828800"/>
          </a:xfrm>
          <a:prstGeom prst="irregularSeal2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>
                <a:latin typeface="Times New Roman" panose="02020603050405020304" pitchFamily="18" charset="0"/>
                <a:ea typeface="楷体_GB2312" pitchFamily="49" charset="-122"/>
              </a:rPr>
              <a:t>建议：</a:t>
            </a:r>
            <a:r>
              <a:rPr kumimoji="1" lang="en-US" altLang="zh-CN" sz="2000">
                <a:latin typeface="Times New Roman" panose="02020603050405020304" pitchFamily="18" charset="0"/>
                <a:ea typeface="楷体_GB2312" pitchFamily="49" charset="-122"/>
              </a:rPr>
              <a:t>for</a:t>
            </a:r>
            <a:r>
              <a:rPr kumimoji="1" lang="zh-CN" altLang="en-US" sz="2000">
                <a:latin typeface="Times New Roman" panose="02020603050405020304" pitchFamily="18" charset="0"/>
                <a:ea typeface="楷体_GB2312" pitchFamily="49" charset="-122"/>
              </a:rPr>
              <a:t>语句中只放与</a:t>
            </a:r>
          </a:p>
          <a:p>
            <a:pPr algn="ctr" eaLnBrk="1" hangingPunct="1"/>
            <a:r>
              <a:rPr kumimoji="1" lang="zh-CN" altLang="en-US" sz="2000">
                <a:latin typeface="Times New Roman" panose="02020603050405020304" pitchFamily="18" charset="0"/>
                <a:ea typeface="楷体_GB2312" pitchFamily="49" charset="-122"/>
              </a:rPr>
              <a:t>循环控制有关的语句。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7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6" grpId="0" animBg="1" autoUpdateAnimBg="0"/>
      <p:bldP spid="179217" grpId="0" animBg="1" autoUpdateAnimBg="0"/>
      <p:bldP spid="179218" grpId="0" animBg="1" autoUpdateAnimBg="0"/>
      <p:bldP spid="179219" grpId="0" animBg="1" autoUpdateAnimBg="0"/>
      <p:bldP spid="179220" grpId="0" animBg="1" autoUpdateAnimBg="0"/>
      <p:bldP spid="179221" grpId="0" animBg="1" autoUpdateAnimBg="0"/>
      <p:bldP spid="179222" grpId="0" animBg="1" autoUpdateAnimBg="0"/>
      <p:bldP spid="179223" grpId="0" animBg="1" autoUpdateAnimBg="0"/>
      <p:bldP spid="179224" grpId="0" animBg="1"/>
      <p:bldP spid="179225" grpId="0" animBg="1" autoUpdateAnimBg="0"/>
      <p:bldP spid="179226" grpId="0" animBg="1" autoUpdateAnimBg="0"/>
      <p:bldP spid="179227" grpId="0" animBg="1" autoUpdateAnimBg="0"/>
      <p:bldP spid="179228" grpId="0" animBg="1" autoUpdateAnimBg="0"/>
      <p:bldP spid="179232" grpId="0" animBg="1"/>
      <p:bldP spid="179233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90310" y="83853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下列</a:t>
            </a:r>
            <a:r>
              <a:rPr lang="en-US" altLang="zh-CN" sz="2800" dirty="0"/>
              <a:t>for </a:t>
            </a:r>
            <a:r>
              <a:rPr lang="zh-CN" altLang="en-US" sz="2800" dirty="0"/>
              <a:t>语句的循环次数</a:t>
            </a:r>
            <a:r>
              <a:rPr lang="zh-CN" altLang="en-US" sz="2800" dirty="0" smtClean="0"/>
              <a:t>是</a:t>
            </a:r>
            <a:r>
              <a:rPr lang="zh-CN" altLang="en-US" sz="2800" u="sng" dirty="0" smtClean="0"/>
              <a:t>             </a:t>
            </a:r>
            <a:r>
              <a:rPr lang="zh-CN" altLang="en-US" sz="2800" dirty="0" smtClean="0"/>
              <a:t>次</a:t>
            </a:r>
            <a:r>
              <a:rPr lang="zh-CN" altLang="en-US" sz="2800" dirty="0"/>
              <a:t>。</a:t>
            </a:r>
          </a:p>
          <a:p>
            <a:r>
              <a:rPr lang="en-US" altLang="zh-CN" sz="2800" dirty="0" smtClean="0"/>
              <a:t>{for(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k=0; ;</a:t>
            </a:r>
            <a:r>
              <a:rPr lang="en-US" altLang="zh-CN" sz="2800"/>
              <a:t>k</a:t>
            </a:r>
            <a:r>
              <a:rPr lang="en-US" altLang="zh-CN" sz="2800" smtClean="0"/>
              <a:t>++)}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无限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有语法错，不能执行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14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1773238"/>
            <a:ext cx="7931150" cy="4103687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FF0000"/>
                </a:solidFill>
                <a:effectLst/>
              </a:rPr>
              <a:t>根据语句特点：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circleNumDbPlain"/>
            </a:pPr>
            <a:r>
              <a:rPr lang="zh-CN" altLang="en-US" b="1" smtClean="0">
                <a:effectLst/>
              </a:rPr>
              <a:t>表达式</a:t>
            </a:r>
            <a:r>
              <a:rPr lang="en-US" altLang="zh-CN" b="1" smtClean="0">
                <a:effectLst/>
              </a:rPr>
              <a:t>1</a:t>
            </a:r>
            <a:r>
              <a:rPr lang="zh-CN" altLang="en-US" b="1" smtClean="0">
                <a:effectLst/>
              </a:rPr>
              <a:t>用来初始化，有时会用一个逗号表达式；</a:t>
            </a:r>
          </a:p>
          <a:p>
            <a:pPr marL="1371600" lvl="2" indent="-457200" eaLnBrk="1" hangingPunct="1">
              <a:buSzTx/>
              <a:buFont typeface="Wingdings" panose="05000000000000000000" pitchFamily="2" charset="2"/>
              <a:buNone/>
            </a:pPr>
            <a:r>
              <a:rPr lang="zh-CN" altLang="en-US" sz="2800" b="1" smtClean="0">
                <a:effectLst/>
              </a:rPr>
              <a:t>  </a:t>
            </a:r>
            <a:r>
              <a:rPr lang="en-US" altLang="zh-CN" sz="2800" b="1" smtClean="0">
                <a:effectLst/>
              </a:rPr>
              <a:t>for (i = 0, j = 0; i + j &lt; n; ++i, ++j)</a:t>
            </a:r>
            <a:br>
              <a:rPr lang="en-US" altLang="zh-CN" sz="2800" b="1" smtClean="0">
                <a:effectLst/>
              </a:rPr>
            </a:br>
            <a:r>
              <a:rPr lang="zh-CN" altLang="en-US" sz="2800" b="1" smtClean="0">
                <a:effectLst/>
              </a:rPr>
              <a:t>语句</a:t>
            </a:r>
            <a:r>
              <a:rPr lang="en-US" altLang="zh-CN" sz="2800" b="1" smtClean="0">
                <a:effectLst/>
              </a:rPr>
              <a:t>;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circleNumDbPlain"/>
            </a:pPr>
            <a:r>
              <a:rPr lang="zh-CN" altLang="en-US" b="1" smtClean="0">
                <a:effectLst/>
              </a:rPr>
              <a:t>表达方式</a:t>
            </a:r>
            <a:r>
              <a:rPr lang="en-US" altLang="zh-CN" b="1" smtClean="0">
                <a:effectLst/>
              </a:rPr>
              <a:t>2</a:t>
            </a:r>
            <a:r>
              <a:rPr lang="zh-CN" altLang="en-US" b="1" smtClean="0">
                <a:effectLst/>
              </a:rPr>
              <a:t>用来进行循环结束测试；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circleNumDbPlain"/>
            </a:pPr>
            <a:r>
              <a:rPr lang="zh-CN" altLang="en-US" b="1" smtClean="0">
                <a:effectLst/>
              </a:rPr>
              <a:t>表达方式</a:t>
            </a:r>
            <a:r>
              <a:rPr lang="en-US" altLang="zh-CN" b="1" smtClean="0">
                <a:effectLst/>
              </a:rPr>
              <a:t>3</a:t>
            </a:r>
            <a:r>
              <a:rPr lang="zh-CN" altLang="en-US" b="1" smtClean="0">
                <a:effectLst/>
              </a:rPr>
              <a:t>用于修改循环变量；</a:t>
            </a:r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circleNumDbPlain"/>
            </a:pPr>
            <a:r>
              <a:rPr lang="zh-CN" altLang="en-US" b="1" smtClean="0">
                <a:effectLst/>
              </a:rPr>
              <a:t>在循环次数已知的情况下，多用</a:t>
            </a:r>
            <a:r>
              <a:rPr lang="en-US" altLang="zh-CN" b="1" smtClean="0">
                <a:effectLst/>
              </a:rPr>
              <a:t>for</a:t>
            </a:r>
            <a:r>
              <a:rPr lang="zh-CN" altLang="en-US" b="1" smtClean="0">
                <a:effectLst/>
              </a:rPr>
              <a:t>循环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32771" name="Text Box 6"/>
          <p:cNvSpPr txBox="1">
            <a:spLocks noChangeArrowheads="1"/>
          </p:cNvSpPr>
          <p:nvPr/>
        </p:nvSpPr>
        <p:spPr bwMode="auto">
          <a:xfrm>
            <a:off x="900113" y="1341438"/>
            <a:ext cx="6985000" cy="4064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计算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n!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＝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1×2×3×… ×(n-1) × n</a:t>
            </a:r>
          </a:p>
        </p:txBody>
      </p:sp>
      <p:sp>
        <p:nvSpPr>
          <p:cNvPr id="191495" name="Text Box 7" descr="羊皮纸"/>
          <p:cNvSpPr txBox="1">
            <a:spLocks noChangeArrowheads="1"/>
          </p:cNvSpPr>
          <p:nvPr/>
        </p:nvSpPr>
        <p:spPr bwMode="auto">
          <a:xfrm>
            <a:off x="1042988" y="1844675"/>
            <a:ext cx="3313112" cy="48482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rgbClr val="CC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using namespace std;</a:t>
            </a:r>
          </a:p>
          <a:p>
            <a:pPr eaLnBrk="1" hangingPunct="1"/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#include &lt;iostream&gt;</a:t>
            </a:r>
          </a:p>
          <a:p>
            <a:pPr eaLnBrk="1" hangingPunct="1"/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int main()</a:t>
            </a:r>
          </a:p>
          <a:p>
            <a:pPr eaLnBrk="1" hangingPunct="1"/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int s=1, i=1;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int n;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cin&gt;&gt;n; 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while(i&lt;=n)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{  s*=i;</a:t>
            </a:r>
          </a:p>
          <a:p>
            <a:pPr eaLnBrk="1" hangingPunct="1"/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    i++; }</a:t>
            </a:r>
          </a:p>
          <a:p>
            <a:pPr eaLnBrk="1" hangingPunct="1"/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cout&lt;&lt;s;</a:t>
            </a:r>
          </a:p>
          <a:p>
            <a:pPr eaLnBrk="1" hangingPunct="1"/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return 0;</a:t>
            </a:r>
          </a:p>
          <a:p>
            <a:pPr eaLnBrk="1" hangingPunct="1"/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} 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5076825" y="1484313"/>
            <a:ext cx="3698875" cy="4967287"/>
            <a:chOff x="3198" y="935"/>
            <a:chExt cx="2330" cy="3129"/>
          </a:xfrm>
        </p:grpSpPr>
        <p:grpSp>
          <p:nvGrpSpPr>
            <p:cNvPr id="32774" name="Group 9"/>
            <p:cNvGrpSpPr>
              <a:grpSpLocks/>
            </p:cNvGrpSpPr>
            <p:nvPr/>
          </p:nvGrpSpPr>
          <p:grpSpPr bwMode="auto">
            <a:xfrm>
              <a:off x="3198" y="935"/>
              <a:ext cx="2330" cy="3129"/>
              <a:chOff x="3016" y="981"/>
              <a:chExt cx="2330" cy="3129"/>
            </a:xfrm>
          </p:grpSpPr>
          <p:sp>
            <p:nvSpPr>
              <p:cNvPr id="32777" name="AutoShape 10"/>
              <p:cNvSpPr>
                <a:spLocks noChangeArrowheads="1"/>
              </p:cNvSpPr>
              <p:nvPr/>
            </p:nvSpPr>
            <p:spPr bwMode="auto">
              <a:xfrm>
                <a:off x="3628" y="981"/>
                <a:ext cx="1115" cy="231"/>
              </a:xfrm>
              <a:prstGeom prst="flowChartAlternateProcess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开始</a:t>
                </a:r>
                <a:endParaRPr lang="zh-CN" altLang="en-US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32778" name="Text Box 11"/>
              <p:cNvSpPr txBox="1">
                <a:spLocks noChangeArrowheads="1"/>
              </p:cNvSpPr>
              <p:nvPr/>
            </p:nvSpPr>
            <p:spPr bwMode="auto">
              <a:xfrm>
                <a:off x="3400" y="1378"/>
                <a:ext cx="1654" cy="31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清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i=1</a:t>
                </a:r>
                <a:endParaRPr lang="en-US" altLang="zh-CN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32779" name="Line 12"/>
              <p:cNvSpPr>
                <a:spLocks noChangeShapeType="1"/>
              </p:cNvSpPr>
              <p:nvPr/>
            </p:nvSpPr>
            <p:spPr bwMode="auto">
              <a:xfrm>
                <a:off x="4176" y="1226"/>
                <a:ext cx="0" cy="1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0" name="AutoShape 13"/>
              <p:cNvSpPr>
                <a:spLocks noChangeArrowheads="1"/>
              </p:cNvSpPr>
              <p:nvPr/>
            </p:nvSpPr>
            <p:spPr bwMode="auto">
              <a:xfrm>
                <a:off x="3519" y="1948"/>
                <a:ext cx="1297" cy="404"/>
              </a:xfrm>
              <a:prstGeom prst="flowChartDecision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i&lt;= n?</a:t>
                </a:r>
              </a:p>
            </p:txBody>
          </p:sp>
          <p:sp>
            <p:nvSpPr>
              <p:cNvPr id="32781" name="Line 14"/>
              <p:cNvSpPr>
                <a:spLocks noChangeShapeType="1"/>
              </p:cNvSpPr>
              <p:nvPr/>
            </p:nvSpPr>
            <p:spPr bwMode="auto">
              <a:xfrm>
                <a:off x="4158" y="1688"/>
                <a:ext cx="0" cy="27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2" name="Line 15"/>
              <p:cNvSpPr>
                <a:spLocks noChangeShapeType="1"/>
              </p:cNvSpPr>
              <p:nvPr/>
            </p:nvSpPr>
            <p:spPr bwMode="auto">
              <a:xfrm>
                <a:off x="4177" y="2341"/>
                <a:ext cx="0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3" name="Text Box 16"/>
              <p:cNvSpPr txBox="1">
                <a:spLocks noChangeArrowheads="1"/>
              </p:cNvSpPr>
              <p:nvPr/>
            </p:nvSpPr>
            <p:spPr bwMode="auto">
              <a:xfrm>
                <a:off x="3696" y="2568"/>
                <a:ext cx="907" cy="41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乘到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中</a:t>
                </a:r>
              </a:p>
              <a:p>
                <a:pPr algn="just" eaLnBrk="1" hangingPunct="1"/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i+1=&gt;i</a:t>
                </a:r>
              </a:p>
            </p:txBody>
          </p:sp>
          <p:sp>
            <p:nvSpPr>
              <p:cNvPr id="32784" name="Line 17"/>
              <p:cNvSpPr>
                <a:spLocks noChangeShapeType="1"/>
              </p:cNvSpPr>
              <p:nvPr/>
            </p:nvSpPr>
            <p:spPr bwMode="auto">
              <a:xfrm>
                <a:off x="4140" y="2994"/>
                <a:ext cx="0" cy="1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5" name="Line 18"/>
              <p:cNvSpPr>
                <a:spLocks noChangeShapeType="1"/>
              </p:cNvSpPr>
              <p:nvPr/>
            </p:nvSpPr>
            <p:spPr bwMode="auto">
              <a:xfrm>
                <a:off x="3016" y="3160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6" name="Line 19"/>
              <p:cNvSpPr>
                <a:spLocks noChangeShapeType="1"/>
              </p:cNvSpPr>
              <p:nvPr/>
            </p:nvSpPr>
            <p:spPr bwMode="auto">
              <a:xfrm flipV="1">
                <a:off x="3016" y="1842"/>
                <a:ext cx="0" cy="131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7" name="Line 20"/>
              <p:cNvSpPr>
                <a:spLocks noChangeShapeType="1"/>
              </p:cNvSpPr>
              <p:nvPr/>
            </p:nvSpPr>
            <p:spPr bwMode="auto">
              <a:xfrm>
                <a:off x="3016" y="1842"/>
                <a:ext cx="109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8" name="Line 21"/>
              <p:cNvSpPr>
                <a:spLocks noChangeShapeType="1"/>
              </p:cNvSpPr>
              <p:nvPr/>
            </p:nvSpPr>
            <p:spPr bwMode="auto">
              <a:xfrm>
                <a:off x="4816" y="2150"/>
                <a:ext cx="5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9" name="Line 22"/>
              <p:cNvSpPr>
                <a:spLocks noChangeShapeType="1"/>
              </p:cNvSpPr>
              <p:nvPr/>
            </p:nvSpPr>
            <p:spPr bwMode="auto">
              <a:xfrm flipH="1">
                <a:off x="5329" y="2157"/>
                <a:ext cx="8" cy="10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0" name="Line 23"/>
              <p:cNvSpPr>
                <a:spLocks noChangeShapeType="1"/>
              </p:cNvSpPr>
              <p:nvPr/>
            </p:nvSpPr>
            <p:spPr bwMode="auto">
              <a:xfrm flipH="1">
                <a:off x="3994" y="3249"/>
                <a:ext cx="13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1" name="Text Box 24"/>
              <p:cNvSpPr txBox="1">
                <a:spLocks noChangeArrowheads="1"/>
              </p:cNvSpPr>
              <p:nvPr/>
            </p:nvSpPr>
            <p:spPr bwMode="auto">
              <a:xfrm>
                <a:off x="3546" y="3394"/>
                <a:ext cx="923" cy="21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输出</a:t>
                </a:r>
                <a:r>
                  <a:rPr lang="en-US" altLang="zh-CN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32792" name="Line 25"/>
              <p:cNvSpPr>
                <a:spLocks noChangeShapeType="1"/>
              </p:cNvSpPr>
              <p:nvPr/>
            </p:nvSpPr>
            <p:spPr bwMode="auto">
              <a:xfrm>
                <a:off x="4003" y="3249"/>
                <a:ext cx="0" cy="1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3" name="AutoShape 26"/>
              <p:cNvSpPr>
                <a:spLocks noChangeArrowheads="1"/>
              </p:cNvSpPr>
              <p:nvPr/>
            </p:nvSpPr>
            <p:spPr bwMode="auto">
              <a:xfrm>
                <a:off x="3692" y="3841"/>
                <a:ext cx="640" cy="269"/>
              </a:xfrm>
              <a:prstGeom prst="flowChartAlternateProcess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结束</a:t>
                </a:r>
                <a:endParaRPr lang="zh-CN" altLang="en-US" sz="2000">
                  <a:solidFill>
                    <a:srgbClr val="FFFF66"/>
                  </a:solidFill>
                </a:endParaRPr>
              </a:p>
            </p:txBody>
          </p:sp>
          <p:sp>
            <p:nvSpPr>
              <p:cNvPr id="32794" name="Line 27"/>
              <p:cNvSpPr>
                <a:spLocks noChangeShapeType="1"/>
              </p:cNvSpPr>
              <p:nvPr/>
            </p:nvSpPr>
            <p:spPr bwMode="auto">
              <a:xfrm>
                <a:off x="4003" y="3632"/>
                <a:ext cx="0" cy="2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75" name="Text Box 28"/>
            <p:cNvSpPr txBox="1">
              <a:spLocks noChangeArrowheads="1"/>
            </p:cNvSpPr>
            <p:nvPr/>
          </p:nvSpPr>
          <p:spPr bwMode="auto">
            <a:xfrm>
              <a:off x="4159" y="2296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T</a:t>
              </a:r>
            </a:p>
          </p:txBody>
        </p:sp>
        <p:sp>
          <p:nvSpPr>
            <p:cNvPr id="32776" name="Text Box 29"/>
            <p:cNvSpPr txBox="1">
              <a:spLocks noChangeArrowheads="1"/>
            </p:cNvSpPr>
            <p:nvPr/>
          </p:nvSpPr>
          <p:spPr bwMode="auto">
            <a:xfrm>
              <a:off x="4967" y="1888"/>
              <a:ext cx="2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F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5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29465" y="1412776"/>
            <a:ext cx="8451383" cy="521376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题目内容：</a:t>
            </a:r>
            <a:endParaRPr lang="zh-CN" altLang="en-US" sz="2800" b="0" dirty="0"/>
          </a:p>
          <a:p>
            <a:r>
              <a:rPr lang="zh-CN" altLang="en-US" sz="2800" b="0" dirty="0"/>
              <a:t>求值 </a:t>
            </a:r>
            <a:r>
              <a:rPr lang="en-US" altLang="zh-CN" sz="2800" b="0" dirty="0"/>
              <a:t>1! + 2! + 3!+ …+ n!</a:t>
            </a:r>
            <a:r>
              <a:rPr lang="zh-CN" altLang="en-US" sz="2800" b="0" dirty="0"/>
              <a:t>并</a:t>
            </a:r>
            <a:r>
              <a:rPr lang="zh-CN" altLang="en-US" sz="2800" b="0" dirty="0" smtClean="0"/>
              <a:t>输出</a:t>
            </a:r>
            <a:r>
              <a:rPr lang="zh-CN" altLang="en-US" sz="2800" b="0" dirty="0"/>
              <a:t>（</a:t>
            </a:r>
            <a:r>
              <a:rPr lang="en-US" altLang="zh-CN" sz="2800" b="0" dirty="0"/>
              <a:t>n&lt;=20</a:t>
            </a:r>
            <a:r>
              <a:rPr lang="zh-CN" altLang="en-US" sz="2800" b="0" dirty="0" smtClean="0"/>
              <a:t>）</a:t>
            </a:r>
            <a:endParaRPr lang="zh-CN" altLang="en-US" sz="2800" b="0" dirty="0"/>
          </a:p>
          <a:p>
            <a:endParaRPr lang="en-US" altLang="zh-CN" sz="2800" dirty="0" smtClean="0"/>
          </a:p>
          <a:p>
            <a:r>
              <a:rPr lang="zh-CN" altLang="en-US" sz="2800" dirty="0"/>
              <a:t>输入</a:t>
            </a:r>
            <a:r>
              <a:rPr lang="zh-CN" altLang="en-US" sz="2800" dirty="0" smtClean="0"/>
              <a:t>样</a:t>
            </a:r>
            <a:r>
              <a:rPr lang="zh-CN" altLang="en-US" sz="2800" dirty="0"/>
              <a:t>例</a:t>
            </a:r>
            <a:r>
              <a:rPr lang="en-US" altLang="zh-CN" sz="2800" dirty="0"/>
              <a:t>1</a:t>
            </a:r>
            <a:r>
              <a:rPr lang="zh-CN" altLang="en-US" sz="2800" dirty="0" smtClean="0"/>
              <a:t>：</a:t>
            </a:r>
            <a:endParaRPr lang="zh-CN" altLang="en-US" sz="2800" b="0" dirty="0"/>
          </a:p>
          <a:p>
            <a:r>
              <a:rPr lang="en-US" altLang="zh-CN" sz="2800" b="0" dirty="0" smtClean="0"/>
              <a:t>3</a:t>
            </a:r>
            <a:endParaRPr lang="en-US" altLang="zh-CN" sz="2800" b="0" dirty="0"/>
          </a:p>
          <a:p>
            <a:r>
              <a:rPr lang="zh-CN" altLang="en-US" sz="2800" dirty="0"/>
              <a:t>输出样例</a:t>
            </a:r>
            <a:r>
              <a:rPr lang="en-US" altLang="zh-CN" sz="2800" dirty="0"/>
              <a:t>1</a:t>
            </a:r>
            <a:r>
              <a:rPr lang="zh-CN" altLang="en-US" sz="2800" dirty="0" smtClean="0"/>
              <a:t>：</a:t>
            </a:r>
            <a:endParaRPr lang="zh-CN" altLang="en-US" sz="2800" b="0" dirty="0"/>
          </a:p>
          <a:p>
            <a:r>
              <a:rPr lang="en-US" altLang="zh-CN" sz="2800" b="0" dirty="0" smtClean="0"/>
              <a:t>9</a:t>
            </a:r>
            <a:endParaRPr lang="en-US" altLang="zh-CN" sz="2800" b="0" dirty="0"/>
          </a:p>
          <a:p>
            <a:r>
              <a:rPr lang="zh-CN" altLang="en-US" sz="2800" dirty="0"/>
              <a:t>输入样例</a:t>
            </a:r>
            <a:r>
              <a:rPr lang="en-US" altLang="zh-CN" sz="2800" dirty="0"/>
              <a:t>2</a:t>
            </a:r>
            <a:r>
              <a:rPr lang="zh-CN" altLang="en-US" sz="2800" dirty="0" smtClean="0"/>
              <a:t>：</a:t>
            </a:r>
            <a:endParaRPr lang="zh-CN" altLang="en-US" sz="2800" b="0" dirty="0"/>
          </a:p>
          <a:p>
            <a:r>
              <a:rPr lang="en-US" altLang="zh-CN" sz="2800" b="0" dirty="0" smtClean="0"/>
              <a:t>10</a:t>
            </a:r>
            <a:endParaRPr lang="en-US" altLang="zh-CN" sz="2800" b="0" dirty="0"/>
          </a:p>
          <a:p>
            <a:r>
              <a:rPr lang="zh-CN" altLang="en-US" sz="2800" dirty="0"/>
              <a:t>输出样例</a:t>
            </a:r>
            <a:r>
              <a:rPr lang="en-US" altLang="zh-CN" sz="2800" dirty="0"/>
              <a:t>2</a:t>
            </a:r>
            <a:r>
              <a:rPr lang="zh-CN" altLang="en-US" sz="2800" dirty="0" smtClean="0"/>
              <a:t>：</a:t>
            </a:r>
            <a:endParaRPr lang="zh-CN" altLang="en-US" sz="2800" b="0" dirty="0"/>
          </a:p>
          <a:p>
            <a:r>
              <a:rPr lang="en-US" altLang="zh-CN" sz="2800" b="0" dirty="0" smtClean="0"/>
              <a:t>4037913</a:t>
            </a:r>
            <a:endParaRPr lang="zh-CN" altLang="en-US" sz="2800" b="0" dirty="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300192" y="4437112"/>
            <a:ext cx="21304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测试通过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300192" y="5294362"/>
            <a:ext cx="21304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测试未通过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5585817" y="450140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5585817" y="53586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29465" y="898758"/>
            <a:ext cx="8229600" cy="60727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r>
              <a:rPr lang="zh-CN" altLang="en-US" sz="3200" kern="0" dirty="0" smtClean="0"/>
              <a:t>编程练习</a:t>
            </a:r>
            <a:r>
              <a:rPr lang="en-US" altLang="zh-CN" sz="3200" kern="0" dirty="0" smtClean="0"/>
              <a:t>-</a:t>
            </a:r>
            <a:r>
              <a:rPr lang="zh-CN" altLang="en-US" sz="3200" kern="0" dirty="0" smtClean="0"/>
              <a:t>阶乘之和</a:t>
            </a:r>
            <a:endParaRPr lang="zh-CN" altLang="en-US" sz="3200" kern="0" dirty="0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75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964612" cy="5040313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 startAt="4"/>
            </a:pPr>
            <a:r>
              <a:rPr lang="zh-CN" altLang="en-US" sz="2400" b="1" dirty="0" smtClean="0">
                <a:effectLst/>
              </a:rPr>
              <a:t>循环嵌套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ffectLst/>
              </a:rPr>
              <a:t>      在</a:t>
            </a:r>
            <a:r>
              <a:rPr lang="en-US" altLang="zh-CN" sz="2400" b="1" dirty="0" smtClean="0">
                <a:effectLst/>
              </a:rPr>
              <a:t>while, </a:t>
            </a:r>
            <a:r>
              <a:rPr lang="en-US" altLang="zh-CN" sz="2400" b="1" dirty="0" err="1" smtClean="0">
                <a:effectLst/>
              </a:rPr>
              <a:t>do_while</a:t>
            </a:r>
            <a:r>
              <a:rPr lang="en-US" altLang="zh-CN" sz="2400" b="1" dirty="0" smtClean="0">
                <a:effectLst/>
              </a:rPr>
              <a:t>, for</a:t>
            </a:r>
            <a:r>
              <a:rPr lang="zh-CN" altLang="en-US" sz="2400" b="1" dirty="0" smtClean="0">
                <a:effectLst/>
              </a:rPr>
              <a:t>循环中的语句又是循环语句时出现嵌套，层数没有限制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000" b="1" dirty="0" smtClean="0">
              <a:effectLst/>
            </a:endParaRP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ffectLst/>
              </a:rPr>
              <a:t>例：乘法九九表打印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1*1=  1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1*2=  2  2*2=  4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1*3=  3  2*3=  6   3*3=  9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1*4=  4  2*4=  8   3*4=12  4*4=16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1*5 = 5  2*5=10   3*5=15  4*5=20  5*5=25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1*6=  6  2*6=12   3*6=18  4*6=24  5*6=30 6*6=36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1*7=  7  2*7=14   3*7=21  4*7=28  5*7=35 6*7=42  7*7=49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1*8=  8  2*8=16   3*8=24  4*8=32  5*8=40 6*8=48  7*8=56  8*8=64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ffectLst/>
              </a:rPr>
              <a:t>1*9=  9  2*9=18   3*9=27  4*9=36  5*9=45 6*9=54  7*9=63  8*9=72  9*9=81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4.4 </a:t>
            </a:r>
            <a:r>
              <a:rPr lang="zh-CN" altLang="en-US" smtClean="0"/>
              <a:t>循环语句</a:t>
            </a:r>
          </a:p>
        </p:txBody>
      </p:sp>
      <p:sp>
        <p:nvSpPr>
          <p:cNvPr id="132102" name="Text Box 6"/>
          <p:cNvSpPr txBox="1">
            <a:spLocks noChangeArrowheads="1"/>
          </p:cNvSpPr>
          <p:nvPr/>
        </p:nvSpPr>
        <p:spPr bwMode="auto">
          <a:xfrm>
            <a:off x="1331913" y="1268413"/>
            <a:ext cx="6624637" cy="521335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using namespace std;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#include &lt;iostream&gt;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#include &lt;iomanip&gt;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int main()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int i,j;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for( i=1;i&lt;=9;i++)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{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  for(j=1; j&lt;=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; j++)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      cout&lt;&lt;' '&lt;&lt;j&lt;&lt;'*'&lt;&lt;i&lt;&lt;'='&lt;&lt;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setw(2)</a:t>
            </a:r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&lt;&lt;j*i;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    cout&lt;&lt;endl; 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}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   return 0;</a:t>
            </a:r>
          </a:p>
          <a:p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2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2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2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2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2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2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2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2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2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2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2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2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2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042988" y="1177925"/>
            <a:ext cx="6985000" cy="7112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利用公式：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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/4=1-1/3+1/5-1/7+…</a:t>
            </a:r>
          </a:p>
          <a:p>
            <a:pPr eaLnBrk="1" hangingPunct="1"/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求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 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的近似值，直到某一项的绝对值小于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10</a:t>
            </a:r>
            <a:r>
              <a:rPr kumimoji="1" lang="en-US" altLang="zh-CN" sz="2000" baseline="30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-6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为止。</a:t>
            </a:r>
          </a:p>
        </p:txBody>
      </p:sp>
      <p:sp>
        <p:nvSpPr>
          <p:cNvPr id="180228" name="Text Box 4" descr="羊皮纸"/>
          <p:cNvSpPr txBox="1">
            <a:spLocks noChangeArrowheads="1"/>
          </p:cNvSpPr>
          <p:nvPr/>
        </p:nvSpPr>
        <p:spPr bwMode="auto">
          <a:xfrm>
            <a:off x="3779838" y="1844675"/>
            <a:ext cx="4321175" cy="4978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rgbClr val="CC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using namespace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std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#include &lt;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iostream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&gt;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#include &lt;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cmath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&gt;</a:t>
            </a:r>
          </a:p>
          <a:p>
            <a:pPr eaLnBrk="1" hangingPunct="1"/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main()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s;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double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n,t,pi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t=1;pi=0;n=1.0;s=1;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while((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fabs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(t))&gt;1e-6)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{  pi=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pi+t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n=n+2;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s=-s;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t=s/n;}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pi=pi*4;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cout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&lt;&lt;"pi=“&lt;&lt;pi;</a:t>
            </a:r>
          </a:p>
          <a:p>
            <a:pPr eaLnBrk="1" hangingPunct="1"/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} </a:t>
            </a:r>
          </a:p>
        </p:txBody>
      </p:sp>
      <p:sp>
        <p:nvSpPr>
          <p:cNvPr id="180229" name="AutoShape 5"/>
          <p:cNvSpPr>
            <a:spLocks noChangeArrowheads="1"/>
          </p:cNvSpPr>
          <p:nvPr/>
        </p:nvSpPr>
        <p:spPr bwMode="auto">
          <a:xfrm>
            <a:off x="7162800" y="1341438"/>
            <a:ext cx="1981200" cy="1752600"/>
          </a:xfrm>
          <a:prstGeom prst="cloudCallout">
            <a:avLst>
              <a:gd name="adj1" fmla="val -75403"/>
              <a:gd name="adj2" fmla="val -45019"/>
            </a:avLst>
          </a:prstGeom>
          <a:solidFill>
            <a:srgbClr val="3399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思考：使用那一种循环控制语句？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179388" y="476250"/>
            <a:ext cx="30972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>
                <a:latin typeface="Times New Roman" panose="02020603050405020304" pitchFamily="18" charset="0"/>
                <a:ea typeface="黑体" panose="02010609060101010101" pitchFamily="49" charset="-122"/>
              </a:rPr>
              <a:t>程序举例</a:t>
            </a:r>
          </a:p>
        </p:txBody>
      </p:sp>
      <p:sp>
        <p:nvSpPr>
          <p:cNvPr id="180232" name="Text Box 8"/>
          <p:cNvSpPr txBox="1">
            <a:spLocks noChangeArrowheads="1"/>
          </p:cNvSpPr>
          <p:nvPr/>
        </p:nvSpPr>
        <p:spPr bwMode="auto">
          <a:xfrm>
            <a:off x="1042988" y="2636838"/>
            <a:ext cx="1905000" cy="16256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pi=1-1/3+…</a:t>
            </a:r>
          </a:p>
          <a:p>
            <a:pPr eaLnBrk="1" hangingPunct="1"/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输出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4* </a:t>
            </a:r>
            <a:r>
              <a:rPr kumimoji="1" lang="en-US" altLang="en-US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pi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s=1(-1)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n=1,3,5,7…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t=s/n</a:t>
            </a:r>
          </a:p>
        </p:txBody>
      </p:sp>
    </p:spTree>
    <p:extLst>
      <p:ext uri="{BB962C8B-B14F-4D97-AF65-F5344CB8AC3E}">
        <p14:creationId xmlns:p14="http://schemas.microsoft.com/office/powerpoint/2010/main" val="364980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8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 animBg="1" autoUpdateAnimBg="0"/>
      <p:bldP spid="180229" grpId="0" animBg="1" autoUpdateAnimBg="0"/>
      <p:bldP spid="1802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55576" y="1249786"/>
            <a:ext cx="7690048" cy="401813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defRPr/>
            </a:pPr>
            <a:r>
              <a:rPr lang="zh-CN" altLang="en-US" sz="2800" dirty="0"/>
              <a:t>求正数</a:t>
            </a:r>
            <a:r>
              <a:rPr lang="en-US" altLang="zh-CN" sz="2800" dirty="0"/>
              <a:t>a</a:t>
            </a:r>
            <a:r>
              <a:rPr lang="zh-CN" altLang="en-US" sz="2800" dirty="0"/>
              <a:t>的平方根</a:t>
            </a:r>
            <a:r>
              <a:rPr lang="en-US" altLang="zh-CN" sz="2800" dirty="0"/>
              <a:t>x</a:t>
            </a:r>
            <a:r>
              <a:rPr lang="zh-CN" altLang="en-US" sz="2800" dirty="0"/>
              <a:t>。设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为</a:t>
            </a:r>
            <a:r>
              <a:rPr lang="en-US" altLang="zh-CN" sz="2800" dirty="0"/>
              <a:t>a/2</a:t>
            </a:r>
            <a:r>
              <a:rPr lang="zh-CN" altLang="en-US" sz="2800" dirty="0"/>
              <a:t>，按以下公式进行迭代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  要求最终的</a:t>
            </a:r>
            <a:r>
              <a:rPr lang="en-US" altLang="zh-CN" sz="2800" dirty="0"/>
              <a:t>x</a:t>
            </a:r>
            <a:r>
              <a:rPr lang="zh-CN" altLang="en-US" sz="2800" dirty="0"/>
              <a:t>与上一个求出的</a:t>
            </a:r>
            <a:r>
              <a:rPr lang="en-US" altLang="zh-CN" sz="2800" dirty="0"/>
              <a:t>x</a:t>
            </a:r>
            <a:r>
              <a:rPr lang="zh-CN" altLang="en-US" sz="2800" dirty="0"/>
              <a:t>的差的绝对值小于</a:t>
            </a:r>
            <a:r>
              <a:rPr lang="en-US" altLang="zh-CN" sz="2800" dirty="0"/>
              <a:t>10</a:t>
            </a:r>
            <a:r>
              <a:rPr lang="en-US" altLang="zh-CN" sz="2800" baseline="30000" dirty="0"/>
              <a:t>-5</a:t>
            </a:r>
            <a:r>
              <a:rPr lang="en-US" altLang="zh-CN" sz="2800" dirty="0"/>
              <a:t>.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914014" y="4437112"/>
            <a:ext cx="18344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成功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914014" y="5294362"/>
            <a:ext cx="18344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6199639" y="450140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199639" y="53586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8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24110"/>
              </p:ext>
            </p:extLst>
          </p:nvPr>
        </p:nvGraphicFramePr>
        <p:xfrm>
          <a:off x="2627784" y="2243585"/>
          <a:ext cx="3384550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7" name="Equation" r:id="rId16" imgW="1117115" imgH="482391" progId="Equation.DSMT4">
                  <p:embed/>
                </p:oleObj>
              </mc:Choice>
              <mc:Fallback>
                <p:oleObj name="Equation" r:id="rId16" imgW="1117115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243585"/>
                        <a:ext cx="3384550" cy="1462087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2009828" y="841391"/>
            <a:ext cx="49338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编程练习</a:t>
            </a:r>
            <a:r>
              <a:rPr kumimoji="1" lang="en-US" altLang="zh-CN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平方根</a:t>
            </a:r>
            <a:endParaRPr kumimoji="1" lang="zh-CN" altLang="en-US" sz="4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026991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9632" y="476672"/>
            <a:ext cx="662473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#include &lt;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iostream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#include &lt;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cmath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main()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double a;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cin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&gt;&gt;a;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double x=a/2,y;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do{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y=x;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x=(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x+a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/x)/2;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}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while(y-x&gt;1e-5||y-x&lt;-1e-5);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&lt;&lt;x&lt;&lt;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altLang="zh-CN" sz="2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sqrt</a:t>
            </a: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(a);</a:t>
            </a:r>
          </a:p>
          <a:p>
            <a:pPr marL="228600" indent="304800" algn="just">
              <a:spcAft>
                <a:spcPts val="0"/>
              </a:spcAft>
            </a:pPr>
            <a:r>
              <a:rPr lang="en-US" altLang="zh-CN" sz="2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2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762000" y="2214563"/>
            <a:ext cx="3200400" cy="7112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求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Fibonacci</a:t>
            </a:r>
            <a:r>
              <a:rPr kumimoji="1" lang="zh-CN" altLang="zh-CN" sz="2000">
                <a:latin typeface="Tahoma" panose="020B0604030504040204" pitchFamily="34" charset="0"/>
                <a:ea typeface="楷体_GB2312" pitchFamily="49" charset="-122"/>
              </a:rPr>
              <a:t>数列的前40个数。</a:t>
            </a:r>
            <a:endParaRPr kumimoji="1" lang="zh-CN" altLang="en-US" sz="2000">
              <a:latin typeface="Tahoma" panose="020B060403050404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83300" name="Text Box 4" descr="羊皮纸"/>
          <p:cNvSpPr txBox="1">
            <a:spLocks noChangeArrowheads="1"/>
          </p:cNvSpPr>
          <p:nvPr/>
        </p:nvSpPr>
        <p:spPr bwMode="auto">
          <a:xfrm>
            <a:off x="4211638" y="404813"/>
            <a:ext cx="4702175" cy="630872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rgbClr val="CC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using namespace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std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#include &lt;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iostream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&gt;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#include &lt;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iomanip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&gt;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main()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long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f1,f2;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f1=1;f2=1;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for(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=1;i&lt;=20;i++)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{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cout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&lt;&lt;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setw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(10)&lt;&lt;f1&lt;&lt;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setw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(10)&lt;&lt;f2;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if(i%2==0)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cout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&lt;&lt;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endl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f1=f1+f2;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f2=f2+f1;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}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return 0;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762000" y="3294063"/>
            <a:ext cx="3276600" cy="2387600"/>
          </a:xfrm>
          <a:prstGeom prst="rect">
            <a:avLst/>
          </a:prstGeom>
          <a:noFill/>
          <a:ln w="9525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特点：第</a:t>
            </a: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个数为</a:t>
            </a: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。从第三个数开始，该数是其前面两个数之和。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F1=1                    (n=1)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楷体_GB2312" pitchFamily="49" charset="-122"/>
              </a:rPr>
              <a:t>F2=1                    </a:t>
            </a: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(n=2)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 err="1">
                <a:latin typeface="Times New Roman" panose="02020603050405020304" pitchFamily="18" charset="0"/>
                <a:ea typeface="楷体_GB2312" pitchFamily="49" charset="-122"/>
              </a:rPr>
              <a:t>Fn</a:t>
            </a:r>
            <a:r>
              <a:rPr kumimoji="1"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=Fn-1+Fn-2    (n&gt;=3)</a:t>
            </a:r>
          </a:p>
        </p:txBody>
      </p:sp>
      <p:sp>
        <p:nvSpPr>
          <p:cNvPr id="183302" name="AutoShape 6"/>
          <p:cNvSpPr>
            <a:spLocks noChangeArrowheads="1"/>
          </p:cNvSpPr>
          <p:nvPr/>
        </p:nvSpPr>
        <p:spPr bwMode="auto">
          <a:xfrm>
            <a:off x="2133600" y="2751138"/>
            <a:ext cx="304800" cy="533400"/>
          </a:xfrm>
          <a:prstGeom prst="downArrow">
            <a:avLst>
              <a:gd name="adj1" fmla="val 50000"/>
              <a:gd name="adj2" fmla="val 43750"/>
            </a:avLst>
          </a:prstGeom>
          <a:solidFill>
            <a:srgbClr val="CC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6443663" y="549275"/>
            <a:ext cx="2590800" cy="1200150"/>
          </a:xfrm>
          <a:prstGeom prst="rect">
            <a:avLst/>
          </a:prstGeom>
          <a:solidFill>
            <a:srgbClr val="333333"/>
          </a:solidFill>
          <a:ln w="9525">
            <a:solidFill>
              <a:srgbClr val="6699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1       1       2       3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5       8     13     21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34     55     89   144</a:t>
            </a:r>
          </a:p>
          <a:p>
            <a:pPr eaLnBrk="1" hangingPunct="1"/>
            <a:r>
              <a:rPr kumimoji="1" lang="en-US" altLang="zh-CN">
                <a:latin typeface="Tahoma" panose="020B0604030504040204" pitchFamily="34" charset="0"/>
                <a:ea typeface="楷体_GB2312" pitchFamily="49" charset="-122"/>
              </a:rPr>
              <a:t>     …   …</a:t>
            </a:r>
          </a:p>
        </p:txBody>
      </p:sp>
      <p:sp>
        <p:nvSpPr>
          <p:cNvPr id="44040" name="Text Box 9"/>
          <p:cNvSpPr txBox="1">
            <a:spLocks noChangeArrowheads="1"/>
          </p:cNvSpPr>
          <p:nvPr/>
        </p:nvSpPr>
        <p:spPr bwMode="auto">
          <a:xfrm>
            <a:off x="179388" y="404813"/>
            <a:ext cx="3384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</a:rPr>
              <a:t>程序举例</a:t>
            </a:r>
          </a:p>
        </p:txBody>
      </p:sp>
    </p:spTree>
    <p:extLst>
      <p:ext uri="{BB962C8B-B14F-4D97-AF65-F5344CB8AC3E}">
        <p14:creationId xmlns:p14="http://schemas.microsoft.com/office/powerpoint/2010/main" val="3696831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0" grpId="0" animBg="1" autoUpdateAnimBg="0"/>
      <p:bldP spid="183301" grpId="0" animBg="1" autoUpdateAnimBg="0"/>
      <p:bldP spid="183302" grpId="0" animBg="1"/>
      <p:bldP spid="183304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27584" y="1376184"/>
            <a:ext cx="7690048" cy="284442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王果果小朋友走楼梯时特别淘气，每次只走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级或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级，请问她走一个</a:t>
            </a:r>
            <a:r>
              <a:rPr lang="en-US" altLang="zh-CN" sz="2800" dirty="0" smtClean="0"/>
              <a:t>n</a:t>
            </a:r>
            <a:r>
              <a:rPr lang="zh-CN" altLang="en-US" sz="2800" dirty="0"/>
              <a:t>级楼梯</a:t>
            </a:r>
            <a:r>
              <a:rPr lang="zh-CN" altLang="en-US" sz="2800" dirty="0" smtClean="0"/>
              <a:t>，有多少种走法？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691680" y="3772743"/>
            <a:ext cx="25271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成功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691680" y="4629993"/>
            <a:ext cx="25271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977305" y="383703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977305" y="469428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115616" y="966801"/>
            <a:ext cx="69847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编程练习</a:t>
            </a:r>
            <a:r>
              <a:rPr kumimoji="1" lang="en-US" altLang="zh-CN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走楼梯</a:t>
            </a:r>
            <a:endParaRPr kumimoji="1" lang="zh-CN" altLang="en-US" sz="4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1167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9712" y="1340768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int </a:t>
            </a:r>
            <a:r>
              <a:rPr lang="zh-CN" altLang="en-US" sz="2400" dirty="0" smtClean="0"/>
              <a:t>f(</a:t>
            </a:r>
            <a:r>
              <a:rPr lang="zh-CN" altLang="en-US" sz="2400" dirty="0"/>
              <a:t>int 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){</a:t>
            </a:r>
            <a:endParaRPr lang="zh-CN" altLang="en-US" sz="2400" dirty="0"/>
          </a:p>
          <a:p>
            <a:r>
              <a:rPr lang="zh-CN" altLang="en-US" sz="2400" dirty="0"/>
              <a:t>	int i1=0,i2=1,i3=1,j;</a:t>
            </a:r>
          </a:p>
          <a:p>
            <a:r>
              <a:rPr lang="zh-CN" altLang="en-US" sz="2400" dirty="0"/>
              <a:t>	for(int i=4;i</a:t>
            </a:r>
            <a:r>
              <a:rPr lang="zh-CN" altLang="en-US" sz="2400" dirty="0" smtClean="0"/>
              <a:t>&lt;=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;</a:t>
            </a:r>
            <a:r>
              <a:rPr lang="zh-CN" altLang="en-US" sz="2400" dirty="0"/>
              <a:t>i++){</a:t>
            </a:r>
          </a:p>
          <a:p>
            <a:r>
              <a:rPr lang="zh-CN" altLang="en-US" sz="2400" dirty="0"/>
              <a:t>		j=i1+i2;</a:t>
            </a:r>
          </a:p>
          <a:p>
            <a:r>
              <a:rPr lang="zh-CN" altLang="en-US" sz="2400" dirty="0"/>
              <a:t>		i1=i2;</a:t>
            </a:r>
          </a:p>
          <a:p>
            <a:r>
              <a:rPr lang="zh-CN" altLang="en-US" sz="2400" dirty="0"/>
              <a:t>		i2=i3;</a:t>
            </a:r>
          </a:p>
          <a:p>
            <a:r>
              <a:rPr lang="zh-CN" altLang="en-US" sz="2400" dirty="0"/>
              <a:t>		i3=j;</a:t>
            </a:r>
          </a:p>
          <a:p>
            <a:r>
              <a:rPr lang="zh-CN" altLang="en-US" sz="2400" dirty="0"/>
              <a:t>	}</a:t>
            </a:r>
          </a:p>
          <a:p>
            <a:r>
              <a:rPr lang="zh-CN" altLang="en-US" sz="2400" dirty="0"/>
              <a:t>	return j;</a:t>
            </a:r>
          </a:p>
          <a:p>
            <a:r>
              <a:rPr lang="zh-CN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4435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程序举例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打印出所有的</a:t>
            </a:r>
            <a:r>
              <a:rPr lang="zh-CN" altLang="en-US" smtClean="0">
                <a:latin typeface="Arial"/>
              </a:rPr>
              <a:t>“</a:t>
            </a:r>
            <a:r>
              <a:rPr lang="zh-CN" altLang="en-US" smtClean="0"/>
              <a:t>水仙花数</a:t>
            </a:r>
            <a:r>
              <a:rPr lang="zh-CN" altLang="en-US" smtClean="0">
                <a:latin typeface="Arial"/>
              </a:rPr>
              <a:t>”</a:t>
            </a:r>
            <a:r>
              <a:rPr lang="zh-CN" altLang="en-US" smtClean="0"/>
              <a:t>，所谓</a:t>
            </a:r>
            <a:r>
              <a:rPr lang="zh-CN" altLang="en-US" smtClean="0">
                <a:latin typeface="Arial"/>
              </a:rPr>
              <a:t>“</a:t>
            </a:r>
            <a:r>
              <a:rPr lang="zh-CN" altLang="en-US" smtClean="0"/>
              <a:t>水仙花数</a:t>
            </a:r>
            <a:r>
              <a:rPr lang="zh-CN" altLang="en-US" smtClean="0">
                <a:latin typeface="Arial"/>
              </a:rPr>
              <a:t>”</a:t>
            </a:r>
            <a:r>
              <a:rPr lang="zh-CN" altLang="en-US" smtClean="0"/>
              <a:t>是指一个三位数，其各位数字立方和等于该数本身。例如：</a:t>
            </a:r>
            <a:r>
              <a:rPr lang="en-US" altLang="zh-CN" smtClean="0"/>
              <a:t>153</a:t>
            </a:r>
            <a:r>
              <a:rPr lang="zh-CN" altLang="en-US" smtClean="0"/>
              <a:t>是一个</a:t>
            </a:r>
            <a:r>
              <a:rPr lang="zh-CN" altLang="en-US" smtClean="0">
                <a:latin typeface="Arial"/>
              </a:rPr>
              <a:t>“</a:t>
            </a:r>
            <a:r>
              <a:rPr lang="zh-CN" altLang="en-US" smtClean="0"/>
              <a:t>水仙花数</a:t>
            </a:r>
            <a:r>
              <a:rPr lang="zh-CN" altLang="en-US" smtClean="0">
                <a:latin typeface="Arial"/>
              </a:rPr>
              <a:t>”</a:t>
            </a:r>
            <a:r>
              <a:rPr lang="zh-CN" altLang="en-US" smtClean="0"/>
              <a:t>，因为</a:t>
            </a:r>
            <a:r>
              <a:rPr lang="en-US" altLang="zh-CN" smtClean="0"/>
              <a:t>153=1</a:t>
            </a:r>
            <a:r>
              <a:rPr lang="zh-CN" altLang="en-US" smtClean="0"/>
              <a:t>的三次方＋</a:t>
            </a:r>
            <a:r>
              <a:rPr lang="en-US" altLang="zh-CN" smtClean="0"/>
              <a:t>5</a:t>
            </a:r>
            <a:r>
              <a:rPr lang="zh-CN" altLang="en-US" smtClean="0"/>
              <a:t>的三次方＋</a:t>
            </a:r>
            <a:r>
              <a:rPr lang="en-US" altLang="zh-CN" smtClean="0"/>
              <a:t>3</a:t>
            </a:r>
            <a:r>
              <a:rPr lang="zh-CN" altLang="en-US" smtClean="0"/>
              <a:t>的三次方。 </a:t>
            </a:r>
          </a:p>
        </p:txBody>
      </p:sp>
    </p:spTree>
    <p:extLst>
      <p:ext uri="{BB962C8B-B14F-4D97-AF65-F5344CB8AC3E}">
        <p14:creationId xmlns:p14="http://schemas.microsoft.com/office/powerpoint/2010/main" val="7952257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62980" y="1632903"/>
            <a:ext cx="7690048" cy="370024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哪些整数</a:t>
            </a:r>
            <a:r>
              <a:rPr lang="zh-CN" altLang="en-US" sz="2800" dirty="0"/>
              <a:t>的各位数字之积等于各位数字之</a:t>
            </a:r>
            <a:r>
              <a:rPr lang="zh-CN" altLang="en-US" sz="2800" dirty="0" smtClean="0"/>
              <a:t>和？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输入一个正整数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，输出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之内所有</a:t>
            </a:r>
            <a:r>
              <a:rPr lang="zh-CN" altLang="en-US" sz="2800" dirty="0"/>
              <a:t>各位数字之积等于各位数字之</a:t>
            </a:r>
            <a:r>
              <a:rPr lang="zh-CN" altLang="en-US" sz="2800" dirty="0" smtClean="0"/>
              <a:t>和的整数。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例如，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输入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en-US" altLang="zh-CN" sz="2800" dirty="0" smtClean="0"/>
              <a:t>1000</a:t>
            </a:r>
          </a:p>
          <a:p>
            <a:pPr eaLnBrk="1" hangingPunct="1">
              <a:defRPr/>
            </a:pPr>
            <a:r>
              <a:rPr lang="zh-CN" altLang="en-US" sz="2800" dirty="0" smtClean="0"/>
              <a:t>输出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en-US" altLang="zh-CN" sz="2800" dirty="0"/>
              <a:t>1 2 3 4 5 6 7 8 9 22 123 132 213 231 312 </a:t>
            </a:r>
            <a:r>
              <a:rPr lang="en-US" altLang="zh-CN" sz="2800" dirty="0" smtClean="0"/>
              <a:t>321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678270" y="5333145"/>
            <a:ext cx="25271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成功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678270" y="5966973"/>
            <a:ext cx="25271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2963895" y="5397438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963895" y="603126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115616" y="966801"/>
            <a:ext cx="69847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编程练习</a:t>
            </a:r>
            <a:r>
              <a:rPr kumimoji="1" lang="en-US" altLang="zh-CN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数字之和与积相等</a:t>
            </a:r>
            <a:endParaRPr kumimoji="1" lang="zh-CN" altLang="en-US" sz="4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560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9592" y="404664"/>
            <a:ext cx="698477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using namespace std;</a:t>
            </a:r>
          </a:p>
          <a:p>
            <a:r>
              <a:rPr lang="zh-CN" altLang="en-US" sz="2400" dirty="0"/>
              <a:t>#include &lt;iostream&gt;</a:t>
            </a:r>
          </a:p>
          <a:p>
            <a:r>
              <a:rPr lang="zh-CN" altLang="en-US" sz="2400" dirty="0"/>
              <a:t>int main()</a:t>
            </a:r>
          </a:p>
          <a:p>
            <a:r>
              <a:rPr lang="zh-CN" altLang="en-US" sz="2400" dirty="0"/>
              <a:t>{ </a:t>
            </a:r>
          </a:p>
          <a:p>
            <a:r>
              <a:rPr lang="zh-CN" altLang="en-US" sz="2400" dirty="0"/>
              <a:t>	int n;</a:t>
            </a:r>
          </a:p>
          <a:p>
            <a:r>
              <a:rPr lang="zh-CN" altLang="en-US" sz="2400" dirty="0"/>
              <a:t>	cin&gt;&gt;n;</a:t>
            </a:r>
          </a:p>
          <a:p>
            <a:r>
              <a:rPr lang="zh-CN" altLang="en-US" sz="2400" dirty="0"/>
              <a:t>	int i,j,sum,product;</a:t>
            </a:r>
          </a:p>
          <a:p>
            <a:r>
              <a:rPr lang="zh-CN" altLang="en-US" sz="2400" dirty="0"/>
              <a:t>	for (i=1;i&lt;n;i++){</a:t>
            </a:r>
          </a:p>
          <a:p>
            <a:r>
              <a:rPr lang="zh-CN" altLang="en-US" sz="2400" dirty="0"/>
              <a:t>	</a:t>
            </a:r>
            <a:r>
              <a:rPr lang="zh-CN" altLang="en-US" sz="2400" dirty="0" smtClean="0"/>
              <a:t>for </a:t>
            </a:r>
            <a:r>
              <a:rPr lang="zh-CN" altLang="en-US" sz="2400" dirty="0"/>
              <a:t>(j=i,sum=0,product=1;j&gt;0;j/=10){</a:t>
            </a:r>
          </a:p>
          <a:p>
            <a:r>
              <a:rPr lang="zh-CN" altLang="en-US" sz="2400" dirty="0"/>
              <a:t>	  	sum+=j%10;</a:t>
            </a:r>
          </a:p>
          <a:p>
            <a:r>
              <a:rPr lang="zh-CN" altLang="en-US" sz="2400" dirty="0"/>
              <a:t>	  	product*=j%10;</a:t>
            </a:r>
          </a:p>
          <a:p>
            <a:r>
              <a:rPr lang="zh-CN" altLang="en-US" sz="2400" dirty="0"/>
              <a:t>	  }</a:t>
            </a:r>
          </a:p>
          <a:p>
            <a:r>
              <a:rPr lang="zh-CN" altLang="en-US" sz="2400" dirty="0"/>
              <a:t>	</a:t>
            </a:r>
            <a:r>
              <a:rPr lang="zh-CN" altLang="en-US" sz="2400" dirty="0" smtClean="0"/>
              <a:t>if</a:t>
            </a:r>
            <a:r>
              <a:rPr lang="zh-CN" altLang="en-US" sz="2400" dirty="0"/>
              <a:t>(sum==product) cout&lt;&lt;i&lt;&lt;" ";</a:t>
            </a:r>
          </a:p>
          <a:p>
            <a:r>
              <a:rPr lang="zh-CN" altLang="en-US" sz="2400" dirty="0"/>
              <a:t>	}</a:t>
            </a:r>
          </a:p>
          <a:p>
            <a:r>
              <a:rPr lang="zh-CN" altLang="en-US" sz="2400" dirty="0"/>
              <a:t>	return 0;</a:t>
            </a:r>
          </a:p>
          <a:p>
            <a:r>
              <a:rPr lang="zh-CN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438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程序举例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sz="2400" b="1" dirty="0" smtClean="0">
                <a:effectLst/>
              </a:rPr>
              <a:t>从</a:t>
            </a:r>
            <a:r>
              <a:rPr lang="zh-CN" altLang="en-US" sz="2400" b="1" dirty="0">
                <a:effectLst/>
              </a:rPr>
              <a:t>键盘输入正整数</a:t>
            </a:r>
            <a:r>
              <a:rPr lang="en-US" altLang="zh-CN" sz="2400" b="1" dirty="0">
                <a:effectLst/>
              </a:rPr>
              <a:t>n</a:t>
            </a:r>
            <a:r>
              <a:rPr lang="zh-CN" altLang="en-US" sz="2400" b="1" dirty="0">
                <a:effectLst/>
              </a:rPr>
              <a:t>，输出</a:t>
            </a:r>
            <a:r>
              <a:rPr lang="en-US" altLang="zh-CN" sz="2400" b="1" dirty="0">
                <a:effectLst/>
              </a:rPr>
              <a:t>n</a:t>
            </a:r>
            <a:r>
              <a:rPr lang="zh-CN" altLang="en-US" sz="2400" b="1" dirty="0">
                <a:effectLst/>
              </a:rPr>
              <a:t>行的</a:t>
            </a:r>
            <a:r>
              <a:rPr lang="zh-CN" altLang="en-US" sz="2400" b="1" dirty="0" smtClean="0">
                <a:effectLst/>
              </a:rPr>
              <a:t>等腰三角形</a:t>
            </a:r>
            <a:endParaRPr lang="zh-CN" altLang="en-US" sz="2400" b="1" dirty="0">
              <a:effectLst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7824" y="2507036"/>
            <a:ext cx="2736377" cy="343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994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65537" y="1564308"/>
            <a:ext cx="7690048" cy="31750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defRPr/>
            </a:pPr>
            <a:r>
              <a:rPr lang="zh-CN" altLang="en-US" sz="2800" dirty="0"/>
              <a:t>题目内容：</a:t>
            </a:r>
          </a:p>
          <a:p>
            <a:pPr eaLnBrk="1" hangingPunct="1">
              <a:defRPr/>
            </a:pPr>
            <a:r>
              <a:rPr lang="zh-CN" altLang="en-US" sz="2800" dirty="0"/>
              <a:t>从键盘输入正整数</a:t>
            </a:r>
            <a:r>
              <a:rPr lang="en-US" altLang="zh-CN" sz="2800" dirty="0"/>
              <a:t>n</a:t>
            </a:r>
            <a:r>
              <a:rPr lang="zh-CN" altLang="en-US" sz="2800" dirty="0"/>
              <a:t>，输出</a:t>
            </a:r>
            <a:r>
              <a:rPr lang="en-US" altLang="zh-CN" sz="2800" dirty="0"/>
              <a:t>n</a:t>
            </a:r>
            <a:r>
              <a:rPr lang="zh-CN" altLang="en-US" sz="2800" dirty="0"/>
              <a:t>行</a:t>
            </a:r>
            <a:r>
              <a:rPr lang="zh-CN" altLang="en-US" sz="2800" dirty="0" smtClean="0"/>
              <a:t>的空心等腰三角形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 smtClean="0"/>
              <a:t>输入</a:t>
            </a:r>
            <a:r>
              <a:rPr lang="zh-CN" altLang="en-US" sz="2800" dirty="0"/>
              <a:t>格式</a:t>
            </a:r>
            <a:r>
              <a:rPr lang="en-US" altLang="zh-CN" sz="2800" dirty="0"/>
              <a:t>:</a:t>
            </a:r>
          </a:p>
          <a:p>
            <a:pPr eaLnBrk="1" hangingPunct="1">
              <a:defRPr/>
            </a:pPr>
            <a:r>
              <a:rPr lang="zh-CN" altLang="en-US" sz="2800" dirty="0"/>
              <a:t>正整数</a:t>
            </a:r>
            <a:r>
              <a:rPr lang="en-US" altLang="zh-CN" sz="2800" dirty="0"/>
              <a:t>n</a:t>
            </a:r>
            <a:r>
              <a:rPr lang="zh-CN" altLang="en-US" sz="2800" dirty="0"/>
              <a:t>（</a:t>
            </a:r>
            <a:r>
              <a:rPr lang="en-US" altLang="zh-CN" sz="2800" dirty="0"/>
              <a:t>n&lt;=40</a:t>
            </a:r>
            <a:r>
              <a:rPr lang="zh-CN" altLang="en-US" sz="2800" dirty="0" smtClean="0"/>
              <a:t>）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/>
              <a:t>输出格式：</a:t>
            </a:r>
          </a:p>
          <a:p>
            <a:pPr eaLnBrk="1" hangingPunct="1">
              <a:defRPr/>
            </a:pPr>
            <a:r>
              <a:rPr lang="zh-CN" altLang="en-US" sz="2800" dirty="0"/>
              <a:t>顶格输出等腰三角形的</a:t>
            </a:r>
            <a:r>
              <a:rPr lang="en-US" altLang="zh-CN" sz="2800" dirty="0"/>
              <a:t>n</a:t>
            </a:r>
            <a:r>
              <a:rPr lang="zh-CN" altLang="en-US" sz="2800" dirty="0"/>
              <a:t>行</a:t>
            </a:r>
            <a:r>
              <a:rPr lang="zh-CN" altLang="en-US" sz="2800" dirty="0" smtClean="0"/>
              <a:t>*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793660" y="5025758"/>
            <a:ext cx="25271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793660" y="5659586"/>
            <a:ext cx="25271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079285" y="509005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079285" y="572387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079612" y="774689"/>
            <a:ext cx="69847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编程练习</a:t>
            </a:r>
            <a:r>
              <a:rPr kumimoji="1" lang="en-US" altLang="zh-CN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40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空心等腰三角形</a:t>
            </a:r>
            <a:endParaRPr kumimoji="1" lang="zh-CN" altLang="en-US" sz="4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542" y="2994180"/>
            <a:ext cx="2480846" cy="2700504"/>
          </a:xfrm>
          <a:prstGeom prst="rect">
            <a:avLst/>
          </a:prstGeom>
        </p:spPr>
      </p:pic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784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9592" y="404664"/>
            <a:ext cx="79928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using namespace 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#include &lt;</a:t>
            </a:r>
            <a:r>
              <a:rPr lang="en-US" altLang="zh-CN" sz="2400" dirty="0" err="1"/>
              <a:t>iostream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/>
              <a:t>#include &lt;</a:t>
            </a:r>
            <a:r>
              <a:rPr lang="en-US" altLang="zh-CN" sz="2400" dirty="0" err="1"/>
              <a:t>iomanip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 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n,i,j,k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cin</a:t>
            </a:r>
            <a:r>
              <a:rPr lang="en-US" altLang="zh-CN" sz="2400" dirty="0"/>
              <a:t> &gt;&gt; n;</a:t>
            </a:r>
          </a:p>
          <a:p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=0;i&lt;n-1;i++){</a:t>
            </a:r>
          </a:p>
          <a:p>
            <a:r>
              <a:rPr lang="en-US" altLang="zh-CN" sz="2400" dirty="0"/>
              <a:t>	    for(j=0;j&lt;n-i-1;j</a:t>
            </a:r>
            <a:r>
              <a:rPr lang="en-US" altLang="zh-CN" sz="2400" dirty="0" smtClean="0"/>
              <a:t>++) </a:t>
            </a:r>
            <a:r>
              <a:rPr lang="en-US" altLang="zh-CN" sz="2400" dirty="0" err="1" smtClean="0"/>
              <a:t>cout</a:t>
            </a:r>
            <a:r>
              <a:rPr lang="en-US" altLang="zh-CN" sz="2400" dirty="0"/>
              <a:t>&lt;&lt;' ';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smtClean="0"/>
              <a:t>        </a:t>
            </a:r>
            <a:r>
              <a:rPr lang="en-US" altLang="zh-CN" sz="2400" dirty="0" err="1" smtClean="0"/>
              <a:t>cout</a:t>
            </a:r>
            <a:r>
              <a:rPr lang="en-US" altLang="zh-CN" sz="2400" dirty="0"/>
              <a:t>&lt;&lt;'*';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smtClean="0"/>
              <a:t>        if(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&gt;0)</a:t>
            </a:r>
            <a:r>
              <a:rPr lang="en-US" altLang="zh-CN" sz="2400" dirty="0" err="1" smtClean="0"/>
              <a:t>cout</a:t>
            </a:r>
            <a:r>
              <a:rPr lang="en-US" altLang="zh-CN" sz="2400" dirty="0"/>
              <a:t>&lt;&lt;</a:t>
            </a:r>
            <a:r>
              <a:rPr lang="en-US" altLang="zh-CN" sz="2400" dirty="0" err="1"/>
              <a:t>setw</a:t>
            </a:r>
            <a:r>
              <a:rPr lang="en-US" altLang="zh-CN" sz="2400" dirty="0"/>
              <a:t>(2*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)&lt;&lt;'*';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smtClean="0"/>
              <a:t>        </a:t>
            </a:r>
            <a:r>
              <a:rPr lang="en-US" altLang="zh-CN" sz="2400" dirty="0" err="1" smtClean="0"/>
              <a:t>cout</a:t>
            </a:r>
            <a:r>
              <a:rPr lang="en-US" altLang="zh-CN" sz="2400" dirty="0"/>
              <a:t>&lt;&lt;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}</a:t>
            </a:r>
          </a:p>
          <a:p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=0;i&lt;2*n-1;i++)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&lt;&lt;'*';</a:t>
            </a:r>
          </a:p>
          <a:p>
            <a:r>
              <a:rPr lang="en-US" altLang="zh-CN" sz="2400" dirty="0"/>
              <a:t>	return 0;</a:t>
            </a:r>
          </a:p>
          <a:p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6232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程序举例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一球从</a:t>
            </a:r>
            <a:r>
              <a:rPr lang="en-US" altLang="zh-CN" smtClean="0"/>
              <a:t>100</a:t>
            </a:r>
            <a:r>
              <a:rPr lang="zh-CN" altLang="en-US" smtClean="0"/>
              <a:t>米高度自由落下，每次落地后反跳回原高度的一半；再落下，求它在第</a:t>
            </a:r>
            <a:r>
              <a:rPr lang="en-US" altLang="zh-CN" smtClean="0"/>
              <a:t>10</a:t>
            </a:r>
            <a:r>
              <a:rPr lang="zh-CN" altLang="en-US" smtClean="0"/>
              <a:t>次落地时，共经过多少米？第</a:t>
            </a:r>
            <a:r>
              <a:rPr lang="en-US" altLang="zh-CN" smtClean="0"/>
              <a:t>10</a:t>
            </a:r>
            <a:r>
              <a:rPr lang="zh-CN" altLang="en-US" smtClean="0"/>
              <a:t>次反弹多高？ </a:t>
            </a:r>
          </a:p>
        </p:txBody>
      </p:sp>
    </p:spTree>
    <p:extLst>
      <p:ext uri="{BB962C8B-B14F-4D97-AF65-F5344CB8AC3E}">
        <p14:creationId xmlns:p14="http://schemas.microsoft.com/office/powerpoint/2010/main" val="29143221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4.5 </a:t>
            </a:r>
            <a:r>
              <a:rPr lang="zh-CN" altLang="en-US" smtClean="0"/>
              <a:t>跳转语句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2376487" cy="4464050"/>
          </a:xfrm>
        </p:spPr>
        <p:txBody>
          <a:bodyPr/>
          <a:lstStyle/>
          <a:p>
            <a:pPr marL="0" indent="0" eaLnBrk="1" hangingPunct="1">
              <a:buSzTx/>
              <a:buFont typeface="Wingdings" panose="05000000000000000000" pitchFamily="2" charset="2"/>
              <a:buAutoNum type="arabicPeriod"/>
            </a:pPr>
            <a:r>
              <a:rPr lang="en-US" altLang="zh-CN" b="1" smtClean="0">
                <a:effectLst/>
              </a:rPr>
              <a:t>break</a:t>
            </a:r>
            <a:r>
              <a:rPr lang="zh-CN" altLang="en-US" b="1" smtClean="0">
                <a:effectLst/>
              </a:rPr>
              <a:t>语句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b="1" smtClean="0">
                <a:effectLst/>
              </a:rPr>
              <a:t>   执行</a:t>
            </a:r>
            <a:r>
              <a:rPr lang="en-US" altLang="zh-CN" b="1" smtClean="0">
                <a:effectLst/>
              </a:rPr>
              <a:t>break</a:t>
            </a:r>
            <a:r>
              <a:rPr lang="zh-CN" altLang="en-US" b="1" smtClean="0">
                <a:effectLst/>
              </a:rPr>
              <a:t>语句立即结束循环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 sz="1400" b="1" smtClean="0">
              <a:effectLst/>
            </a:endParaRPr>
          </a:p>
        </p:txBody>
      </p:sp>
      <p:pic>
        <p:nvPicPr>
          <p:cNvPr id="358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412875"/>
            <a:ext cx="5695950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31619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/>
              <a:t>运行下面程序段后，变量sum的值为:</a:t>
            </a:r>
          </a:p>
          <a:p>
            <a:r>
              <a:rPr lang="zh-CN" altLang="zh-CN" sz="2800" dirty="0"/>
              <a:t>  int i,sum;</a:t>
            </a:r>
          </a:p>
          <a:p>
            <a:r>
              <a:rPr lang="zh-CN" altLang="zh-CN" sz="2800" dirty="0"/>
              <a:t>  </a:t>
            </a:r>
            <a:r>
              <a:rPr lang="en-US" altLang="zh-CN" sz="2800" dirty="0"/>
              <a:t>for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1,sum = 0;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&lt; 5;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++,sum +=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){</a:t>
            </a:r>
            <a:endParaRPr lang="zh-CN" altLang="zh-CN" sz="2800" dirty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 if </a:t>
            </a:r>
            <a:r>
              <a:rPr lang="en-US" altLang="zh-CN" sz="2800" dirty="0"/>
              <a:t>(i%3)  </a:t>
            </a:r>
            <a:r>
              <a:rPr lang="en-US" altLang="zh-CN" sz="2800" dirty="0" smtClean="0"/>
              <a:t>break;   </a:t>
            </a:r>
          </a:p>
          <a:p>
            <a:r>
              <a:rPr lang="en-US" altLang="zh-CN" sz="2800" dirty="0" smtClean="0"/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205915" y="339867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205915" y="425592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205915" y="511317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205915" y="597042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14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491540" y="3462972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491540" y="4320222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491540" y="5177472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491540" y="6034722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708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4.5 </a:t>
            </a:r>
            <a:r>
              <a:rPr lang="zh-CN" altLang="en-US" smtClean="0"/>
              <a:t>跳转语句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3388" y="2060575"/>
            <a:ext cx="8315325" cy="3097213"/>
          </a:xfrm>
        </p:spPr>
        <p:txBody>
          <a:bodyPr/>
          <a:lstStyle/>
          <a:p>
            <a:pPr marL="609600" indent="-609600" eaLnBrk="1" hangingPunct="1">
              <a:buSzTx/>
              <a:buFont typeface="Wingdings" panose="05000000000000000000" pitchFamily="2" charset="2"/>
              <a:buAutoNum type="arabicPeriod" startAt="2"/>
            </a:pPr>
            <a:r>
              <a:rPr lang="en-US" altLang="zh-CN" sz="3600" b="1" smtClean="0">
                <a:effectLst/>
              </a:rPr>
              <a:t>continue</a:t>
            </a:r>
            <a:r>
              <a:rPr lang="zh-CN" altLang="en-US" sz="3600" b="1" smtClean="0">
                <a:effectLst/>
              </a:rPr>
              <a:t>语句</a:t>
            </a:r>
          </a:p>
          <a:p>
            <a:pPr marL="990600" lvl="1" indent="-533400" eaLnBrk="1" hangingPunct="1">
              <a:buFont typeface="Wingdings" panose="05000000000000000000" pitchFamily="2" charset="2"/>
              <a:buChar char="ü"/>
            </a:pPr>
            <a:r>
              <a:rPr lang="zh-CN" altLang="en-US" b="1" smtClean="0">
                <a:effectLst/>
              </a:rPr>
              <a:t>结束本次循环，跳转到本层循环的条件测试部分继续进行。</a:t>
            </a:r>
          </a:p>
          <a:p>
            <a:pPr marL="990600" lvl="1" indent="-533400" eaLnBrk="1" hangingPunct="1">
              <a:buFont typeface="Wingdings" panose="05000000000000000000" pitchFamily="2" charset="2"/>
              <a:buChar char="ü"/>
            </a:pPr>
            <a:r>
              <a:rPr lang="zh-CN" altLang="en-US" b="1" smtClean="0">
                <a:effectLst/>
              </a:rPr>
              <a:t>对</a:t>
            </a:r>
            <a:r>
              <a:rPr lang="en-US" altLang="zh-CN" b="1" smtClean="0">
                <a:effectLst/>
              </a:rPr>
              <a:t>while </a:t>
            </a:r>
            <a:r>
              <a:rPr lang="zh-CN" altLang="en-US" b="1" smtClean="0">
                <a:effectLst/>
              </a:rPr>
              <a:t>，</a:t>
            </a:r>
            <a:r>
              <a:rPr lang="en-US" altLang="zh-CN" b="1" smtClean="0">
                <a:effectLst/>
              </a:rPr>
              <a:t>do_while</a:t>
            </a:r>
            <a:r>
              <a:rPr lang="zh-CN" altLang="en-US" b="1" smtClean="0">
                <a:effectLst/>
              </a:rPr>
              <a:t>进行表达式测试，对</a:t>
            </a:r>
            <a:r>
              <a:rPr lang="en-US" altLang="zh-CN" b="1" smtClean="0">
                <a:effectLst/>
              </a:rPr>
              <a:t>for</a:t>
            </a:r>
            <a:r>
              <a:rPr lang="zh-CN" altLang="en-US" b="1" smtClean="0">
                <a:effectLst/>
              </a:rPr>
              <a:t>执行表达式</a:t>
            </a:r>
            <a:r>
              <a:rPr lang="en-US" altLang="zh-CN" b="1" smtClean="0">
                <a:effectLst/>
              </a:rPr>
              <a:t>3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CN" sz="1600" b="1" smtClean="0"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0525" y="608530"/>
            <a:ext cx="5257800" cy="566403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/>
              <a:t>执行程序段：</a:t>
            </a:r>
          </a:p>
          <a:p>
            <a:r>
              <a:rPr lang="pt-BR" altLang="zh-CN" sz="2800" dirty="0"/>
              <a:t>  int x,y;</a:t>
            </a:r>
            <a:endParaRPr lang="zh-CN" altLang="zh-CN" sz="2800" dirty="0"/>
          </a:p>
          <a:p>
            <a:r>
              <a:rPr lang="pt-BR" altLang="zh-CN" sz="2800" dirty="0"/>
              <a:t>  x=3;</a:t>
            </a:r>
            <a:endParaRPr lang="zh-CN" altLang="zh-CN" sz="2800" dirty="0"/>
          </a:p>
          <a:p>
            <a:r>
              <a:rPr lang="pt-BR" altLang="zh-CN" sz="2800" dirty="0"/>
              <a:t>  </a:t>
            </a:r>
            <a:r>
              <a:rPr lang="pt-BR" altLang="zh-CN" sz="2800" dirty="0" smtClean="0"/>
              <a:t>do </a:t>
            </a:r>
            <a:r>
              <a:rPr lang="pt-BR" altLang="zh-CN" sz="2800" dirty="0"/>
              <a:t>{</a:t>
            </a:r>
            <a:endParaRPr lang="zh-CN" altLang="zh-CN" sz="2800" dirty="0"/>
          </a:p>
          <a:p>
            <a:r>
              <a:rPr lang="pt-BR" altLang="zh-CN" sz="2800" dirty="0"/>
              <a:t>     y=x--;</a:t>
            </a:r>
            <a:endParaRPr lang="zh-CN" altLang="zh-CN" sz="2800" dirty="0"/>
          </a:p>
          <a:p>
            <a:r>
              <a:rPr lang="pt-BR" altLang="zh-CN" sz="2800" dirty="0"/>
              <a:t>     </a:t>
            </a:r>
            <a:r>
              <a:rPr lang="pt-BR" altLang="zh-CN" sz="2800" dirty="0" smtClean="0"/>
              <a:t>if(y</a:t>
            </a:r>
            <a:r>
              <a:rPr lang="pt-BR" altLang="zh-CN" sz="2800" dirty="0"/>
              <a:t>) {cout</a:t>
            </a:r>
            <a:r>
              <a:rPr lang="pt-BR" altLang="zh-CN" sz="2800" dirty="0" smtClean="0"/>
              <a:t>&lt;&lt;'</a:t>
            </a:r>
            <a:r>
              <a:rPr lang="zh-CN" altLang="en-US" sz="2800" dirty="0" smtClean="0"/>
              <a:t>*</a:t>
            </a:r>
            <a:r>
              <a:rPr lang="pt-BR" altLang="zh-CN" sz="2800" dirty="0" smtClean="0"/>
              <a:t>'; </a:t>
            </a:r>
            <a:r>
              <a:rPr lang="pt-BR" altLang="zh-CN" sz="2800" dirty="0"/>
              <a:t>continue;}</a:t>
            </a:r>
            <a:endParaRPr lang="zh-CN" altLang="zh-CN" sz="2800" dirty="0"/>
          </a:p>
          <a:p>
            <a:r>
              <a:rPr lang="pt-BR" altLang="zh-CN" sz="2800" dirty="0"/>
              <a:t>     cout&lt;&lt;'#';</a:t>
            </a:r>
            <a:endParaRPr lang="zh-CN" altLang="zh-CN" sz="2800" dirty="0"/>
          </a:p>
          <a:p>
            <a:r>
              <a:rPr lang="pt-BR" altLang="zh-CN" sz="2800" dirty="0"/>
              <a:t>  </a:t>
            </a:r>
            <a:r>
              <a:rPr lang="pt-BR" altLang="zh-CN" sz="2800" dirty="0" smtClean="0"/>
              <a:t>} </a:t>
            </a:r>
            <a:r>
              <a:rPr lang="pt-BR" altLang="zh-CN" sz="2800" dirty="0"/>
              <a:t>while((x=1)||(x=2));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473776" y="1916832"/>
            <a:ext cx="25614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/>
              <a:t>将</a:t>
            </a:r>
            <a:r>
              <a:rPr lang="zh-CN" altLang="zh-CN" sz="2800" dirty="0" smtClean="0"/>
              <a:t>输出</a:t>
            </a:r>
            <a:r>
              <a:rPr lang="zh-CN" altLang="en-US" sz="2800" dirty="0" smtClean="0"/>
              <a:t>***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473776" y="2774082"/>
            <a:ext cx="25614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/>
              <a:t>将输出</a:t>
            </a:r>
            <a:r>
              <a:rPr lang="pt-BR" altLang="zh-CN" sz="2800" dirty="0"/>
              <a:t>###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473776" y="3631332"/>
            <a:ext cx="25614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/>
              <a:t>将进入死循环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473776" y="4488582"/>
            <a:ext cx="25614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 smtClean="0"/>
              <a:t>编译错误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5759401" y="198112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759401" y="283837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759401" y="369562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759401" y="455287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9680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4.5 </a:t>
            </a:r>
            <a:r>
              <a:rPr lang="zh-CN" altLang="en-US" smtClean="0"/>
              <a:t>跳转语句</a:t>
            </a:r>
          </a:p>
        </p:txBody>
      </p:sp>
      <p:pic>
        <p:nvPicPr>
          <p:cNvPr id="38915" name="Picture 8" descr="H6Q$7AO2]{3{21YE)HNGIK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341438"/>
            <a:ext cx="58293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31619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dirty="0"/>
              <a:t>运行下面程序段后，变量sum的值为:</a:t>
            </a:r>
          </a:p>
          <a:p>
            <a:r>
              <a:rPr lang="zh-CN" altLang="zh-CN" sz="2800" dirty="0"/>
              <a:t>  int i,sum;</a:t>
            </a:r>
          </a:p>
          <a:p>
            <a:r>
              <a:rPr lang="zh-CN" altLang="zh-CN" sz="2800" dirty="0"/>
              <a:t>  </a:t>
            </a:r>
            <a:r>
              <a:rPr lang="en-US" altLang="zh-CN" sz="2800" dirty="0"/>
              <a:t>for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1,sum = 0;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&lt; 5;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++,sum +=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){</a:t>
            </a:r>
            <a:endParaRPr lang="zh-CN" altLang="zh-CN" sz="2800" dirty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 if </a:t>
            </a:r>
            <a:r>
              <a:rPr lang="en-US" altLang="zh-CN" sz="2800" dirty="0"/>
              <a:t>(i%3)  continue;   </a:t>
            </a:r>
            <a:endParaRPr lang="en-US" altLang="zh-CN" sz="2800" dirty="0" smtClean="0"/>
          </a:p>
          <a:p>
            <a:r>
              <a:rPr lang="en-US" altLang="zh-CN" sz="2800" dirty="0" smtClean="0"/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205915" y="339867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205915" y="425592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205915" y="511317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205915" y="5970429"/>
            <a:ext cx="72697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14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491540" y="3462972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491540" y="4320222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491540" y="5177472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491540" y="6034722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6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491880" y="915020"/>
            <a:ext cx="4648527" cy="55800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下列程序的输出结果</a:t>
            </a:r>
            <a:r>
              <a:rPr lang="zh-CN" altLang="en-US" sz="2800" dirty="0" smtClean="0"/>
              <a:t>是？</a:t>
            </a:r>
            <a:endParaRPr lang="en-US" altLang="zh-CN" sz="2800" dirty="0" smtClean="0"/>
          </a:p>
          <a:p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main(void){</a:t>
            </a:r>
          </a:p>
          <a:p>
            <a:r>
              <a:rPr lang="en-US" altLang="zh-CN" sz="2800" dirty="0" smtClean="0"/>
              <a:t> 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x,i</a:t>
            </a:r>
            <a:r>
              <a:rPr lang="en-US" altLang="zh-CN" sz="2800" dirty="0" smtClean="0"/>
              <a:t>;</a:t>
            </a:r>
            <a:endParaRPr lang="en-US" altLang="zh-CN" sz="2800" dirty="0"/>
          </a:p>
          <a:p>
            <a:r>
              <a:rPr lang="en-US" altLang="zh-CN" sz="2800" dirty="0" smtClean="0"/>
              <a:t>  for </a:t>
            </a:r>
            <a:r>
              <a:rPr lang="en-US" altLang="zh-CN" sz="2800" dirty="0"/>
              <a:t>(x=1,i=1; x &lt; 50;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++){</a:t>
            </a:r>
          </a:p>
          <a:p>
            <a:r>
              <a:rPr lang="en-US" altLang="zh-CN" sz="2800" dirty="0" smtClean="0"/>
              <a:t>    if(x </a:t>
            </a:r>
            <a:r>
              <a:rPr lang="en-US" altLang="zh-CN" sz="2800" dirty="0"/>
              <a:t>&gt;= 10) break;</a:t>
            </a:r>
          </a:p>
          <a:p>
            <a:r>
              <a:rPr lang="en-US" altLang="zh-CN" sz="2800" dirty="0" smtClean="0"/>
              <a:t>    if(x </a:t>
            </a:r>
            <a:r>
              <a:rPr lang="en-US" altLang="zh-CN" sz="2800" dirty="0"/>
              <a:t>% 2 != 0){</a:t>
            </a:r>
          </a:p>
          <a:p>
            <a:r>
              <a:rPr lang="en-US" altLang="zh-CN" sz="2800" dirty="0" smtClean="0"/>
              <a:t>       x </a:t>
            </a:r>
            <a:r>
              <a:rPr lang="en-US" altLang="zh-CN" sz="2800" dirty="0"/>
              <a:t>+= 3; continue;</a:t>
            </a:r>
          </a:p>
          <a:p>
            <a:r>
              <a:rPr lang="en-US" altLang="zh-CN" sz="2800" dirty="0" smtClean="0"/>
              <a:t>    }</a:t>
            </a:r>
            <a:endParaRPr lang="en-US" altLang="zh-CN" sz="2800" dirty="0"/>
          </a:p>
          <a:p>
            <a:r>
              <a:rPr lang="en-US" altLang="zh-CN" sz="2800" dirty="0" smtClean="0"/>
              <a:t>    x-</a:t>
            </a:r>
            <a:r>
              <a:rPr lang="en-US" altLang="zh-CN" sz="2800" dirty="0"/>
              <a:t>=-1;</a:t>
            </a:r>
          </a:p>
          <a:p>
            <a:r>
              <a:rPr lang="en-US" altLang="zh-CN" sz="2800" dirty="0" smtClean="0"/>
              <a:t>  }</a:t>
            </a:r>
            <a:endParaRPr lang="en-US" altLang="zh-CN" sz="2800" dirty="0"/>
          </a:p>
          <a:p>
            <a:r>
              <a:rPr lang="en-US" altLang="zh-CN" sz="2800" dirty="0" smtClean="0"/>
              <a:t>  </a:t>
            </a:r>
            <a:r>
              <a:rPr lang="en-US" altLang="zh-CN" sz="2800" dirty="0" err="1" smtClean="0"/>
              <a:t>cout</a:t>
            </a:r>
            <a:r>
              <a:rPr lang="en-US" altLang="zh-CN" sz="2800" dirty="0"/>
              <a:t>&lt;&lt;x&lt;&lt;' '&lt;&lt;</a:t>
            </a:r>
            <a:r>
              <a:rPr lang="en-US" altLang="zh-CN" sz="2800" dirty="0" err="1"/>
              <a:t>i</a:t>
            </a:r>
            <a:r>
              <a:rPr lang="en-US" altLang="zh-CN" sz="2800" dirty="0"/>
              <a:t>&lt;&lt;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403648" y="2204864"/>
            <a:ext cx="130304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12 7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03648" y="3062114"/>
            <a:ext cx="130304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11 6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403648" y="3919364"/>
            <a:ext cx="130304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12 6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403648" y="4776614"/>
            <a:ext cx="130304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11 7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89273" y="226915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89273" y="312640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89273" y="398365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89273" y="484090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743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4.5 </a:t>
            </a:r>
            <a:r>
              <a:rPr lang="zh-CN" altLang="en-US" smtClean="0"/>
              <a:t>跳转语句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28775"/>
            <a:ext cx="7920038" cy="4968875"/>
          </a:xfrm>
        </p:spPr>
        <p:txBody>
          <a:bodyPr/>
          <a:lstStyle/>
          <a:p>
            <a:pPr marL="609600" indent="-609600" eaLnBrk="1" hangingPunct="1">
              <a:lnSpc>
                <a:spcPct val="110000"/>
              </a:lnSpc>
              <a:buSzTx/>
              <a:buFont typeface="Wingdings" panose="05000000000000000000" pitchFamily="2" charset="2"/>
              <a:buAutoNum type="arabicPeriod" startAt="3"/>
            </a:pPr>
            <a:r>
              <a:rPr lang="en-US" altLang="zh-CN" sz="2600" b="1" smtClean="0">
                <a:effectLst/>
              </a:rPr>
              <a:t>goto</a:t>
            </a:r>
            <a:r>
              <a:rPr lang="zh-CN" altLang="en-US" sz="2600" b="1" smtClean="0">
                <a:effectLst/>
              </a:rPr>
              <a:t>语句</a:t>
            </a:r>
          </a:p>
          <a:p>
            <a:pPr marL="609600" indent="-609600"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200" b="1" smtClean="0">
                <a:effectLst/>
              </a:rPr>
              <a:t>使程序执行分支转移到被称为</a:t>
            </a:r>
            <a:r>
              <a:rPr lang="zh-CN" altLang="en-US" sz="2200" b="1" smtClean="0">
                <a:effectLst/>
                <a:latin typeface="Arial" panose="020B0604020202020204" pitchFamily="34" charset="0"/>
              </a:rPr>
              <a:t>“</a:t>
            </a:r>
            <a:r>
              <a:rPr lang="zh-CN" altLang="en-US" sz="2200" b="1" smtClean="0">
                <a:effectLst/>
              </a:rPr>
              <a:t>标号</a:t>
            </a:r>
            <a:r>
              <a:rPr lang="zh-CN" altLang="en-US" sz="2200" b="1" smtClean="0">
                <a:effectLst/>
                <a:latin typeface="Arial" panose="020B0604020202020204" pitchFamily="34" charset="0"/>
              </a:rPr>
              <a:t>”</a:t>
            </a:r>
            <a:r>
              <a:rPr lang="zh-CN" altLang="en-US" sz="2200" b="1" smtClean="0">
                <a:effectLst/>
              </a:rPr>
              <a:t>（</a:t>
            </a:r>
            <a:r>
              <a:rPr lang="en-US" altLang="zh-CN" sz="2200" b="1" smtClean="0">
                <a:effectLst/>
              </a:rPr>
              <a:t>label</a:t>
            </a:r>
            <a:r>
              <a:rPr lang="zh-CN" altLang="en-US" sz="2200" b="1" smtClean="0">
                <a:effectLst/>
              </a:rPr>
              <a:t>）的目的地。</a:t>
            </a:r>
          </a:p>
          <a:p>
            <a:pPr marL="609600" indent="-609600"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2200" b="1" smtClean="0">
                <a:effectLst/>
              </a:rPr>
              <a:t>goto</a:t>
            </a:r>
            <a:r>
              <a:rPr lang="zh-CN" altLang="en-US" sz="2200" b="1" smtClean="0">
                <a:effectLst/>
              </a:rPr>
              <a:t>语句格式：</a:t>
            </a:r>
          </a:p>
          <a:p>
            <a:pPr marL="990600" lvl="1" indent="-533400"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1" smtClean="0">
                <a:effectLst/>
              </a:rPr>
              <a:t>        </a:t>
            </a:r>
            <a:r>
              <a:rPr lang="en-US" altLang="zh-CN" sz="1800" b="1" smtClean="0">
                <a:effectLst/>
              </a:rPr>
              <a:t>goto &lt;</a:t>
            </a:r>
            <a:r>
              <a:rPr lang="zh-CN" altLang="en-US" sz="1800" b="1" smtClean="0">
                <a:effectLst/>
              </a:rPr>
              <a:t>语句标号</a:t>
            </a:r>
            <a:r>
              <a:rPr lang="en-US" altLang="zh-CN" sz="1800" b="1" smtClean="0">
                <a:effectLst/>
              </a:rPr>
              <a:t>&gt;</a:t>
            </a:r>
          </a:p>
          <a:p>
            <a:pPr marL="609600" indent="-609600"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200" b="1" smtClean="0">
                <a:effectLst/>
              </a:rPr>
              <a:t>标号定义格式：</a:t>
            </a:r>
          </a:p>
          <a:p>
            <a:pPr marL="990600" lvl="1" indent="-533400"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1" smtClean="0">
                <a:effectLst/>
              </a:rPr>
              <a:t>        标号名（标识符）：</a:t>
            </a:r>
          </a:p>
          <a:p>
            <a:pPr marL="609600" indent="-609600"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200" b="1" smtClean="0">
                <a:effectLst/>
              </a:rPr>
              <a:t>标号的定义可在</a:t>
            </a:r>
            <a:r>
              <a:rPr lang="en-US" altLang="zh-CN" sz="2200" b="1" smtClean="0">
                <a:effectLst/>
              </a:rPr>
              <a:t>goto</a:t>
            </a:r>
            <a:r>
              <a:rPr lang="zh-CN" altLang="en-US" sz="2200" b="1" smtClean="0">
                <a:effectLst/>
              </a:rPr>
              <a:t>前也可在后</a:t>
            </a:r>
            <a:r>
              <a:rPr lang="en-US" altLang="zh-CN" sz="2200" b="1" smtClean="0">
                <a:effectLst/>
              </a:rPr>
              <a:t>,</a:t>
            </a:r>
            <a:r>
              <a:rPr lang="zh-CN" altLang="en-US" sz="2200" b="1" smtClean="0">
                <a:effectLst/>
              </a:rPr>
              <a:t>但标号不能定义在本函数外，不能从分程序外转到块分程序内，而</a:t>
            </a:r>
            <a:r>
              <a:rPr lang="zh-CN" altLang="en-US" sz="2200" b="1" smtClean="0">
                <a:solidFill>
                  <a:srgbClr val="FFFF66"/>
                </a:solidFill>
                <a:effectLst/>
              </a:rPr>
              <a:t>只能从分程序内转到分程序外</a:t>
            </a:r>
          </a:p>
          <a:p>
            <a:pPr marL="609600" indent="-609600"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200" b="1" smtClean="0">
                <a:solidFill>
                  <a:srgbClr val="FF0000"/>
                </a:solidFill>
                <a:effectLst/>
              </a:rPr>
              <a:t>注意：</a:t>
            </a:r>
            <a:r>
              <a:rPr lang="zh-CN" altLang="en-US" sz="2200" b="1" smtClean="0">
                <a:effectLst/>
              </a:rPr>
              <a:t>现代程序设计方法主张尽可能地限制</a:t>
            </a:r>
            <a:r>
              <a:rPr lang="en-US" altLang="zh-CN" sz="2200" b="1" smtClean="0">
                <a:effectLst/>
              </a:rPr>
              <a:t>goto</a:t>
            </a:r>
            <a:r>
              <a:rPr lang="zh-CN" altLang="en-US" sz="2200" b="1" smtClean="0">
                <a:effectLst/>
              </a:rPr>
              <a:t>语句的使用，可使用</a:t>
            </a:r>
            <a:r>
              <a:rPr lang="en-US" altLang="zh-CN" sz="2200" b="1" smtClean="0">
                <a:effectLst/>
              </a:rPr>
              <a:t>if, if-else</a:t>
            </a:r>
            <a:r>
              <a:rPr lang="zh-CN" altLang="en-US" sz="2200" b="1" smtClean="0">
                <a:effectLst/>
              </a:rPr>
              <a:t>和</a:t>
            </a:r>
            <a:r>
              <a:rPr lang="en-US" altLang="zh-CN" sz="2200" b="1" smtClean="0">
                <a:effectLst/>
              </a:rPr>
              <a:t>while</a:t>
            </a:r>
            <a:r>
              <a:rPr lang="zh-CN" altLang="en-US" sz="2200" b="1" smtClean="0">
                <a:effectLst/>
              </a:rPr>
              <a:t>这样地结构来代替它，增强代码的可读性。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4.5 </a:t>
            </a:r>
            <a:r>
              <a:rPr lang="zh-CN" altLang="en-US" smtClean="0"/>
              <a:t>跳转语句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3500" y="1843088"/>
            <a:ext cx="6046788" cy="4681537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{                                             {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	 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a1: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zh-CN" altLang="en-US" sz="2400" b="1" smtClean="0">
                <a:effectLst/>
              </a:rPr>
              <a:t>；                           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endParaRPr lang="en-US" altLang="zh-CN" sz="2400" b="1" smtClean="0">
              <a:effectLst/>
            </a:endParaRP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                                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endParaRPr lang="en-US" altLang="zh-CN" sz="2400" b="1" smtClean="0">
              <a:effectLst/>
            </a:endParaRP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goto  a1</a:t>
            </a:r>
            <a:r>
              <a:rPr lang="zh-CN" altLang="en-US" sz="2400" b="1" smtClean="0">
                <a:effectLst/>
              </a:rPr>
              <a:t>；                      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 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                                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endParaRPr lang="en-US" altLang="zh-CN" sz="2400" b="1" smtClean="0">
              <a:effectLst/>
            </a:endParaRP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                                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endParaRPr lang="en-US" altLang="zh-CN" sz="2400" b="1" smtClean="0">
              <a:effectLst/>
            </a:endParaRP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	 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goto kk</a:t>
            </a:r>
            <a:r>
              <a:rPr lang="zh-CN" altLang="en-US" sz="2400" b="1" smtClean="0">
                <a:effectLst/>
              </a:rPr>
              <a:t>；                                  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kk: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zh-CN" altLang="en-US" sz="2400" b="1" smtClean="0">
                <a:effectLst/>
              </a:rPr>
              <a:t>；                  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effectLst/>
              </a:rPr>
              <a:t>	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                                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endParaRPr lang="en-US" altLang="zh-CN" sz="2400" b="1" smtClean="0">
              <a:effectLst/>
            </a:endParaRP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	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r>
              <a:rPr lang="en-US" altLang="zh-CN" sz="2400" b="1" smtClean="0">
                <a:effectLst/>
              </a:rPr>
              <a:t>                                            </a:t>
            </a:r>
            <a:r>
              <a:rPr lang="en-US" altLang="zh-CN" sz="2400" b="1" smtClean="0">
                <a:effectLst/>
                <a:latin typeface="Arial" panose="020B0604020202020204" pitchFamily="34" charset="0"/>
              </a:rPr>
              <a:t>…</a:t>
            </a:r>
            <a:endParaRPr lang="en-US" altLang="zh-CN" sz="2400" b="1" smtClean="0">
              <a:effectLst/>
            </a:endParaRP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   }                                            }</a:t>
            </a:r>
            <a:r>
              <a:rPr lang="en-US" altLang="zh-CN" sz="2400" smtClean="0">
                <a:effectLst/>
              </a:rPr>
              <a:t> </a:t>
            </a:r>
            <a:r>
              <a:rPr lang="en-US" altLang="zh-CN" sz="2400" b="1" smtClean="0">
                <a:effectLst/>
              </a:rPr>
              <a:t>				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smtClean="0">
                <a:effectLst/>
              </a:rPr>
              <a:t>      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kk:</a:t>
            </a:r>
            <a:r>
              <a:rPr lang="zh-CN" altLang="en-US" sz="2400" b="1" smtClean="0">
                <a:effectLst/>
              </a:rPr>
              <a:t>；                                      </a:t>
            </a:r>
            <a:r>
              <a:rPr lang="en-US" altLang="zh-CN" sz="2400" b="1" smtClean="0">
                <a:solidFill>
                  <a:schemeClr val="hlink"/>
                </a:solidFill>
                <a:effectLst/>
              </a:rPr>
              <a:t>goto kk</a:t>
            </a:r>
            <a:r>
              <a:rPr lang="zh-CN" altLang="en-US" sz="2400" b="1" smtClean="0">
                <a:effectLst/>
              </a:rPr>
              <a:t>；</a:t>
            </a:r>
          </a:p>
        </p:txBody>
      </p:sp>
      <p:sp>
        <p:nvSpPr>
          <p:cNvPr id="137220" name="WordArt 4"/>
          <p:cNvSpPr>
            <a:spLocks noChangeArrowheads="1" noChangeShapeType="1" noTextEdit="1"/>
          </p:cNvSpPr>
          <p:nvPr/>
        </p:nvSpPr>
        <p:spPr bwMode="auto">
          <a:xfrm>
            <a:off x="7164388" y="3429000"/>
            <a:ext cx="719137" cy="1152525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37222" name="WordArt 6"/>
          <p:cNvSpPr>
            <a:spLocks noChangeArrowheads="1" noChangeShapeType="1" noTextEdit="1"/>
          </p:cNvSpPr>
          <p:nvPr/>
        </p:nvSpPr>
        <p:spPr bwMode="auto">
          <a:xfrm>
            <a:off x="3708400" y="3644900"/>
            <a:ext cx="804863" cy="101758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 animBg="1"/>
      <p:bldP spid="13722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609600" y="1340131"/>
            <a:ext cx="6248400" cy="4064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ahoma" panose="020B0604030504040204" pitchFamily="34" charset="0"/>
                <a:ea typeface="楷体_GB2312" pitchFamily="49" charset="-122"/>
              </a:rPr>
              <a:t>判断</a:t>
            </a:r>
            <a:r>
              <a:rPr lang="en-US" altLang="zh-CN" sz="2000">
                <a:latin typeface="Tahoma" panose="020B0604030504040204" pitchFamily="34" charset="0"/>
                <a:ea typeface="楷体_GB2312" pitchFamily="49" charset="-122"/>
              </a:rPr>
              <a:t>m</a:t>
            </a:r>
            <a:r>
              <a:rPr lang="zh-CN" altLang="en-US" sz="2000">
                <a:latin typeface="Tahoma" panose="020B0604030504040204" pitchFamily="34" charset="0"/>
                <a:ea typeface="楷体_GB2312" pitchFamily="49" charset="-122"/>
              </a:rPr>
              <a:t>是否为素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数。</a:t>
            </a:r>
            <a:endParaRPr kumimoji="1" lang="zh-CN" altLang="en-US" sz="2000">
              <a:latin typeface="Tahoma" panose="020B060403050404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611188" y="2060575"/>
            <a:ext cx="7924800" cy="4064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素数（质数）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: 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只能被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1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和它本身整除的数。</a:t>
            </a:r>
            <a:endParaRPr kumimoji="1" lang="zh-CN" altLang="en-US" sz="2000">
              <a:latin typeface="Tahoma" panose="020B060403050404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611188" y="2708275"/>
            <a:ext cx="7924800" cy="16256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</a:rPr>
              <a:t>判别方法：</a:t>
            </a:r>
          </a:p>
          <a:p>
            <a:pPr eaLnBrk="1" hangingPunct="1"/>
            <a:r>
              <a:rPr kumimoji="1" lang="en-US" altLang="zh-CN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57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：若</a:t>
            </a:r>
            <a:r>
              <a:rPr kumimoji="1" lang="en-US" altLang="zh-CN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2~56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之间的每一个数都除不开</a:t>
            </a:r>
            <a:r>
              <a:rPr kumimoji="1" lang="en-US" altLang="zh-CN" sz="2000" dirty="0" smtClean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57</a:t>
            </a:r>
            <a:r>
              <a:rPr kumimoji="1" lang="zh-CN" altLang="en-US" sz="2000" dirty="0" smtClean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则</a:t>
            </a:r>
            <a:r>
              <a:rPr kumimoji="1" lang="en-US" altLang="zh-CN" sz="2000" dirty="0" smtClean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57</a:t>
            </a:r>
            <a:r>
              <a:rPr kumimoji="1" lang="zh-CN" altLang="en-US" sz="2000" dirty="0" smtClean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为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素数，否则</a:t>
            </a:r>
            <a:r>
              <a:rPr kumimoji="1" lang="en-US" altLang="zh-CN" sz="2000" smtClean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57</a:t>
            </a:r>
            <a:r>
              <a:rPr kumimoji="1" lang="zh-CN" altLang="en-US" sz="2000" smtClean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不是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素数。</a:t>
            </a:r>
          </a:p>
          <a:p>
            <a:pPr eaLnBrk="1" hangingPunct="1"/>
            <a:r>
              <a:rPr kumimoji="1" lang="en-US" altLang="zh-CN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m,  k=m-1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kumimoji="1" lang="en-US" altLang="zh-CN" sz="2000" dirty="0" err="1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=2~k :</a:t>
            </a:r>
          </a:p>
          <a:p>
            <a:pPr eaLnBrk="1" hangingPunct="1"/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若每一个 </a:t>
            </a:r>
            <a:r>
              <a:rPr kumimoji="1" lang="en-US" altLang="en-US" sz="2000" dirty="0" err="1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的值都除不开</a:t>
            </a:r>
            <a:r>
              <a:rPr kumimoji="1" lang="en-US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m,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则</a:t>
            </a:r>
            <a:r>
              <a:rPr kumimoji="1" lang="en-US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为素数，否则</a:t>
            </a:r>
            <a:r>
              <a:rPr kumimoji="1" lang="en-US" altLang="zh-CN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kumimoji="1" lang="zh-CN" altLang="en-US" sz="2000" dirty="0">
                <a:latin typeface="Tahom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不是素数。</a:t>
            </a:r>
          </a:p>
        </p:txBody>
      </p:sp>
      <p:sp>
        <p:nvSpPr>
          <p:cNvPr id="185350" name="Text Box 6"/>
          <p:cNvSpPr txBox="1">
            <a:spLocks noChangeArrowheads="1"/>
          </p:cNvSpPr>
          <p:nvPr/>
        </p:nvSpPr>
        <p:spPr bwMode="auto">
          <a:xfrm>
            <a:off x="609600" y="4572000"/>
            <a:ext cx="3746500" cy="19304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flag=1;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k=m-1;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for (i=2;i&lt;=k;i++)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    if  (m%i==0) flag=0;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if (flag==1) cout&lt;&lt;“yes!”;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else cout&lt;&lt;“no!”;</a:t>
            </a:r>
            <a:endParaRPr kumimoji="1" lang="en-US" altLang="zh-CN" sz="2000">
              <a:latin typeface="Tahoma" panose="020B060403050404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5181600" y="4572000"/>
            <a:ext cx="3638550" cy="19304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en-US" altLang="zh-CN" sz="2000">
              <a:latin typeface="Tahoma" panose="020B0604030504040204" pitchFamily="34" charset="0"/>
              <a:ea typeface="楷体_GB2312" pitchFamily="49" charset="-122"/>
            </a:endParaRP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k=m-1;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for (i=2;i&lt;=k;i++)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    if  (m%i==0) break;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if (i&gt;=k+1) cout&lt;&lt;“yes!”;</a:t>
            </a:r>
          </a:p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else cout&lt;&lt;“no!”;</a:t>
            </a:r>
            <a:endParaRPr kumimoji="1" lang="en-US" altLang="zh-CN" sz="2000">
              <a:latin typeface="Tahoma" panose="020B060403050404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85352" name="AutoShape 8"/>
          <p:cNvSpPr>
            <a:spLocks noChangeArrowheads="1"/>
          </p:cNvSpPr>
          <p:nvPr/>
        </p:nvSpPr>
        <p:spPr bwMode="auto">
          <a:xfrm>
            <a:off x="5715000" y="3352800"/>
            <a:ext cx="2960688" cy="1066800"/>
          </a:xfrm>
          <a:prstGeom prst="wedgeRoundRectCallout">
            <a:avLst>
              <a:gd name="adj1" fmla="val -49838"/>
              <a:gd name="adj2" fmla="val 96431"/>
              <a:gd name="adj3" fmla="val 16667"/>
            </a:avLst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  <a:ea typeface="楷体_GB2312" pitchFamily="49" charset="-122"/>
              </a:rPr>
              <a:t>k=m-1;</a:t>
            </a:r>
          </a:p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  <a:ea typeface="楷体_GB2312" pitchFamily="49" charset="-122"/>
              </a:rPr>
              <a:t>k=[m/2];[(m+1)/2];</a:t>
            </a:r>
          </a:p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  <a:ea typeface="楷体_GB2312" pitchFamily="49" charset="-122"/>
              </a:rPr>
              <a:t>k=[sqrt(m)];[sqrt(m+1)]</a:t>
            </a:r>
          </a:p>
        </p:txBody>
      </p:sp>
      <p:sp>
        <p:nvSpPr>
          <p:cNvPr id="45065" name="Text Box 9"/>
          <p:cNvSpPr txBox="1">
            <a:spLocks noChangeArrowheads="1"/>
          </p:cNvSpPr>
          <p:nvPr/>
        </p:nvSpPr>
        <p:spPr bwMode="auto">
          <a:xfrm>
            <a:off x="179388" y="404813"/>
            <a:ext cx="3455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>
                <a:latin typeface="Times New Roman" panose="02020603050405020304" pitchFamily="18" charset="0"/>
                <a:ea typeface="黑体" panose="02010609060101010101" pitchFamily="49" charset="-122"/>
              </a:rPr>
              <a:t>程序举例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 animBg="1" autoUpdateAnimBg="0"/>
      <p:bldP spid="185349" grpId="0" animBg="1" autoUpdateAnimBg="0"/>
      <p:bldP spid="185350" grpId="0" animBg="1" autoUpdateAnimBg="0"/>
      <p:bldP spid="185351" grpId="0" animBg="1" autoUpdateAnimBg="0"/>
      <p:bldP spid="185352" grpId="0" animBg="1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539552" y="1052513"/>
            <a:ext cx="6248400" cy="406400"/>
          </a:xfrm>
          <a:prstGeom prst="rect">
            <a:avLst/>
          </a:prstGeom>
          <a:noFill/>
          <a:ln w="9525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Tahoma" panose="020B0604030504040204" pitchFamily="34" charset="0"/>
                <a:ea typeface="楷体_GB2312" pitchFamily="49" charset="-122"/>
              </a:rPr>
              <a:t>输出 </a:t>
            </a:r>
            <a:r>
              <a:rPr lang="en-US" altLang="zh-CN" sz="2000">
                <a:latin typeface="Tahoma" panose="020B0604030504040204" pitchFamily="34" charset="0"/>
                <a:ea typeface="楷体_GB2312" pitchFamily="49" charset="-122"/>
              </a:rPr>
              <a:t>1</a:t>
            </a:r>
            <a:r>
              <a:rPr kumimoji="1" lang="en-US" altLang="zh-CN" sz="2000">
                <a:latin typeface="Tahoma" panose="020B0604030504040204" pitchFamily="34" charset="0"/>
                <a:ea typeface="楷体_GB2312" pitchFamily="49" charset="-122"/>
              </a:rPr>
              <a:t>01~200</a:t>
            </a:r>
            <a:r>
              <a:rPr kumimoji="1" lang="zh-CN" altLang="en-US" sz="2000">
                <a:latin typeface="Tahoma" panose="020B0604030504040204" pitchFamily="34" charset="0"/>
                <a:ea typeface="楷体_GB2312" pitchFamily="49" charset="-122"/>
              </a:rPr>
              <a:t>之间的全部素数。</a:t>
            </a:r>
            <a:endParaRPr kumimoji="1" lang="zh-CN" altLang="en-US" sz="2000">
              <a:latin typeface="Tahoma" panose="020B060403050404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09600" y="2209800"/>
            <a:ext cx="2979738" cy="2743200"/>
            <a:chOff x="384" y="1392"/>
            <a:chExt cx="1877" cy="1728"/>
          </a:xfrm>
        </p:grpSpPr>
        <p:grpSp>
          <p:nvGrpSpPr>
            <p:cNvPr id="46087" name="Group 5"/>
            <p:cNvGrpSpPr>
              <a:grpSpLocks/>
            </p:cNvGrpSpPr>
            <p:nvPr/>
          </p:nvGrpSpPr>
          <p:grpSpPr bwMode="auto">
            <a:xfrm>
              <a:off x="384" y="1392"/>
              <a:ext cx="1824" cy="1728"/>
              <a:chOff x="384" y="1392"/>
              <a:chExt cx="1824" cy="1728"/>
            </a:xfrm>
          </p:grpSpPr>
          <p:sp>
            <p:nvSpPr>
              <p:cNvPr id="46092" name="Rectangle 6"/>
              <p:cNvSpPr>
                <a:spLocks noChangeArrowheads="1"/>
              </p:cNvSpPr>
              <p:nvPr/>
            </p:nvSpPr>
            <p:spPr bwMode="auto">
              <a:xfrm>
                <a:off x="384" y="1392"/>
                <a:ext cx="1824" cy="17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093" name="Line 7"/>
              <p:cNvSpPr>
                <a:spLocks noChangeShapeType="1"/>
              </p:cNvSpPr>
              <p:nvPr/>
            </p:nvSpPr>
            <p:spPr bwMode="auto">
              <a:xfrm>
                <a:off x="720" y="1728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4" name="Line 8"/>
              <p:cNvSpPr>
                <a:spLocks noChangeShapeType="1"/>
              </p:cNvSpPr>
              <p:nvPr/>
            </p:nvSpPr>
            <p:spPr bwMode="auto">
              <a:xfrm>
                <a:off x="720" y="1728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5" name="Line 9"/>
              <p:cNvSpPr>
                <a:spLocks noChangeShapeType="1"/>
              </p:cNvSpPr>
              <p:nvPr/>
            </p:nvSpPr>
            <p:spPr bwMode="auto">
              <a:xfrm>
                <a:off x="720" y="2256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096" name="Line 10"/>
              <p:cNvSpPr>
                <a:spLocks noChangeShapeType="1"/>
              </p:cNvSpPr>
              <p:nvPr/>
            </p:nvSpPr>
            <p:spPr bwMode="auto">
              <a:xfrm>
                <a:off x="720" y="2688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088" name="Text Box 11"/>
            <p:cNvSpPr txBox="1">
              <a:spLocks noChangeArrowheads="1"/>
            </p:cNvSpPr>
            <p:nvPr/>
          </p:nvSpPr>
          <p:spPr bwMode="auto">
            <a:xfrm>
              <a:off x="606" y="1488"/>
              <a:ext cx="1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ahoma" panose="020B0604030504040204" pitchFamily="34" charset="0"/>
                  <a:ea typeface="楷体_GB2312" pitchFamily="49" charset="-122"/>
                </a:rPr>
                <a:t>for m=101 to 200</a:t>
              </a:r>
            </a:p>
          </p:txBody>
        </p:sp>
        <p:sp>
          <p:nvSpPr>
            <p:cNvPr id="46089" name="Text Box 12"/>
            <p:cNvSpPr txBox="1">
              <a:spLocks noChangeArrowheads="1"/>
            </p:cNvSpPr>
            <p:nvPr/>
          </p:nvSpPr>
          <p:spPr bwMode="auto">
            <a:xfrm>
              <a:off x="753" y="1872"/>
              <a:ext cx="14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  <a:ea typeface="楷体_GB2312" pitchFamily="49" charset="-122"/>
                  <a:sym typeface="Monotype Sorts" pitchFamily="2" charset="2"/>
                </a:rPr>
                <a:t>①</a:t>
              </a:r>
              <a:r>
                <a:rPr kumimoji="1" lang="zh-CN" altLang="zh-CN">
                  <a:latin typeface="Tahoma" panose="020B0604030504040204" pitchFamily="34" charset="0"/>
                  <a:ea typeface="楷体_GB2312" pitchFamily="49" charset="-122"/>
                  <a:sym typeface="Monotype Sorts" pitchFamily="2" charset="2"/>
                </a:rPr>
                <a:t>判断</a:t>
              </a:r>
              <a:r>
                <a:rPr kumimoji="1" lang="en-US" altLang="zh-CN">
                  <a:latin typeface="Tahoma" panose="020B0604030504040204" pitchFamily="34" charset="0"/>
                  <a:ea typeface="楷体_GB2312" pitchFamily="49" charset="-122"/>
                </a:rPr>
                <a:t>m</a:t>
              </a:r>
              <a:r>
                <a:rPr kumimoji="1" lang="zh-CN" altLang="en-US">
                  <a:latin typeface="Tahoma" panose="020B0604030504040204" pitchFamily="34" charset="0"/>
                  <a:ea typeface="楷体_GB2312" pitchFamily="49" charset="-122"/>
                </a:rPr>
                <a:t>是否为素数</a:t>
              </a:r>
            </a:p>
          </p:txBody>
        </p:sp>
        <p:sp>
          <p:nvSpPr>
            <p:cNvPr id="46090" name="Text Box 13"/>
            <p:cNvSpPr txBox="1">
              <a:spLocks noChangeArrowheads="1"/>
            </p:cNvSpPr>
            <p:nvPr/>
          </p:nvSpPr>
          <p:spPr bwMode="auto">
            <a:xfrm>
              <a:off x="768" y="2256"/>
              <a:ext cx="149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dirty="0">
                  <a:latin typeface="Times New Roman" panose="02020603050405020304" pitchFamily="18" charset="0"/>
                  <a:ea typeface="楷体_GB2312" pitchFamily="49" charset="-122"/>
                  <a:sym typeface="Monotype Sorts" pitchFamily="2" charset="2"/>
                </a:rPr>
                <a:t>②</a:t>
              </a:r>
              <a:r>
                <a:rPr kumimoji="1" lang="zh-CN" altLang="en-US" dirty="0">
                  <a:latin typeface="Tahoma" panose="020B0604030504040204" pitchFamily="34" charset="0"/>
                  <a:ea typeface="楷体_GB2312" pitchFamily="49" charset="-122"/>
                  <a:sym typeface="Monotype Sorts" pitchFamily="2" charset="2"/>
                </a:rPr>
                <a:t>若</a:t>
              </a:r>
              <a:r>
                <a:rPr kumimoji="1" lang="en-US" altLang="zh-CN" dirty="0">
                  <a:latin typeface="Tahoma" panose="020B0604030504040204" pitchFamily="34" charset="0"/>
                  <a:ea typeface="楷体_GB2312" pitchFamily="49" charset="-122"/>
                </a:rPr>
                <a:t>m</a:t>
              </a:r>
              <a:r>
                <a:rPr kumimoji="1" lang="zh-CN" altLang="en-US" dirty="0">
                  <a:latin typeface="Tahoma" panose="020B0604030504040204" pitchFamily="34" charset="0"/>
                  <a:ea typeface="楷体_GB2312" pitchFamily="49" charset="-122"/>
                </a:rPr>
                <a:t>是素数，则输出并统计个数</a:t>
              </a:r>
              <a:r>
                <a:rPr kumimoji="1" lang="en-US" altLang="en-US" dirty="0">
                  <a:latin typeface="Tahoma" panose="020B0604030504040204" pitchFamily="34" charset="0"/>
                  <a:ea typeface="楷体_GB2312" pitchFamily="49" charset="-122"/>
                </a:rPr>
                <a:t>n.</a:t>
              </a:r>
              <a:endParaRPr kumimoji="1" lang="en-US" altLang="zh-CN" dirty="0"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6091" name="Text Box 14"/>
            <p:cNvSpPr txBox="1">
              <a:spLocks noChangeArrowheads="1"/>
            </p:cNvSpPr>
            <p:nvPr/>
          </p:nvSpPr>
          <p:spPr bwMode="auto">
            <a:xfrm>
              <a:off x="768" y="2688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dirty="0">
                  <a:latin typeface="Times New Roman" panose="02020603050405020304" pitchFamily="18" charset="0"/>
                  <a:ea typeface="楷体_GB2312" pitchFamily="49" charset="-122"/>
                  <a:sym typeface="Monotype Sorts" pitchFamily="2" charset="2"/>
                </a:rPr>
                <a:t>③</a:t>
              </a:r>
              <a:r>
                <a:rPr kumimoji="1" lang="zh-CN" altLang="en-US" dirty="0">
                  <a:latin typeface="Tahoma" panose="020B0604030504040204" pitchFamily="34" charset="0"/>
                  <a:ea typeface="楷体_GB2312" pitchFamily="49" charset="-122"/>
                  <a:sym typeface="Monotype Sorts" pitchFamily="2" charset="2"/>
                </a:rPr>
                <a:t>每</a:t>
              </a:r>
              <a:r>
                <a:rPr kumimoji="1" lang="zh-CN" altLang="en-US" dirty="0" smtClean="0">
                  <a:latin typeface="Tahoma" panose="020B0604030504040204" pitchFamily="34" charset="0"/>
                  <a:ea typeface="楷体_GB2312" pitchFamily="49" charset="-122"/>
                  <a:sym typeface="Monotype Sorts" pitchFamily="2" charset="2"/>
                </a:rPr>
                <a:t>输出</a:t>
              </a:r>
              <a:r>
                <a:rPr kumimoji="1" lang="en-US" altLang="zh-CN" dirty="0" smtClean="0">
                  <a:latin typeface="Tahoma" panose="020B0604030504040204" pitchFamily="34" charset="0"/>
                  <a:ea typeface="楷体_GB2312" pitchFamily="49" charset="-122"/>
                  <a:sym typeface="Monotype Sorts" pitchFamily="2" charset="2"/>
                </a:rPr>
                <a:t>5</a:t>
              </a:r>
              <a:r>
                <a:rPr kumimoji="1" lang="zh-CN" altLang="en-US" dirty="0" smtClean="0">
                  <a:latin typeface="Tahoma" panose="020B0604030504040204" pitchFamily="34" charset="0"/>
                  <a:ea typeface="楷体_GB2312" pitchFamily="49" charset="-122"/>
                  <a:sym typeface="Monotype Sorts" pitchFamily="2" charset="2"/>
                </a:rPr>
                <a:t>个</a:t>
              </a:r>
              <a:r>
                <a:rPr kumimoji="1" lang="zh-CN" altLang="en-US" dirty="0">
                  <a:latin typeface="Tahoma" panose="020B0604030504040204" pitchFamily="34" charset="0"/>
                  <a:ea typeface="楷体_GB2312" pitchFamily="49" charset="-122"/>
                </a:rPr>
                <a:t>素数，换行</a:t>
              </a:r>
            </a:p>
          </p:txBody>
        </p:sp>
      </p:grpSp>
      <p:sp>
        <p:nvSpPr>
          <p:cNvPr id="187407" name="Text Box 15" descr="羊皮纸"/>
          <p:cNvSpPr txBox="1">
            <a:spLocks noChangeArrowheads="1"/>
          </p:cNvSpPr>
          <p:nvPr/>
        </p:nvSpPr>
        <p:spPr bwMode="auto">
          <a:xfrm>
            <a:off x="4499992" y="1700808"/>
            <a:ext cx="4100513" cy="4801314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rgbClr val="CC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using namespace 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std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#include &lt;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iostream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#include &lt;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iomanip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&gt;</a:t>
            </a:r>
          </a:p>
          <a:p>
            <a:pPr eaLnBrk="1" hangingPunct="1"/>
            <a:r>
              <a:rPr kumimoji="1" lang="en-US" altLang="zh-CN" dirty="0" err="1" smtClean="0">
                <a:solidFill>
                  <a:schemeClr val="bg2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main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(){</a:t>
            </a:r>
            <a:endParaRPr kumimoji="1"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 err="1" smtClean="0">
                <a:solidFill>
                  <a:schemeClr val="bg2"/>
                </a:solidFill>
                <a:latin typeface="Times New Roman" panose="02020603050405020304" pitchFamily="18" charset="0"/>
              </a:rPr>
              <a:t>m,i,n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=0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for(m=101;m&lt;=200;m=m+2)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  for(</a:t>
            </a:r>
            <a:r>
              <a:rPr kumimoji="1" lang="en-US" altLang="zh-CN" dirty="0" err="1" smtClean="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=2;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i*</a:t>
            </a:r>
            <a:r>
              <a:rPr kumimoji="1"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&lt;=</a:t>
            </a:r>
            <a:r>
              <a:rPr kumimoji="1"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m;i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++)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if(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m%i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==0) break;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if(</a:t>
            </a:r>
            <a:r>
              <a:rPr kumimoji="1"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kumimoji="1"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&gt;m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   { 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setw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(5)&lt;&lt;m; </a:t>
            </a:r>
            <a:endParaRPr kumimoji="1" lang="en-US" altLang="zh-CN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        n=n+1;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        if(n%5==0) </a:t>
            </a:r>
            <a:r>
              <a:rPr kumimoji="1" lang="en-US" altLang="zh-CN" dirty="0" err="1" smtClean="0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&lt;&lt;'\n';}     </a:t>
            </a:r>
          </a:p>
          <a:p>
            <a:pPr eaLnBrk="1" hangingPunct="1"/>
            <a:r>
              <a:rPr kumimoji="1" lang="en-US" altLang="zh-CN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cout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&lt;&lt;'\n';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return 0;</a:t>
            </a:r>
          </a:p>
          <a:p>
            <a:pPr eaLnBrk="1" hangingPunct="1"/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46086" name="Text Box 16"/>
          <p:cNvSpPr txBox="1">
            <a:spLocks noChangeArrowheads="1"/>
          </p:cNvSpPr>
          <p:nvPr/>
        </p:nvSpPr>
        <p:spPr bwMode="auto">
          <a:xfrm>
            <a:off x="179388" y="260350"/>
            <a:ext cx="3384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4000">
                <a:latin typeface="Times New Roman" panose="02020603050405020304" pitchFamily="18" charset="0"/>
                <a:ea typeface="黑体" panose="02010609060101010101" pitchFamily="49" charset="-122"/>
              </a:rPr>
              <a:t>程序举例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7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55575" y="1559208"/>
            <a:ext cx="7878525" cy="366999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 smtClean="0"/>
              <a:t>编程找出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的下一个素数。</a:t>
            </a:r>
            <a:r>
              <a:rPr lang="zh-CN" altLang="en-US" sz="2800" dirty="0"/>
              <a:t>从</a:t>
            </a:r>
            <a:r>
              <a:rPr lang="zh-CN" altLang="en-US" sz="2800" dirty="0" smtClean="0"/>
              <a:t>键盘输入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的值（</a:t>
            </a:r>
            <a:r>
              <a:rPr lang="en-US" altLang="zh-CN" sz="2800" dirty="0" smtClean="0"/>
              <a:t>n&gt;0</a:t>
            </a:r>
            <a:r>
              <a:rPr lang="zh-CN" altLang="en-US" sz="2800" dirty="0" smtClean="0"/>
              <a:t>），计算</a:t>
            </a:r>
            <a:r>
              <a:rPr lang="zh-CN" altLang="en-US" sz="2800" dirty="0"/>
              <a:t>并</a:t>
            </a:r>
            <a:r>
              <a:rPr lang="zh-CN" altLang="en-US" sz="2800" dirty="0" smtClean="0"/>
              <a:t>输出</a:t>
            </a:r>
            <a:r>
              <a:rPr lang="en-US" altLang="zh-CN" sz="2800" dirty="0"/>
              <a:t>n</a:t>
            </a:r>
            <a:r>
              <a:rPr lang="zh-CN" altLang="en-US" sz="2800" dirty="0"/>
              <a:t>的下一个</a:t>
            </a:r>
            <a:r>
              <a:rPr lang="zh-CN" altLang="en-US" sz="2800" dirty="0" smtClean="0"/>
              <a:t>素数，即，比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大的最小的那个素数。</a:t>
            </a:r>
            <a:endParaRPr lang="en-US" altLang="zh-CN" sz="2800" dirty="0" smtClean="0"/>
          </a:p>
          <a:p>
            <a:r>
              <a:rPr lang="zh-CN" altLang="en-US" sz="2800" dirty="0"/>
              <a:t>输入样</a:t>
            </a:r>
            <a:r>
              <a:rPr lang="zh-CN" altLang="en-US" sz="2800" dirty="0" smtClean="0"/>
              <a:t>例：</a:t>
            </a:r>
            <a:endParaRPr lang="zh-CN" altLang="en-US" sz="2800" b="0" dirty="0"/>
          </a:p>
          <a:p>
            <a:r>
              <a:rPr lang="en-US" altLang="zh-CN" sz="2800" b="0" dirty="0"/>
              <a:t>3</a:t>
            </a:r>
          </a:p>
          <a:p>
            <a:r>
              <a:rPr lang="zh-CN" altLang="en-US" sz="2800" dirty="0"/>
              <a:t>输出样</a:t>
            </a:r>
            <a:r>
              <a:rPr lang="zh-CN" altLang="en-US" sz="2800" dirty="0" smtClean="0"/>
              <a:t>例：</a:t>
            </a:r>
            <a:endParaRPr lang="zh-CN" altLang="en-US" sz="2800" b="0" dirty="0"/>
          </a:p>
          <a:p>
            <a:r>
              <a:rPr lang="en-US" altLang="zh-CN" sz="2800" b="0" dirty="0" smtClean="0"/>
              <a:t>5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02741" y="509031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02741" y="573839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088366" y="515461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088366" y="580268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smtClean="0">
                <a:ln>
                  <a:noFill/>
                </a:ln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04501" y="800384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r>
              <a:rPr lang="zh-CN" altLang="en-US" kern="0" dirty="0" smtClean="0"/>
              <a:t>编程练习</a:t>
            </a:r>
            <a:r>
              <a:rPr lang="en-US" altLang="zh-CN" kern="0" dirty="0" smtClean="0"/>
              <a:t>-</a:t>
            </a:r>
            <a:r>
              <a:rPr lang="zh-CN" altLang="en-US" kern="0" dirty="0" smtClean="0"/>
              <a:t>下一个素数</a:t>
            </a:r>
            <a:endParaRPr lang="zh-CN" altLang="en-US" kern="0" dirty="0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702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9592" y="476672"/>
            <a:ext cx="45720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using namespace std;</a:t>
            </a:r>
          </a:p>
          <a:p>
            <a:r>
              <a:rPr lang="zh-CN" altLang="en-US" sz="2400" dirty="0"/>
              <a:t>#include &lt;iostream&gt;</a:t>
            </a:r>
          </a:p>
          <a:p>
            <a:r>
              <a:rPr lang="zh-CN" altLang="en-US" sz="2400" dirty="0"/>
              <a:t>int main(){</a:t>
            </a:r>
          </a:p>
          <a:p>
            <a:r>
              <a:rPr lang="zh-CN" altLang="en-US" sz="2400" dirty="0"/>
              <a:t>  int m,i,j;</a:t>
            </a:r>
          </a:p>
          <a:p>
            <a:r>
              <a:rPr lang="zh-CN" altLang="en-US" sz="2400" dirty="0"/>
              <a:t>  cin&gt;&gt;m;</a:t>
            </a:r>
          </a:p>
          <a:p>
            <a:r>
              <a:rPr lang="zh-CN" altLang="en-US" sz="2400" dirty="0"/>
              <a:t>  for(i=m+1;;m++)</a:t>
            </a:r>
          </a:p>
          <a:p>
            <a:r>
              <a:rPr lang="zh-CN" altLang="en-US" sz="2400" dirty="0"/>
              <a:t>  {</a:t>
            </a:r>
          </a:p>
          <a:p>
            <a:r>
              <a:rPr lang="zh-CN" altLang="en-US" sz="2400" dirty="0"/>
              <a:t>    for(j=2;j*j&lt;=m;j++)</a:t>
            </a:r>
          </a:p>
          <a:p>
            <a:r>
              <a:rPr lang="zh-CN" altLang="en-US" sz="2400" dirty="0"/>
              <a:t>        if(m%j==0) break;</a:t>
            </a:r>
          </a:p>
          <a:p>
            <a:r>
              <a:rPr lang="zh-CN" altLang="en-US" sz="2400" dirty="0"/>
              <a:t>    if(j*j&gt;m){</a:t>
            </a:r>
          </a:p>
          <a:p>
            <a:r>
              <a:rPr lang="zh-CN" altLang="en-US" sz="2400" dirty="0" smtClean="0"/>
              <a:t>        cout</a:t>
            </a:r>
            <a:r>
              <a:rPr lang="zh-CN" altLang="en-US" sz="2400" dirty="0"/>
              <a:t>&lt;&lt;m; </a:t>
            </a:r>
          </a:p>
          <a:p>
            <a:r>
              <a:rPr lang="zh-CN" altLang="en-US" sz="2400" dirty="0"/>
              <a:t>        break;</a:t>
            </a:r>
          </a:p>
          <a:p>
            <a:r>
              <a:rPr lang="zh-CN" altLang="en-US" sz="2400" dirty="0" smtClean="0"/>
              <a:t>     }     </a:t>
            </a:r>
            <a:endParaRPr lang="zh-CN" altLang="en-US" sz="2400" dirty="0"/>
          </a:p>
          <a:p>
            <a:r>
              <a:rPr lang="zh-CN" altLang="en-US" sz="2400" dirty="0"/>
              <a:t>  }</a:t>
            </a:r>
          </a:p>
          <a:p>
            <a:r>
              <a:rPr lang="zh-CN" altLang="en-US" sz="2400" dirty="0"/>
              <a:t>  return 0;</a:t>
            </a:r>
          </a:p>
          <a:p>
            <a:r>
              <a:rPr lang="zh-CN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90017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4873" y="1416050"/>
            <a:ext cx="8604448" cy="513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题目内容：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/>
              <a:t>编程</a:t>
            </a:r>
            <a:r>
              <a:rPr lang="zh-CN" altLang="en-US" sz="2400" dirty="0"/>
              <a:t>将</a:t>
            </a:r>
            <a:r>
              <a:rPr lang="zh-CN" altLang="zh-CN" sz="2400" dirty="0"/>
              <a:t>任意一个</a:t>
            </a:r>
            <a:r>
              <a:rPr lang="zh-CN" altLang="en-US" sz="2400" dirty="0"/>
              <a:t>大</a:t>
            </a:r>
            <a:r>
              <a:rPr lang="zh-CN" altLang="zh-CN" sz="2400" dirty="0"/>
              <a:t>正偶数都能分解为两个素数之和，例如，</a:t>
            </a:r>
            <a:r>
              <a:rPr lang="en-US" altLang="zh-CN" sz="2400" dirty="0"/>
              <a:t>6=3+3</a:t>
            </a:r>
            <a:r>
              <a:rPr lang="zh-CN" altLang="zh-CN" sz="2400" dirty="0"/>
              <a:t>、</a:t>
            </a:r>
            <a:r>
              <a:rPr lang="en-US" altLang="zh-CN" sz="2400" dirty="0"/>
              <a:t>8=3+5</a:t>
            </a:r>
            <a:r>
              <a:rPr lang="zh-CN" altLang="zh-CN" sz="2400" dirty="0"/>
              <a:t>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/>
              <a:t>要求：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 smtClean="0"/>
              <a:t>输入</a:t>
            </a:r>
            <a:r>
              <a:rPr lang="zh-CN" altLang="en-US" sz="2400" dirty="0"/>
              <a:t>整数</a:t>
            </a:r>
            <a:r>
              <a:rPr lang="en-US" altLang="zh-CN" sz="2400" dirty="0"/>
              <a:t>n</a:t>
            </a:r>
            <a:r>
              <a:rPr lang="zh-CN" altLang="en-US" sz="2400" dirty="0"/>
              <a:t>，若</a:t>
            </a:r>
            <a:r>
              <a:rPr lang="en-US" altLang="zh-CN" sz="2400" dirty="0"/>
              <a:t>n</a:t>
            </a:r>
            <a:r>
              <a:rPr lang="zh-CN" altLang="en-US" sz="2400" dirty="0"/>
              <a:t>不是大于</a:t>
            </a:r>
            <a:r>
              <a:rPr lang="en-US" altLang="zh-CN" sz="2400" dirty="0"/>
              <a:t>2</a:t>
            </a:r>
            <a:r>
              <a:rPr lang="zh-CN" altLang="en-US" sz="2400" dirty="0"/>
              <a:t>的正偶数，则报错；否则，输出分解的</a:t>
            </a:r>
            <a:r>
              <a:rPr lang="zh-CN" altLang="en-US" sz="2400" dirty="0" smtClean="0"/>
              <a:t>结果，其中输出的第</a:t>
            </a:r>
            <a:r>
              <a:rPr lang="en-US" altLang="zh-CN" sz="2400" dirty="0" smtClean="0"/>
              <a:t>1</a:t>
            </a:r>
            <a:r>
              <a:rPr lang="zh-CN" altLang="en-US" sz="2400" dirty="0"/>
              <a:t>个</a:t>
            </a:r>
            <a:r>
              <a:rPr lang="zh-CN" altLang="en-US" sz="2400" dirty="0" smtClean="0"/>
              <a:t>素数不大于第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个素数。若有多个结果，只输出第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个素数最小的那一个结果。</a:t>
            </a:r>
            <a:endParaRPr lang="zh-CN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/>
              <a:t>输入</a:t>
            </a:r>
            <a:r>
              <a:rPr lang="zh-CN" altLang="en-US" sz="2400" dirty="0"/>
              <a:t>样例</a:t>
            </a:r>
            <a:r>
              <a:rPr lang="en-US" altLang="zh-CN" sz="2400" dirty="0"/>
              <a:t>1</a:t>
            </a:r>
            <a:r>
              <a:rPr lang="zh-CN" altLang="zh-CN" sz="2400" dirty="0"/>
              <a:t>：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smtClean="0"/>
              <a:t>20     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/>
              <a:t>输出</a:t>
            </a:r>
            <a:r>
              <a:rPr lang="zh-CN" altLang="en-US" sz="2400" dirty="0"/>
              <a:t>样例</a:t>
            </a:r>
            <a:r>
              <a:rPr lang="en-US" altLang="zh-CN" sz="2400" dirty="0"/>
              <a:t>1</a:t>
            </a:r>
            <a:r>
              <a:rPr lang="zh-CN" altLang="zh-CN" sz="2400" dirty="0"/>
              <a:t>：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smtClean="0"/>
              <a:t>20=3+17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 smtClean="0"/>
              <a:t>输入</a:t>
            </a:r>
            <a:r>
              <a:rPr lang="zh-CN" altLang="en-US" sz="2400" dirty="0"/>
              <a:t>样例</a:t>
            </a:r>
            <a:r>
              <a:rPr lang="en-US" altLang="zh-CN" sz="2400" dirty="0"/>
              <a:t>2</a:t>
            </a:r>
            <a:r>
              <a:rPr lang="zh-CN" altLang="zh-CN" sz="2400" dirty="0"/>
              <a:t>：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5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/>
              <a:t>输出</a:t>
            </a:r>
            <a:r>
              <a:rPr lang="zh-CN" altLang="en-US" sz="2400" dirty="0"/>
              <a:t>样例</a:t>
            </a:r>
            <a:r>
              <a:rPr lang="en-US" altLang="zh-CN" sz="2400" dirty="0"/>
              <a:t>2</a:t>
            </a:r>
            <a:r>
              <a:rPr lang="zh-CN" altLang="zh-CN" sz="2400" dirty="0"/>
              <a:t>：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It’s not an even larger than 2</a:t>
            </a:r>
            <a:r>
              <a:rPr lang="zh-CN" altLang="en-US" sz="2400" dirty="0"/>
              <a:t>！</a:t>
            </a:r>
            <a:endParaRPr lang="en-US" altLang="zh-CN" sz="2400" dirty="0"/>
          </a:p>
        </p:txBody>
      </p:sp>
      <p:sp>
        <p:nvSpPr>
          <p:cNvPr id="24579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46725" y="4730750"/>
            <a:ext cx="2130425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580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46725" y="5378450"/>
            <a:ext cx="2130425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未成功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581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4832350" y="479425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b="1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582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832350" y="544195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b="1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583" name="圆角矩形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57200" y="615950"/>
            <a:ext cx="8229600" cy="6064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3200" kern="0" dirty="0" smtClean="0"/>
              <a:t>编程练习</a:t>
            </a:r>
            <a:r>
              <a:rPr lang="en-US" altLang="zh-CN" sz="3200" kern="0" dirty="0" smtClean="0"/>
              <a:t>-</a:t>
            </a:r>
            <a:r>
              <a:rPr lang="zh-CN" altLang="en-US" sz="3200" kern="0" dirty="0" smtClean="0"/>
              <a:t>哥德巴赫猜想</a:t>
            </a:r>
            <a:endParaRPr lang="zh-CN" altLang="en-US" sz="3200" kern="0" dirty="0"/>
          </a:p>
        </p:txBody>
      </p:sp>
      <p:grpSp>
        <p:nvGrpSpPr>
          <p:cNvPr id="24585" name="组合 18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4587" name="TitleBackground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/>
            </a:p>
          </p:txBody>
        </p:sp>
        <p:sp>
          <p:nvSpPr>
            <p:cNvPr id="24588" name="ColorBlock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/>
            </a:p>
          </p:txBody>
        </p:sp>
        <p:sp>
          <p:nvSpPr>
            <p:cNvPr id="24589" name="TypeText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24590" name="TipText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957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24586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101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188640"/>
            <a:ext cx="874846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using namespace std;</a:t>
            </a:r>
          </a:p>
          <a:p>
            <a:r>
              <a:rPr lang="zh-CN" altLang="en-US" dirty="0"/>
              <a:t>#include &lt;iostream&gt;</a:t>
            </a:r>
          </a:p>
          <a:p>
            <a:r>
              <a:rPr lang="zh-CN" altLang="en-US" dirty="0" smtClean="0"/>
              <a:t>int </a:t>
            </a:r>
            <a:r>
              <a:rPr lang="zh-CN" altLang="en-US" dirty="0"/>
              <a:t>main()</a:t>
            </a:r>
          </a:p>
          <a:p>
            <a:r>
              <a:rPr lang="zh-CN" altLang="en-US" dirty="0"/>
              <a:t>{ </a:t>
            </a:r>
          </a:p>
          <a:p>
            <a:r>
              <a:rPr lang="zh-CN" altLang="en-US" dirty="0"/>
              <a:t>	int m,i,j,k;</a:t>
            </a:r>
          </a:p>
          <a:p>
            <a:r>
              <a:rPr lang="zh-CN" altLang="en-US" dirty="0"/>
              <a:t>	cin&gt;&gt;m;</a:t>
            </a:r>
          </a:p>
          <a:p>
            <a:r>
              <a:rPr lang="zh-CN" altLang="en-US" dirty="0"/>
              <a:t>	if (m%2||m&lt;=2)  cout&lt;&lt;" It's not an even larger than 2!"&lt;&lt;endl; </a:t>
            </a:r>
          </a:p>
          <a:p>
            <a:r>
              <a:rPr lang="zh-CN" altLang="en-US" dirty="0"/>
              <a:t>	else{</a:t>
            </a:r>
          </a:p>
          <a:p>
            <a:r>
              <a:rPr lang="zh-CN" altLang="en-US" dirty="0"/>
              <a:t>		for(i=2;i&lt;=m/2;i++){</a:t>
            </a:r>
          </a:p>
          <a:p>
            <a:r>
              <a:rPr lang="zh-CN" altLang="en-US" dirty="0"/>
              <a:t>			for(j=2;</a:t>
            </a:r>
            <a:r>
              <a:rPr lang="zh-CN" altLang="en-US" dirty="0" smtClean="0"/>
              <a:t>j</a:t>
            </a:r>
            <a:r>
              <a:rPr lang="en-US" altLang="zh-CN" dirty="0" smtClean="0"/>
              <a:t>*j</a:t>
            </a:r>
            <a:r>
              <a:rPr lang="zh-CN" altLang="en-US" dirty="0" smtClean="0"/>
              <a:t>&lt;=i;</a:t>
            </a:r>
            <a:r>
              <a:rPr lang="zh-CN" altLang="en-US" dirty="0"/>
              <a:t>j++)</a:t>
            </a:r>
          </a:p>
          <a:p>
            <a:r>
              <a:rPr lang="zh-CN" altLang="en-US" dirty="0"/>
              <a:t>			    if(i%j==0) break;</a:t>
            </a:r>
          </a:p>
          <a:p>
            <a:r>
              <a:rPr lang="zh-CN" altLang="en-US" dirty="0"/>
              <a:t>			if(</a:t>
            </a:r>
            <a:r>
              <a:rPr lang="zh-CN" altLang="en-US" dirty="0" smtClean="0"/>
              <a:t>j</a:t>
            </a:r>
            <a:r>
              <a:rPr lang="en-US" altLang="zh-CN" dirty="0" smtClean="0"/>
              <a:t>*j</a:t>
            </a:r>
            <a:r>
              <a:rPr lang="zh-CN" altLang="en-US" dirty="0" smtClean="0"/>
              <a:t>&gt;i){</a:t>
            </a:r>
            <a:endParaRPr lang="zh-CN" altLang="en-US" dirty="0"/>
          </a:p>
          <a:p>
            <a:r>
              <a:rPr lang="zh-CN" altLang="en-US" dirty="0"/>
              <a:t>				for(k=2;</a:t>
            </a:r>
            <a:r>
              <a:rPr lang="zh-CN" altLang="en-US" dirty="0" smtClean="0"/>
              <a:t>k</a:t>
            </a:r>
            <a:r>
              <a:rPr lang="en-US" altLang="zh-CN" dirty="0" smtClean="0"/>
              <a:t>*k</a:t>
            </a:r>
            <a:r>
              <a:rPr lang="zh-CN" altLang="en-US" dirty="0" smtClean="0"/>
              <a:t>&lt;=m</a:t>
            </a:r>
            <a:r>
              <a:rPr lang="zh-CN" altLang="en-US" dirty="0"/>
              <a:t>-</a:t>
            </a:r>
            <a:r>
              <a:rPr lang="zh-CN" altLang="en-US" dirty="0" smtClean="0"/>
              <a:t>i;</a:t>
            </a:r>
            <a:r>
              <a:rPr lang="zh-CN" altLang="en-US" dirty="0"/>
              <a:t>k++)</a:t>
            </a:r>
          </a:p>
          <a:p>
            <a:r>
              <a:rPr lang="zh-CN" altLang="en-US" dirty="0"/>
              <a:t>				    if((m-i)%k==0) break;</a:t>
            </a:r>
          </a:p>
          <a:p>
            <a:r>
              <a:rPr lang="zh-CN" altLang="en-US" dirty="0"/>
              <a:t>				if(</a:t>
            </a:r>
            <a:r>
              <a:rPr lang="zh-CN" altLang="en-US" dirty="0" smtClean="0"/>
              <a:t>k</a:t>
            </a:r>
            <a:r>
              <a:rPr lang="en-US" altLang="zh-CN" dirty="0" smtClean="0"/>
              <a:t>*k</a:t>
            </a:r>
            <a:r>
              <a:rPr lang="zh-CN" altLang="en-US" dirty="0" smtClean="0"/>
              <a:t>&gt;m</a:t>
            </a:r>
            <a:r>
              <a:rPr lang="zh-CN" altLang="en-US" dirty="0"/>
              <a:t>-</a:t>
            </a:r>
            <a:r>
              <a:rPr lang="zh-CN" altLang="en-US" dirty="0" smtClean="0"/>
              <a:t>i){</a:t>
            </a:r>
            <a:endParaRPr lang="zh-CN" altLang="en-US" dirty="0"/>
          </a:p>
          <a:p>
            <a:r>
              <a:rPr lang="zh-CN" altLang="en-US" dirty="0"/>
              <a:t>					cout&lt;&lt;m&lt;&lt;'='&lt;&lt;i&lt;&lt;'+'&lt;&lt;m-i&lt;&lt;endl;</a:t>
            </a:r>
          </a:p>
          <a:p>
            <a:r>
              <a:rPr lang="zh-CN" altLang="en-US" dirty="0"/>
              <a:t>					break;</a:t>
            </a:r>
          </a:p>
          <a:p>
            <a:r>
              <a:rPr lang="zh-CN" altLang="en-US" dirty="0"/>
              <a:t>				}   </a:t>
            </a:r>
          </a:p>
          <a:p>
            <a:r>
              <a:rPr lang="zh-CN" altLang="en-US" dirty="0"/>
              <a:t>			}</a:t>
            </a:r>
          </a:p>
          <a:p>
            <a:r>
              <a:rPr lang="zh-CN" altLang="en-US" dirty="0"/>
              <a:t>	    </a:t>
            </a:r>
            <a:r>
              <a:rPr lang="zh-CN" altLang="en-US" dirty="0" smtClean="0"/>
              <a:t>             }</a:t>
            </a:r>
            <a:endParaRPr lang="zh-CN" altLang="en-US" dirty="0"/>
          </a:p>
          <a:p>
            <a:r>
              <a:rPr lang="zh-CN" altLang="en-US" dirty="0"/>
              <a:t>	}</a:t>
            </a:r>
          </a:p>
          <a:p>
            <a:r>
              <a:rPr lang="zh-CN" altLang="en-US" dirty="0"/>
              <a:t>	return 0;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19534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分解质因数</a:t>
            </a:r>
            <a:endParaRPr lang="zh-CN" altLang="en-US" dirty="0" smtClean="0"/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00200"/>
            <a:ext cx="8218487" cy="4852988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2800" dirty="0" smtClean="0"/>
              <a:t>将一个正整数分解质因数。例如：输入</a:t>
            </a:r>
            <a:r>
              <a:rPr lang="en-US" altLang="zh-CN" sz="2800" dirty="0" smtClean="0"/>
              <a:t>90,</a:t>
            </a:r>
            <a:r>
              <a:rPr lang="zh-CN" altLang="en-US" sz="2800" dirty="0" smtClean="0"/>
              <a:t>打印出</a:t>
            </a:r>
            <a:r>
              <a:rPr lang="en-US" altLang="zh-CN" sz="2800" dirty="0" smtClean="0"/>
              <a:t>90=2*3*3*5</a:t>
            </a:r>
            <a:r>
              <a:rPr lang="zh-CN" altLang="en-US" sz="2800" dirty="0" smtClean="0"/>
              <a:t>。</a:t>
            </a:r>
          </a:p>
          <a:p>
            <a:pPr marL="533400" indent="-533400" eaLnBrk="1" hangingPunct="1">
              <a:defRPr/>
            </a:pPr>
            <a:r>
              <a:rPr lang="zh-CN" altLang="en-US" sz="2800" dirty="0" smtClean="0"/>
              <a:t>程序分析：对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进行分解质因数，应先找到一个最小的质数</a:t>
            </a:r>
            <a:r>
              <a:rPr lang="en-US" altLang="zh-CN" sz="2800" dirty="0" smtClean="0"/>
              <a:t>k</a:t>
            </a:r>
            <a:r>
              <a:rPr lang="zh-CN" altLang="en-US" sz="2800" dirty="0" smtClean="0"/>
              <a:t>，然后按下述步骤完成： 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circleNumDbPlain"/>
              <a:defRPr/>
            </a:pPr>
            <a:r>
              <a:rPr lang="zh-CN" altLang="en-US" sz="2400" dirty="0" smtClean="0"/>
              <a:t>如果这个质数恰等于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，则说明分解质因数的过程已经结束，打印出即可。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circleNumDbPlain"/>
              <a:defRPr/>
            </a:pPr>
            <a:r>
              <a:rPr lang="zh-CN" altLang="en-US" sz="2400" dirty="0" smtClean="0"/>
              <a:t>如果</a:t>
            </a:r>
            <a:r>
              <a:rPr lang="en-US" altLang="zh-CN" sz="2400" dirty="0" err="1" smtClean="0"/>
              <a:t>n≠k</a:t>
            </a:r>
            <a:r>
              <a:rPr lang="zh-CN" altLang="en-US" sz="2400" dirty="0" smtClean="0"/>
              <a:t>，但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能被</a:t>
            </a:r>
            <a:r>
              <a:rPr lang="en-US" altLang="zh-CN" sz="2400" dirty="0" smtClean="0"/>
              <a:t>k</a:t>
            </a:r>
            <a:r>
              <a:rPr lang="zh-CN" altLang="en-US" sz="2400" dirty="0" smtClean="0"/>
              <a:t>整除，则应打印出</a:t>
            </a:r>
            <a:r>
              <a:rPr lang="en-US" altLang="zh-CN" sz="2400" dirty="0" smtClean="0"/>
              <a:t>k</a:t>
            </a:r>
            <a:r>
              <a:rPr lang="zh-CN" altLang="en-US" sz="2400" dirty="0" smtClean="0"/>
              <a:t>的值，并用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除以</a:t>
            </a:r>
            <a:r>
              <a:rPr lang="en-US" altLang="zh-CN" sz="2400" dirty="0" smtClean="0"/>
              <a:t>k</a:t>
            </a:r>
            <a:r>
              <a:rPr lang="zh-CN" altLang="en-US" sz="2400" dirty="0" smtClean="0"/>
              <a:t>的商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作为新的正整数</a:t>
            </a:r>
            <a:r>
              <a:rPr lang="en-US" altLang="zh-CN" sz="2400" dirty="0" smtClean="0"/>
              <a:t>n,</a:t>
            </a:r>
            <a:r>
              <a:rPr lang="zh-CN" altLang="en-US" sz="2400" dirty="0" smtClean="0"/>
              <a:t>重复执行第一步。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circleNumDbPlain"/>
              <a:defRPr/>
            </a:pPr>
            <a:r>
              <a:rPr lang="zh-CN" altLang="en-US" sz="2400" dirty="0" smtClean="0"/>
              <a:t>如果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不能被</a:t>
            </a:r>
            <a:r>
              <a:rPr lang="en-US" altLang="zh-CN" sz="2400" dirty="0" smtClean="0"/>
              <a:t>k</a:t>
            </a:r>
            <a:r>
              <a:rPr lang="zh-CN" altLang="en-US" sz="2400" dirty="0" smtClean="0"/>
              <a:t>整除，则用</a:t>
            </a:r>
            <a:r>
              <a:rPr lang="en-US" altLang="zh-CN" sz="2400" dirty="0" smtClean="0"/>
              <a:t>k+1</a:t>
            </a:r>
            <a:r>
              <a:rPr lang="zh-CN" altLang="en-US" sz="2400" dirty="0" smtClean="0"/>
              <a:t>作为</a:t>
            </a:r>
            <a:r>
              <a:rPr lang="en-US" altLang="zh-CN" sz="2400" dirty="0" smtClean="0"/>
              <a:t>k</a:t>
            </a:r>
            <a:r>
              <a:rPr lang="zh-CN" altLang="en-US" sz="2400" dirty="0" smtClean="0"/>
              <a:t>的值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重复执行第一步。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宋体"/>
        <a:cs typeface=""/>
      </a:majorFont>
      <a:minorFont>
        <a:latin typeface="Garamond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3713</TotalTime>
  <Words>4498</Words>
  <Application>Microsoft Office PowerPoint</Application>
  <PresentationFormat>全屏显示(4:3)</PresentationFormat>
  <Paragraphs>1095</Paragraphs>
  <Slides>71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7" baseType="lpstr">
      <vt:lpstr>Microsoft Yahei</vt:lpstr>
      <vt:lpstr>Monotype Sorts</vt:lpstr>
      <vt:lpstr>黑体</vt:lpstr>
      <vt:lpstr>楷体_GB2312</vt:lpstr>
      <vt:lpstr>宋体</vt:lpstr>
      <vt:lpstr>幼圆</vt:lpstr>
      <vt:lpstr>Arial</vt:lpstr>
      <vt:lpstr>Calibri</vt:lpstr>
      <vt:lpstr>Courier New</vt:lpstr>
      <vt:lpstr>Garamond</vt:lpstr>
      <vt:lpstr>Symbol</vt:lpstr>
      <vt:lpstr>Tahoma</vt:lpstr>
      <vt:lpstr>Times New Roman</vt:lpstr>
      <vt:lpstr>Wingdings</vt:lpstr>
      <vt:lpstr>Stream</vt:lpstr>
      <vt:lpstr>Equation</vt:lpstr>
      <vt:lpstr>第4章  基本语句</vt:lpstr>
      <vt:lpstr>学习目标</vt:lpstr>
      <vt:lpstr>4.1 C++语言的语句分类</vt:lpstr>
      <vt:lpstr>4.2 程序的基本结构</vt:lpstr>
      <vt:lpstr>4.2 程序的基本结构</vt:lpstr>
      <vt:lpstr>4.2 程序的基本结构</vt:lpstr>
      <vt:lpstr>4.2 程序的基本结构</vt:lpstr>
      <vt:lpstr>4.3 选择语句</vt:lpstr>
      <vt:lpstr>4.3 选择语句</vt:lpstr>
      <vt:lpstr>4.3 选择语句</vt:lpstr>
      <vt:lpstr>4.3 选择语句</vt:lpstr>
      <vt:lpstr>4.3 选择语句</vt:lpstr>
      <vt:lpstr>4.3 选择语句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</vt:lpstr>
      <vt:lpstr>4.3 选择语句</vt:lpstr>
      <vt:lpstr>4.3 选择语句</vt:lpstr>
      <vt:lpstr>PowerPoint 演示文稿</vt:lpstr>
      <vt:lpstr>4.3 选择语句</vt:lpstr>
      <vt:lpstr>PowerPoint 演示文稿</vt:lpstr>
      <vt:lpstr>PowerPoint 演示文稿</vt:lpstr>
      <vt:lpstr>4.4 循环语句</vt:lpstr>
      <vt:lpstr>4.4 循环语句</vt:lpstr>
      <vt:lpstr>PowerPoint 演示文稿</vt:lpstr>
      <vt:lpstr>4.4 循环语句</vt:lpstr>
      <vt:lpstr>PowerPoint 演示文稿</vt:lpstr>
      <vt:lpstr>4.4 循环语句</vt:lpstr>
      <vt:lpstr>4.4 循环语句</vt:lpstr>
      <vt:lpstr>4.4 循环语句</vt:lpstr>
      <vt:lpstr>4.4 循环语句</vt:lpstr>
      <vt:lpstr>PowerPoint 演示文稿</vt:lpstr>
      <vt:lpstr>4.4 循环语句</vt:lpstr>
      <vt:lpstr>4.4 循环语句</vt:lpstr>
      <vt:lpstr>PowerPoint 演示文稿</vt:lpstr>
      <vt:lpstr>4.4 循环语句</vt:lpstr>
      <vt:lpstr>4.4 循环语句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程序举例</vt:lpstr>
      <vt:lpstr>PowerPoint 演示文稿</vt:lpstr>
      <vt:lpstr>PowerPoint 演示文稿</vt:lpstr>
      <vt:lpstr>程序举例</vt:lpstr>
      <vt:lpstr>PowerPoint 演示文稿</vt:lpstr>
      <vt:lpstr>PowerPoint 演示文稿</vt:lpstr>
      <vt:lpstr>程序举例</vt:lpstr>
      <vt:lpstr>4.5 跳转语句</vt:lpstr>
      <vt:lpstr>PowerPoint 演示文稿</vt:lpstr>
      <vt:lpstr>4.5 跳转语句</vt:lpstr>
      <vt:lpstr>PowerPoint 演示文稿</vt:lpstr>
      <vt:lpstr>4.5 跳转语句</vt:lpstr>
      <vt:lpstr>PowerPoint 演示文稿</vt:lpstr>
      <vt:lpstr>PowerPoint 演示文稿</vt:lpstr>
      <vt:lpstr>4.5 跳转语句</vt:lpstr>
      <vt:lpstr>4.5 跳转语句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分解质因数</vt:lpstr>
    </vt:vector>
  </TitlesOfParts>
  <Company>nust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C++的流程控制语句</dc:title>
  <dc:creator>lily</dc:creator>
  <cp:lastModifiedBy>NJUST</cp:lastModifiedBy>
  <cp:revision>197</cp:revision>
  <dcterms:created xsi:type="dcterms:W3CDTF">2005-03-06T07:09:22Z</dcterms:created>
  <dcterms:modified xsi:type="dcterms:W3CDTF">2023-11-01T04:16:54Z</dcterms:modified>
</cp:coreProperties>
</file>