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3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贤文 凌" initials="贤凌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27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E8327-F6DA-F451-97EF-2F0F526A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4ED607A-A45F-0AFC-803B-DB7A47062B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6323750-B3E9-89F2-8BC8-5BFD6A12D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F608FFF-9B21-D745-D234-01E413D495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4621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43F2C-D1B2-B106-30F9-BE786BD4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B2372FC-A566-5FE7-6DA4-2EC5B578AF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93FB4A-7D78-60EC-C81E-35600C5446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8E9D3F-5039-F22A-696C-D681F8476D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8EAD77-486C-432B-9EE9-E6FD5C91EB8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457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2024/10/28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1136884"/>
            <a:chOff x="1123950" y="2686050"/>
            <a:chExt cx="1543050" cy="204762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171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、程序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98500" y="1136650"/>
            <a:ext cx="11200765" cy="40614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若(a,b)是亲密数对，则a的因子和等于b，b的因子和等于a，且a不等于b。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编写程序，输出6-10000之间的亲密数对。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注意：输入只能使用scanf()和cin函数，使用其他输入函数不得分。</a:t>
            </a:r>
          </a:p>
          <a:p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【参考答案】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//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思路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对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6-10000(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变量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进行遍历，算出因子和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变量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，再计算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变量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的因子和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(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变量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c)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，根据条件进行判断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 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a的因子和等于b，b的因子和等于a，且a不等于b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成立则输出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using namespace std;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int isClose(int a)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{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int i,b=1,c=1;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for(i=2;i&lt;=a/2;i++) //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的因子和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if(a%i==0)  b=b+i;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for(i=2;i&lt;=b/2;i++) //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计算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的因子和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	if(b%i==0)  c=c+i;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if(a==c&amp;&amp;a!=b)	return b; //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判断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b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因子和等于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a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return 0;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38215" y="3123565"/>
            <a:ext cx="6407785" cy="2647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int main()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{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int  a,b=1;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for(a=6;a&lt;=10000;a++)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{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	if (isClose(a))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	{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		printf("%d,%d\n",a,isClose(a));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	}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}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	return 0;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}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1136884"/>
            <a:chOff x="1123950" y="2686050"/>
            <a:chExt cx="1543050" cy="204762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171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、程序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考试分析</a:t>
              </a:r>
            </a:p>
            <a:p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3220" y="1136650"/>
            <a:ext cx="8280400" cy="54991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得分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0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分同学问题：</a:t>
            </a: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，代码格式书写有误</a:t>
            </a:r>
          </a:p>
          <a:p>
            <a:pPr marL="457200" lvl="1"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编译错误</a:t>
            </a:r>
          </a:p>
          <a:p>
            <a:pPr marL="457200" lvl="1"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未写代码</a:t>
            </a:r>
          </a:p>
          <a:p>
            <a:pPr marL="457200" lvl="1"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面向结果编程</a:t>
            </a:r>
          </a:p>
          <a:p>
            <a:pPr marL="457200" lvl="1"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4.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定义变量未设初值</a:t>
            </a: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，未熟练掌握已学代码</a:t>
            </a:r>
          </a:p>
          <a:p>
            <a:pPr marL="457200" lvl="1"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不会使用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循环</a:t>
            </a:r>
          </a:p>
          <a:p>
            <a:pPr marL="457200" lvl="1"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时间复杂度太高，爆内存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0" lvl="0" indent="45720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，未读懂题目要求</a:t>
            </a:r>
          </a:p>
          <a:p>
            <a:pPr marL="457200" lvl="1" indent="45720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代码情况未考虑完全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eg: a != b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0" lvl="0" indent="45720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4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，代码逻辑问题</a:t>
            </a:r>
          </a:p>
          <a:p>
            <a:pPr marL="457200" lvl="1" indent="45720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因子和不会求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或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求错</a:t>
            </a:r>
          </a:p>
          <a:p>
            <a:pPr marL="457200" lvl="1" indent="457200">
              <a:buNone/>
            </a:pP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2.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错误的函数定义</a:t>
            </a:r>
            <a:endParaRPr lang="zh-CN" altLang="en-US" sz="240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/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marL="457200" lvl="1" indent="457200"/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0" y="1355725"/>
            <a:ext cx="3381375" cy="5810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5930" y="1355725"/>
            <a:ext cx="1952625" cy="11049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380" y="2707640"/>
            <a:ext cx="2743200" cy="1247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7535" y="2435860"/>
            <a:ext cx="2076450" cy="13525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5930" y="4109720"/>
            <a:ext cx="2876550" cy="136207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31205" y="4018280"/>
            <a:ext cx="2162175" cy="10096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1136884"/>
            <a:chOff x="1123950" y="2686050"/>
            <a:chExt cx="1543050" cy="204762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171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、程序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1925" y="960120"/>
            <a:ext cx="11269345" cy="5781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输入一行一个整数n（1&lt;=n&lt;=50)。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输出格式：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打印边长为N的菱形（菱形的打印形式见样例），每行均以'*'结尾，每行的’*’之前如果需要用空格补齐对齐，’*’之后不要有多余的空格。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【参考答案】//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思路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 外层循环从 -n + 1 到 n - 1 遍历每一行。由于 i 包含负数，使用条件表达式 absi = i &gt; 0 ? i : -i 将 i 转换为正数，得到每一行的偏移值 absi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</a:rPr>
              <a:t>。setw(absi + 1) 设置输出的起始位置，使得 * 向右偏移。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内层循环根据 absi 值调整行中 * 的数量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int main(){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int n,absi;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cin&gt;&gt;n;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for(int i=-n+1;i&lt;n;i++){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absi=i&gt;0?i:-i;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cout&lt;&lt;setw(absi+1)&lt;&lt;'*';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for(int j=0;j&lt;2*n-2*absi-2;j++)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	cout&lt;&lt;'*';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cout&lt;&lt;endl;		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}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return 0;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1136884"/>
            <a:chOff x="1123950" y="2686050"/>
            <a:chExt cx="1543050" cy="204762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171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、程序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2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考试分析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1925" y="1004570"/>
            <a:ext cx="11269980" cy="5499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得分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分同学问题：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代码逻辑问题</a:t>
            </a:r>
          </a:p>
          <a:p>
            <a:pPr marL="457200" lvl="1" indent="457200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未掌握嵌套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for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循环</a:t>
            </a:r>
          </a:p>
          <a:p>
            <a:pPr marL="457200" lvl="1" indent="457200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未读懂题意</a:t>
            </a: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没掌握使用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setw()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函数</a:t>
            </a:r>
          </a:p>
          <a:p>
            <a:pPr marL="457200" lvl="1" indent="457200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对参数设置，函数使用位置不熟悉</a:t>
            </a:r>
          </a:p>
          <a:p>
            <a:pPr marL="0" lvl="0" indent="457200"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3.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编译错误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变量定义有问题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变量未设初值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主函数代码写错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未写代码</a:t>
            </a: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1136884"/>
            <a:chOff x="1123950" y="2686050"/>
            <a:chExt cx="1543050" cy="204762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171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、程序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40030" y="1013460"/>
            <a:ext cx="11630660" cy="56851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计算大于等于n的下一个三角数。所谓“三角数”就是某个数量的点能排列成一个对称三角形，如1、3、6、10、15、21、28、36、45...。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输入一个整数n, n&gt;=1。</a:t>
            </a:r>
          </a:p>
          <a:p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输出一个整数m，大于等于n的下一个三角数。注意保证输出结果在整型范围内。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【参考答案】//</a:t>
            </a:r>
            <a:r>
              <a:rPr lang="zh-CN" altLang="en-US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思路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zh-CN" altLang="en-US">
                <a:latin typeface="Times New Roman" panose="02020603050405020304" charset="0"/>
                <a:cs typeface="Times New Roman" panose="02020603050405020304" charset="0"/>
                <a:sym typeface="+mn-ea"/>
              </a:rPr>
              <a:t>不难看出数列有累加性质，输入一个整数 n，作为目标值。</a:t>
            </a:r>
            <a:r>
              <a:rPr lang="zh-CN" altLang="en-US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在 for 循环中通过 ans += i 逐步累加 i 的值，直至 ans 不小于 n，输出。</a:t>
            </a:r>
          </a:p>
          <a:p>
            <a:endParaRPr lang="en-US" altLang="zh-CN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#include&lt;iostream&gt;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using namespace std;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int main(){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long long n,ans,i;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cin &gt;&gt; n;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for(i = 1,ans=0;ans&lt;n ;i++)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	ans+= i;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cout&lt;&lt;ans;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	return 0;</a:t>
            </a: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}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/>
          <p:cNvGrpSpPr/>
          <p:nvPr/>
        </p:nvGrpSpPr>
        <p:grpSpPr>
          <a:xfrm>
            <a:off x="-1" y="3"/>
            <a:ext cx="12266646" cy="1136884"/>
            <a:chOff x="1123950" y="2686050"/>
            <a:chExt cx="1543050" cy="2047620"/>
          </a:xfrm>
        </p:grpSpPr>
        <p:sp>
          <p:nvSpPr>
            <p:cNvPr id="18" name="矩形 17"/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144329" y="3016997"/>
              <a:ext cx="629760" cy="17166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、程序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3</a:t>
              </a:r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考试分析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61925" y="1004570"/>
            <a:ext cx="11269980" cy="5499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得分</a:t>
            </a:r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0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  <a:sym typeface="+mn-ea"/>
              </a:rPr>
              <a:t>分同学问题：</a:t>
            </a:r>
            <a:endParaRPr lang="zh-CN" altLang="en-US" sz="2400">
              <a:latin typeface="Times New Roman" panose="02020603050405020304" charset="0"/>
              <a:cs typeface="Times New Roman" panose="02020603050405020304" charset="0"/>
            </a:endParaRP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1.</a:t>
            </a:r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代码逻辑问题</a:t>
            </a:r>
          </a:p>
          <a:p>
            <a:pPr marL="457200" lvl="1" indent="457200"/>
            <a:r>
              <a:rPr lang="zh-CN" altLang="en-US" sz="2400">
                <a:latin typeface="Times New Roman" panose="02020603050405020304" charset="0"/>
                <a:cs typeface="Times New Roman" panose="02020603050405020304" charset="0"/>
              </a:rPr>
              <a:t>未读懂题意</a:t>
            </a:r>
          </a:p>
          <a:p>
            <a:pPr marL="0" lvl="0" indent="457200">
              <a:buNone/>
            </a:pPr>
            <a:r>
              <a:rPr lang="en-US" altLang="zh-CN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2.</a:t>
            </a: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编译错误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变量定义有问题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变量未设初值</a:t>
            </a:r>
          </a:p>
          <a:p>
            <a:pPr marL="457200" lvl="1" indent="457200">
              <a:buNone/>
            </a:pPr>
            <a:r>
              <a:rPr lang="zh-CN" altLang="en-US" sz="240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未写代码</a:t>
            </a:r>
          </a:p>
          <a:p>
            <a:pPr indent="457200"/>
            <a:r>
              <a:rPr lang="en-US" altLang="zh-CN" sz="240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p14:dur="10">
        <p15:prstTrans prst="pageCurlDouble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7C7CB-158C-219F-68C0-7F799CE46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DE23B792-65B3-1C59-6666-65EE6F06B703}"/>
              </a:ext>
            </a:extLst>
          </p:cNvPr>
          <p:cNvGrpSpPr/>
          <p:nvPr/>
        </p:nvGrpSpPr>
        <p:grpSpPr>
          <a:xfrm>
            <a:off x="-1" y="4"/>
            <a:ext cx="12266646" cy="856736"/>
            <a:chOff x="1123950" y="2686050"/>
            <a:chExt cx="1543050" cy="154305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108FE19-5785-344C-C774-AECBFDF7CE58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74C40A2-2469-0780-5FD1-36A8684D939D}"/>
                </a:ext>
              </a:extLst>
            </p:cNvPr>
            <p:cNvSpPr txBox="1"/>
            <p:nvPr/>
          </p:nvSpPr>
          <p:spPr>
            <a:xfrm>
              <a:off x="1144329" y="3016997"/>
              <a:ext cx="629760" cy="942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Long </a:t>
              </a:r>
              <a:r>
                <a:rPr lang="en-US" altLang="zh-CN" sz="2800" b="1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long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>
            <a:extLst>
              <a:ext uri="{FF2B5EF4-FFF2-40B4-BE49-F238E27FC236}">
                <a16:creationId xmlns:a16="http://schemas.microsoft.com/office/drawing/2014/main" id="{5A2B4388-55DE-DCCF-3A42-FD942EAF8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0B4DCBB1-326D-37B6-82E6-A393297973A4}"/>
              </a:ext>
            </a:extLst>
          </p:cNvPr>
          <p:cNvSpPr txBox="1"/>
          <p:nvPr/>
        </p:nvSpPr>
        <p:spPr>
          <a:xfrm>
            <a:off x="161925" y="1004570"/>
            <a:ext cx="11269980" cy="5499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long </a:t>
            </a:r>
            <a:r>
              <a:rPr lang="en-US" altLang="zh-CN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long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是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C++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的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64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位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整型的基本类型，从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C99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开始引入这个概念，在后续的标准中完善概念和定义，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C++11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官方正式标准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: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	long </a:t>
            </a:r>
            <a:r>
              <a:rPr lang="en-US" altLang="zh-CN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long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- target type will have width of at least 64 bits.(since C++11)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long </a:t>
            </a:r>
            <a:r>
              <a:rPr lang="en-US" altLang="zh-CN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long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占用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8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个字节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(64bit)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，</a:t>
            </a:r>
            <a:r>
              <a:rPr lang="zh-CN" altLang="en-US" sz="2400" b="0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能够</a:t>
            </a:r>
            <a:r>
              <a:rPr lang="zh-CN" altLang="en-US" sz="2400" b="1" i="0" dirty="0">
                <a:solidFill>
                  <a:srgbClr val="111111"/>
                </a:solidFill>
                <a:effectLst/>
                <a:latin typeface="Arial" panose="020B0604020202020204" pitchFamily="34" charset="0"/>
              </a:rPr>
              <a:t>表示更大范围整数的数据类型</a:t>
            </a:r>
            <a:endParaRPr lang="en-US" altLang="zh-CN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B80D72-AC8D-5E68-F978-0DD70F744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8122" y="2123354"/>
            <a:ext cx="1257143" cy="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478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10">
        <p15:prstTrans prst="pageCurlDouble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3183B-02F2-972B-A95C-246E2762C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BFAB306B-5123-A1FE-2C65-3D158EF7E0FA}"/>
              </a:ext>
            </a:extLst>
          </p:cNvPr>
          <p:cNvGrpSpPr/>
          <p:nvPr/>
        </p:nvGrpSpPr>
        <p:grpSpPr>
          <a:xfrm>
            <a:off x="-1" y="4"/>
            <a:ext cx="12266646" cy="856736"/>
            <a:chOff x="1123950" y="2686050"/>
            <a:chExt cx="1543050" cy="1543050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181A4EE-900B-C775-0E1F-AC962469B88D}"/>
                </a:ext>
              </a:extLst>
            </p:cNvPr>
            <p:cNvSpPr/>
            <p:nvPr/>
          </p:nvSpPr>
          <p:spPr>
            <a:xfrm>
              <a:off x="1123950" y="2686050"/>
              <a:ext cx="1543050" cy="1543050"/>
            </a:xfrm>
            <a:prstGeom prst="rect">
              <a:avLst/>
            </a:prstGeom>
            <a:solidFill>
              <a:srgbClr val="600B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E2781D1-5EB3-4D9E-8B55-6A502A67A5F6}"/>
                </a:ext>
              </a:extLst>
            </p:cNvPr>
            <p:cNvSpPr txBox="1"/>
            <p:nvPr/>
          </p:nvSpPr>
          <p:spPr>
            <a:xfrm>
              <a:off x="1144329" y="3016997"/>
              <a:ext cx="629760" cy="9423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800" b="1" dirty="0" err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Setw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()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31" name="Picture 30" descr="112-南京理工大学-logo.png">
            <a:extLst>
              <a:ext uri="{FF2B5EF4-FFF2-40B4-BE49-F238E27FC236}">
                <a16:creationId xmlns:a16="http://schemas.microsoft.com/office/drawing/2014/main" id="{05083BDE-84B4-D391-0BC2-3C11C42D4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3065" y="76087"/>
            <a:ext cx="704569" cy="70456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97E4276-A021-E930-6F74-551A3242B10E}"/>
              </a:ext>
            </a:extLst>
          </p:cNvPr>
          <p:cNvSpPr txBox="1"/>
          <p:nvPr/>
        </p:nvSpPr>
        <p:spPr>
          <a:xfrm>
            <a:off x="161925" y="1004570"/>
            <a:ext cx="11269980" cy="549973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C++ </a:t>
            </a:r>
            <a:r>
              <a:rPr lang="en-US" altLang="zh-CN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setw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() 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函数用于设置字段的宽度，语法格式如下：</a:t>
            </a:r>
          </a:p>
          <a:p>
            <a:r>
              <a:rPr lang="en-US" altLang="zh-CN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setw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(n)</a:t>
            </a:r>
          </a:p>
          <a:p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n 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表示宽度，用数字表示。</a:t>
            </a:r>
          </a:p>
          <a:p>
            <a:r>
              <a:rPr lang="en-US" altLang="zh-CN" sz="2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setw</a:t>
            </a:r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() 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函数只对紧接着的输出产生作用。</a:t>
            </a:r>
          </a:p>
          <a:p>
            <a:r>
              <a:rPr lang="zh-CN" alt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当后面紧跟着的输出字段长度小于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的时候，在该字段前面用空格补齐，当输出字段长度大于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时，全部整体输出</a:t>
            </a:r>
            <a:r>
              <a:rPr lang="zh-CN" altLang="en-US" sz="2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。</a:t>
            </a:r>
          </a:p>
          <a:p>
            <a:endParaRPr lang="zh-CN" altLang="en-US" sz="2400" dirty="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indent="457200"/>
            <a:r>
              <a:rPr lang="en-US" altLang="zh-CN" sz="2400" dirty="0">
                <a:latin typeface="Times New Roman" panose="02020603050405020304" charset="0"/>
                <a:cs typeface="Times New Roman" panose="02020603050405020304" charset="0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226372D-A6CD-8CEE-8819-7368CA4620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930" y="3294514"/>
            <a:ext cx="4055886" cy="32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20283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p14:dur="10">
        <p15:prstTrans prst="pageCurlDouble"/>
      </p:transition>
    </mc:Choice>
    <mc:Fallback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RmZjBhY2JjOGI3MWFmNDlmNDU2YTRmYTEyNDQ2ODA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961</Words>
  <Application>Microsoft Office PowerPoint</Application>
  <PresentationFormat>宽屏</PresentationFormat>
  <Paragraphs>119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微软雅黑</vt:lpstr>
      <vt:lpstr>Arial</vt:lpstr>
      <vt:lpstr>Calibri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MI JI</cp:lastModifiedBy>
  <cp:revision>49</cp:revision>
  <dcterms:created xsi:type="dcterms:W3CDTF">2023-08-09T12:44:00Z</dcterms:created>
  <dcterms:modified xsi:type="dcterms:W3CDTF">2024-10-28T01:29:03Z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2052-12.1.0.18276</vt:lpwstr>
  </property>
</Properties>
</file>